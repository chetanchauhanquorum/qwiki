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1" r:id="rId4"/>
  </p:sldMasterIdLst>
  <p:notesMasterIdLst>
    <p:notesMasterId r:id="rId44"/>
  </p:notesMasterIdLst>
  <p:handoutMasterIdLst>
    <p:handoutMasterId r:id="rId45"/>
  </p:handoutMasterIdLst>
  <p:sldIdLst>
    <p:sldId id="1126" r:id="rId5"/>
    <p:sldId id="1172" r:id="rId6"/>
    <p:sldId id="1128" r:id="rId7"/>
    <p:sldId id="1197" r:id="rId8"/>
    <p:sldId id="1175" r:id="rId9"/>
    <p:sldId id="1176" r:id="rId10"/>
    <p:sldId id="1177" r:id="rId11"/>
    <p:sldId id="1178" r:id="rId12"/>
    <p:sldId id="1179" r:id="rId13"/>
    <p:sldId id="1180" r:id="rId14"/>
    <p:sldId id="1181" r:id="rId15"/>
    <p:sldId id="1182" r:id="rId16"/>
    <p:sldId id="1184" r:id="rId17"/>
    <p:sldId id="1170" r:id="rId18"/>
    <p:sldId id="1173" r:id="rId19"/>
    <p:sldId id="1146" r:id="rId20"/>
    <p:sldId id="1148" r:id="rId21"/>
    <p:sldId id="1158" r:id="rId22"/>
    <p:sldId id="1183" r:id="rId23"/>
    <p:sldId id="1134" r:id="rId24"/>
    <p:sldId id="1185" r:id="rId25"/>
    <p:sldId id="1136" r:id="rId26"/>
    <p:sldId id="1186" r:id="rId27"/>
    <p:sldId id="1138" r:id="rId28"/>
    <p:sldId id="1187" r:id="rId29"/>
    <p:sldId id="1189" r:id="rId30"/>
    <p:sldId id="1194" r:id="rId31"/>
    <p:sldId id="1195" r:id="rId32"/>
    <p:sldId id="1196" r:id="rId33"/>
    <p:sldId id="1188" r:id="rId34"/>
    <p:sldId id="1140" r:id="rId35"/>
    <p:sldId id="1190" r:id="rId36"/>
    <p:sldId id="1142" r:id="rId37"/>
    <p:sldId id="1191" r:id="rId38"/>
    <p:sldId id="1199" r:id="rId39"/>
    <p:sldId id="1143" r:id="rId40"/>
    <p:sldId id="1192" r:id="rId41"/>
    <p:sldId id="1193" r:id="rId42"/>
    <p:sldId id="1169" r:id="rId43"/>
  </p:sldIdLst>
  <p:sldSz cx="9144000" cy="6858000" type="screen4x3"/>
  <p:notesSz cx="7010400" cy="92964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arc Spitzenberger" initials="MDS" lastIdx="21" clrIdx="0"/>
  <p:cmAuthor id="7" name="Marc Spitzenberger" initials="MS" lastIdx="176" clrIdx="7"/>
  <p:cmAuthor id="1" name="emily_whitzel" initials="ew" lastIdx="84" clrIdx="1"/>
  <p:cmAuthor id="8" name="Jess Porter" initials="JRP" lastIdx="10" clrIdx="8"/>
  <p:cmAuthor id="2" name="Tyson Greer" initials="TG" lastIdx="3" clrIdx="2"/>
  <p:cmAuthor id="3" name="Jade Huang Wang" initials="JHW" lastIdx="2" clrIdx="3"/>
  <p:cmAuthor id="4" name="Emily Perryman" initials="EP" lastIdx="143" clrIdx="4"/>
  <p:cmAuthor id="5" name="Chow, Kwan" initials="CK" lastIdx="2" clrIdx="5"/>
  <p:cmAuthor id="6" name="april_tieu" initials="at" lastIdx="106" clrIdx="6"/>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8377"/>
    <a:srgbClr val="71E1FF"/>
    <a:srgbClr val="FF0000"/>
    <a:srgbClr val="DD9F05"/>
    <a:srgbClr val="00FF00"/>
    <a:srgbClr val="0082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commentAuthors" Target="commentAuthor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754"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defTabSz="931863" eaLnBrk="1" hangingPunct="1">
              <a:defRPr sz="1200"/>
            </a:lvl1pPr>
          </a:lstStyle>
          <a:p>
            <a:pPr>
              <a:defRPr/>
            </a:pPr>
            <a:endParaRPr lang="en-US"/>
          </a:p>
        </p:txBody>
      </p:sp>
      <p:sp>
        <p:nvSpPr>
          <p:cNvPr id="74755" name="Rectangle 3"/>
          <p:cNvSpPr>
            <a:spLocks noGrp="1" noChangeArrowheads="1"/>
          </p:cNvSpPr>
          <p:nvPr>
            <p:ph type="dt" sz="quarter"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algn="r" defTabSz="931863" eaLnBrk="1" hangingPunct="1">
              <a:defRPr sz="1200"/>
            </a:lvl1pPr>
          </a:lstStyle>
          <a:p>
            <a:pPr>
              <a:defRPr/>
            </a:pPr>
            <a:endParaRPr lang="en-US"/>
          </a:p>
        </p:txBody>
      </p:sp>
      <p:sp>
        <p:nvSpPr>
          <p:cNvPr id="74756" name="Rectangle 4"/>
          <p:cNvSpPr>
            <a:spLocks noGrp="1" noChangeArrowheads="1"/>
          </p:cNvSpPr>
          <p:nvPr>
            <p:ph type="ftr" sz="quarter" idx="2"/>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defTabSz="931863" eaLnBrk="1" hangingPunct="1">
              <a:defRPr sz="1200"/>
            </a:lvl1pPr>
          </a:lstStyle>
          <a:p>
            <a:pPr>
              <a:defRPr/>
            </a:pPr>
            <a:endParaRPr lang="en-US"/>
          </a:p>
        </p:txBody>
      </p:sp>
      <p:sp>
        <p:nvSpPr>
          <p:cNvPr id="74757" name="Rectangle 5"/>
          <p:cNvSpPr>
            <a:spLocks noGrp="1" noChangeArrowheads="1"/>
          </p:cNvSpPr>
          <p:nvPr>
            <p:ph type="sldNum" sz="quarter" idx="3"/>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algn="r" defTabSz="931863" eaLnBrk="1" hangingPunct="1">
              <a:defRPr sz="1200"/>
            </a:lvl1pPr>
          </a:lstStyle>
          <a:p>
            <a:pPr>
              <a:defRPr/>
            </a:pPr>
            <a:fld id="{90CDA3EE-CF5C-48A0-ACEA-11AA496C250E}" type="slidenum">
              <a:rPr lang="en-US"/>
              <a:pPr>
                <a:defRPr/>
              </a:pPr>
              <a:t>‹#›</a:t>
            </a:fld>
            <a:endParaRPr lang="en-US"/>
          </a:p>
        </p:txBody>
      </p:sp>
    </p:spTree>
    <p:extLst>
      <p:ext uri="{BB962C8B-B14F-4D97-AF65-F5344CB8AC3E}">
        <p14:creationId xmlns:p14="http://schemas.microsoft.com/office/powerpoint/2010/main" val="9229293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defTabSz="931863" eaLnBrk="1" hangingPunct="1">
              <a:defRPr sz="1200"/>
            </a:lvl1pPr>
          </a:lstStyle>
          <a:p>
            <a:pPr>
              <a:defRPr/>
            </a:pPr>
            <a:endParaRPr lang="en-US"/>
          </a:p>
        </p:txBody>
      </p:sp>
      <p:sp>
        <p:nvSpPr>
          <p:cNvPr id="10243" name="Rectangle 3"/>
          <p:cNvSpPr>
            <a:spLocks noGrp="1" noChangeArrowheads="1"/>
          </p:cNvSpPr>
          <p:nvPr>
            <p:ph type="dt"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algn="r" defTabSz="931863" eaLnBrk="1" hangingPunct="1">
              <a:defRPr sz="1200"/>
            </a:lvl1pPr>
          </a:lstStyle>
          <a:p>
            <a:pPr>
              <a:defRPr/>
            </a:pPr>
            <a:endParaRPr lang="en-US"/>
          </a:p>
        </p:txBody>
      </p:sp>
      <p:sp>
        <p:nvSpPr>
          <p:cNvPr id="60420" name="Rectangle 4"/>
          <p:cNvSpPr>
            <a:spLocks noGrp="1" noRot="1" noChangeAspect="1" noChangeArrowheads="1" noTextEdit="1"/>
          </p:cNvSpPr>
          <p:nvPr>
            <p:ph type="sldImg" idx="2"/>
          </p:nvPr>
        </p:nvSpPr>
        <p:spPr bwMode="auto">
          <a:xfrm>
            <a:off x="1181100" y="696913"/>
            <a:ext cx="4648200" cy="348615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0245" name="Rectangle 5"/>
          <p:cNvSpPr>
            <a:spLocks noGrp="1" noChangeArrowheads="1"/>
          </p:cNvSpPr>
          <p:nvPr>
            <p:ph type="body" sz="quarter" idx="3"/>
          </p:nvPr>
        </p:nvSpPr>
        <p:spPr bwMode="auto">
          <a:xfrm>
            <a:off x="701675" y="4416425"/>
            <a:ext cx="5607050" cy="418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246" name="Rectangle 6"/>
          <p:cNvSpPr>
            <a:spLocks noGrp="1" noChangeArrowheads="1"/>
          </p:cNvSpPr>
          <p:nvPr>
            <p:ph type="ftr" sz="quarter" idx="4"/>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defTabSz="931863" eaLnBrk="1" hangingPunct="1">
              <a:defRPr sz="1200"/>
            </a:lvl1pPr>
          </a:lstStyle>
          <a:p>
            <a:pPr>
              <a:defRPr/>
            </a:pPr>
            <a:endParaRPr lang="en-US"/>
          </a:p>
        </p:txBody>
      </p:sp>
      <p:sp>
        <p:nvSpPr>
          <p:cNvPr id="10247" name="Rectangle 7"/>
          <p:cNvSpPr>
            <a:spLocks noGrp="1" noChangeArrowheads="1"/>
          </p:cNvSpPr>
          <p:nvPr>
            <p:ph type="sldNum" sz="quarter" idx="5"/>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algn="r" defTabSz="931863" eaLnBrk="1" hangingPunct="1">
              <a:defRPr sz="1200"/>
            </a:lvl1pPr>
          </a:lstStyle>
          <a:p>
            <a:pPr>
              <a:defRPr/>
            </a:pPr>
            <a:fld id="{C1AB64C6-EFC2-4009-A12B-AC07225EFB7A}" type="slidenum">
              <a:rPr lang="en-US"/>
              <a:pPr>
                <a:defRPr/>
              </a:pPr>
              <a:t>‹#›</a:t>
            </a:fld>
            <a:endParaRPr lang="en-US"/>
          </a:p>
        </p:txBody>
      </p:sp>
    </p:spTree>
    <p:extLst>
      <p:ext uri="{BB962C8B-B14F-4D97-AF65-F5344CB8AC3E}">
        <p14:creationId xmlns:p14="http://schemas.microsoft.com/office/powerpoint/2010/main" val="273372006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C1AB64C6-EFC2-4009-A12B-AC07225EFB7A}" type="slidenum">
              <a:rPr lang="en-US" smtClean="0"/>
              <a:pPr>
                <a:defRPr/>
              </a:pPr>
              <a:t>1</a:t>
            </a:fld>
            <a:endParaRPr lang="en-US"/>
          </a:p>
        </p:txBody>
      </p:sp>
    </p:spTree>
    <p:extLst>
      <p:ext uri="{BB962C8B-B14F-4D97-AF65-F5344CB8AC3E}">
        <p14:creationId xmlns:p14="http://schemas.microsoft.com/office/powerpoint/2010/main" val="29714449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Regulated</a:t>
            </a:r>
            <a:r>
              <a:rPr lang="en-US" baseline="0"/>
              <a:t> by FERC; use NAESB standards</a:t>
            </a:r>
          </a:p>
          <a:p>
            <a:r>
              <a:rPr lang="en-US" baseline="0"/>
              <a:t>These standards were created so that external shippers could be guaranteed somewhat consistent information across pipelines</a:t>
            </a:r>
          </a:p>
          <a:p>
            <a:r>
              <a:rPr lang="en-US" baseline="0"/>
              <a:t>They dictate what fields we have, how they are named, code values, where buttons have to be, etc.</a:t>
            </a:r>
            <a:endParaRPr lang="en-US"/>
          </a:p>
        </p:txBody>
      </p:sp>
      <p:sp>
        <p:nvSpPr>
          <p:cNvPr id="4" name="Slide Number Placeholder 3"/>
          <p:cNvSpPr>
            <a:spLocks noGrp="1"/>
          </p:cNvSpPr>
          <p:nvPr>
            <p:ph type="sldNum" sz="quarter" idx="10"/>
          </p:nvPr>
        </p:nvSpPr>
        <p:spPr/>
        <p:txBody>
          <a:bodyPr/>
          <a:lstStyle/>
          <a:p>
            <a:pPr>
              <a:defRPr/>
            </a:pPr>
            <a:fld id="{C1AB64C6-EFC2-4009-A12B-AC07225EFB7A}" type="slidenum">
              <a:rPr lang="en-US" smtClean="0"/>
              <a:pPr>
                <a:defRPr/>
              </a:pPr>
              <a:t>3</a:t>
            </a:fld>
            <a:endParaRPr lang="en-US"/>
          </a:p>
        </p:txBody>
      </p:sp>
    </p:spTree>
    <p:extLst>
      <p:ext uri="{BB962C8B-B14F-4D97-AF65-F5344CB8AC3E}">
        <p14:creationId xmlns:p14="http://schemas.microsoft.com/office/powerpoint/2010/main" val="36267070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effectLst/>
                <a:latin typeface="Arial" charset="0"/>
                <a:ea typeface="+mn-ea"/>
                <a:cs typeface="+mn-cs"/>
              </a:rPr>
              <a:t>We don’t have Crestwood, Whitewater, or </a:t>
            </a:r>
            <a:r>
              <a:rPr lang="en-US" sz="1200" kern="1200" err="1">
                <a:solidFill>
                  <a:schemeClr val="tx1"/>
                </a:solidFill>
                <a:effectLst/>
                <a:latin typeface="Arial" charset="0"/>
                <a:ea typeface="+mn-ea"/>
                <a:cs typeface="+mn-cs"/>
              </a:rPr>
              <a:t>Cenagas</a:t>
            </a:r>
            <a:r>
              <a:rPr lang="en-US" sz="1200" kern="1200">
                <a:solidFill>
                  <a:schemeClr val="tx1"/>
                </a:solidFill>
                <a:effectLst/>
                <a:latin typeface="Arial" charset="0"/>
                <a:ea typeface="+mn-ea"/>
                <a:cs typeface="+mn-cs"/>
              </a:rPr>
              <a:t> on this.</a:t>
            </a:r>
          </a:p>
          <a:p>
            <a:endParaRPr lang="en-US"/>
          </a:p>
        </p:txBody>
      </p:sp>
      <p:sp>
        <p:nvSpPr>
          <p:cNvPr id="4" name="Slide Number Placeholder 3"/>
          <p:cNvSpPr>
            <a:spLocks noGrp="1"/>
          </p:cNvSpPr>
          <p:nvPr>
            <p:ph type="sldNum" sz="quarter" idx="10"/>
          </p:nvPr>
        </p:nvSpPr>
        <p:spPr/>
        <p:txBody>
          <a:bodyPr/>
          <a:lstStyle/>
          <a:p>
            <a:pPr>
              <a:defRPr/>
            </a:pPr>
            <a:fld id="{D8E7249B-2F3A-42F2-8738-C6E5533DC051}" type="slidenum">
              <a:rPr lang="en-US" altLang="en-US" smtClean="0"/>
              <a:pPr>
                <a:defRPr/>
              </a:pPr>
              <a:t>4</a:t>
            </a:fld>
            <a:endParaRPr lang="en-US" altLang="en-US"/>
          </a:p>
        </p:txBody>
      </p:sp>
    </p:spTree>
    <p:extLst>
      <p:ext uri="{BB962C8B-B14F-4D97-AF65-F5344CB8AC3E}">
        <p14:creationId xmlns:p14="http://schemas.microsoft.com/office/powerpoint/2010/main" val="6529502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lvl1pPr defTabSz="914065">
              <a:defRPr>
                <a:solidFill>
                  <a:schemeClr val="tx1"/>
                </a:solidFill>
                <a:latin typeface="Arial" charset="0"/>
              </a:defRPr>
            </a:lvl1pPr>
            <a:lvl2pPr marL="754466" indent="-290179" defTabSz="914065">
              <a:defRPr>
                <a:solidFill>
                  <a:schemeClr val="tx1"/>
                </a:solidFill>
                <a:latin typeface="Arial" charset="0"/>
              </a:defRPr>
            </a:lvl2pPr>
            <a:lvl3pPr marL="1160717" indent="-232143" defTabSz="914065">
              <a:defRPr>
                <a:solidFill>
                  <a:schemeClr val="tx1"/>
                </a:solidFill>
                <a:latin typeface="Arial" charset="0"/>
              </a:defRPr>
            </a:lvl3pPr>
            <a:lvl4pPr marL="1625003" indent="-232143" defTabSz="914065">
              <a:defRPr>
                <a:solidFill>
                  <a:schemeClr val="tx1"/>
                </a:solidFill>
                <a:latin typeface="Arial" charset="0"/>
              </a:defRPr>
            </a:lvl4pPr>
            <a:lvl5pPr marL="2089290" indent="-232143" defTabSz="914065">
              <a:defRPr>
                <a:solidFill>
                  <a:schemeClr val="tx1"/>
                </a:solidFill>
                <a:latin typeface="Arial" charset="0"/>
              </a:defRPr>
            </a:lvl5pPr>
            <a:lvl6pPr marL="2553576" indent="-232143" defTabSz="914065" eaLnBrk="0" fontAlgn="base" hangingPunct="0">
              <a:spcBef>
                <a:spcPct val="0"/>
              </a:spcBef>
              <a:spcAft>
                <a:spcPct val="0"/>
              </a:spcAft>
              <a:defRPr>
                <a:solidFill>
                  <a:schemeClr val="tx1"/>
                </a:solidFill>
                <a:latin typeface="Arial" charset="0"/>
              </a:defRPr>
            </a:lvl6pPr>
            <a:lvl7pPr marL="3017863" indent="-232143" defTabSz="914065" eaLnBrk="0" fontAlgn="base" hangingPunct="0">
              <a:spcBef>
                <a:spcPct val="0"/>
              </a:spcBef>
              <a:spcAft>
                <a:spcPct val="0"/>
              </a:spcAft>
              <a:defRPr>
                <a:solidFill>
                  <a:schemeClr val="tx1"/>
                </a:solidFill>
                <a:latin typeface="Arial" charset="0"/>
              </a:defRPr>
            </a:lvl7pPr>
            <a:lvl8pPr marL="3482150" indent="-232143" defTabSz="914065" eaLnBrk="0" fontAlgn="base" hangingPunct="0">
              <a:spcBef>
                <a:spcPct val="0"/>
              </a:spcBef>
              <a:spcAft>
                <a:spcPct val="0"/>
              </a:spcAft>
              <a:defRPr>
                <a:solidFill>
                  <a:schemeClr val="tx1"/>
                </a:solidFill>
                <a:latin typeface="Arial" charset="0"/>
              </a:defRPr>
            </a:lvl8pPr>
            <a:lvl9pPr marL="3946436" indent="-232143" defTabSz="914065" eaLnBrk="0" fontAlgn="base" hangingPunct="0">
              <a:spcBef>
                <a:spcPct val="0"/>
              </a:spcBef>
              <a:spcAft>
                <a:spcPct val="0"/>
              </a:spcAft>
              <a:defRPr>
                <a:solidFill>
                  <a:schemeClr val="tx1"/>
                </a:solidFill>
                <a:latin typeface="Arial" charset="0"/>
              </a:defRPr>
            </a:lvl9pPr>
          </a:lstStyle>
          <a:p>
            <a:fld id="{F3DCCF6D-2492-40C0-B1FB-541B142CE7B1}" type="slidenum">
              <a:rPr lang="en-US" smtClean="0"/>
              <a:pPr/>
              <a:t>5</a:t>
            </a:fld>
            <a:endParaRPr lang="en-US"/>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p:spPr>
        <p:txBody>
          <a:bodyPr/>
          <a:lstStyle/>
          <a:p>
            <a:pPr marL="174107" indent="-174107" eaLnBrk="1" hangingPunct="1">
              <a:buFontTx/>
              <a:buChar char="•"/>
            </a:pPr>
            <a:endParaRPr lang="en-US"/>
          </a:p>
        </p:txBody>
      </p:sp>
    </p:spTree>
    <p:extLst>
      <p:ext uri="{BB962C8B-B14F-4D97-AF65-F5344CB8AC3E}">
        <p14:creationId xmlns:p14="http://schemas.microsoft.com/office/powerpoint/2010/main" val="32209459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lvl1pPr defTabSz="914065">
              <a:defRPr>
                <a:solidFill>
                  <a:schemeClr val="tx1"/>
                </a:solidFill>
                <a:latin typeface="Arial" charset="0"/>
              </a:defRPr>
            </a:lvl1pPr>
            <a:lvl2pPr marL="754466" indent="-290179" defTabSz="914065">
              <a:defRPr>
                <a:solidFill>
                  <a:schemeClr val="tx1"/>
                </a:solidFill>
                <a:latin typeface="Arial" charset="0"/>
              </a:defRPr>
            </a:lvl2pPr>
            <a:lvl3pPr marL="1160717" indent="-232143" defTabSz="914065">
              <a:defRPr>
                <a:solidFill>
                  <a:schemeClr val="tx1"/>
                </a:solidFill>
                <a:latin typeface="Arial" charset="0"/>
              </a:defRPr>
            </a:lvl3pPr>
            <a:lvl4pPr marL="1625003" indent="-232143" defTabSz="914065">
              <a:defRPr>
                <a:solidFill>
                  <a:schemeClr val="tx1"/>
                </a:solidFill>
                <a:latin typeface="Arial" charset="0"/>
              </a:defRPr>
            </a:lvl4pPr>
            <a:lvl5pPr marL="2089290" indent="-232143" defTabSz="914065">
              <a:defRPr>
                <a:solidFill>
                  <a:schemeClr val="tx1"/>
                </a:solidFill>
                <a:latin typeface="Arial" charset="0"/>
              </a:defRPr>
            </a:lvl5pPr>
            <a:lvl6pPr marL="2553576" indent="-232143" defTabSz="914065" eaLnBrk="0" fontAlgn="base" hangingPunct="0">
              <a:spcBef>
                <a:spcPct val="0"/>
              </a:spcBef>
              <a:spcAft>
                <a:spcPct val="0"/>
              </a:spcAft>
              <a:defRPr>
                <a:solidFill>
                  <a:schemeClr val="tx1"/>
                </a:solidFill>
                <a:latin typeface="Arial" charset="0"/>
              </a:defRPr>
            </a:lvl6pPr>
            <a:lvl7pPr marL="3017863" indent="-232143" defTabSz="914065" eaLnBrk="0" fontAlgn="base" hangingPunct="0">
              <a:spcBef>
                <a:spcPct val="0"/>
              </a:spcBef>
              <a:spcAft>
                <a:spcPct val="0"/>
              </a:spcAft>
              <a:defRPr>
                <a:solidFill>
                  <a:schemeClr val="tx1"/>
                </a:solidFill>
                <a:latin typeface="Arial" charset="0"/>
              </a:defRPr>
            </a:lvl7pPr>
            <a:lvl8pPr marL="3482150" indent="-232143" defTabSz="914065" eaLnBrk="0" fontAlgn="base" hangingPunct="0">
              <a:spcBef>
                <a:spcPct val="0"/>
              </a:spcBef>
              <a:spcAft>
                <a:spcPct val="0"/>
              </a:spcAft>
              <a:defRPr>
                <a:solidFill>
                  <a:schemeClr val="tx1"/>
                </a:solidFill>
                <a:latin typeface="Arial" charset="0"/>
              </a:defRPr>
            </a:lvl8pPr>
            <a:lvl9pPr marL="3946436" indent="-232143" defTabSz="914065" eaLnBrk="0" fontAlgn="base" hangingPunct="0">
              <a:spcBef>
                <a:spcPct val="0"/>
              </a:spcBef>
              <a:spcAft>
                <a:spcPct val="0"/>
              </a:spcAft>
              <a:defRPr>
                <a:solidFill>
                  <a:schemeClr val="tx1"/>
                </a:solidFill>
                <a:latin typeface="Arial" charset="0"/>
              </a:defRPr>
            </a:lvl9pPr>
          </a:lstStyle>
          <a:p>
            <a:fld id="{F3DCCF6D-2492-40C0-B1FB-541B142CE7B1}" type="slidenum">
              <a:rPr lang="en-US" smtClean="0"/>
              <a:pPr/>
              <a:t>6</a:t>
            </a:fld>
            <a:endParaRPr lang="en-US"/>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p:spPr>
        <p:txBody>
          <a:bodyPr/>
          <a:lstStyle/>
          <a:p>
            <a:pPr marL="174107" indent="-174107" eaLnBrk="1" hangingPunct="1">
              <a:buFontTx/>
              <a:buChar char="•"/>
            </a:pPr>
            <a:endParaRPr lang="en-US"/>
          </a:p>
        </p:txBody>
      </p:sp>
    </p:spTree>
    <p:extLst>
      <p:ext uri="{BB962C8B-B14F-4D97-AF65-F5344CB8AC3E}">
        <p14:creationId xmlns:p14="http://schemas.microsoft.com/office/powerpoint/2010/main" val="28705657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1,679 miles</a:t>
            </a:r>
          </a:p>
          <a:p>
            <a:r>
              <a:rPr lang="en-US"/>
              <a:t>Meeker</a:t>
            </a:r>
            <a:r>
              <a:rPr lang="en-US" baseline="0"/>
              <a:t> CO all the way to Clarington OH</a:t>
            </a:r>
          </a:p>
          <a:p>
            <a:r>
              <a:rPr lang="en-US" baseline="0"/>
              <a:t>Crossing 8 states in the process</a:t>
            </a:r>
          </a:p>
          <a:p>
            <a:r>
              <a:rPr lang="en-US" baseline="0"/>
              <a:t>Diameter varying from 36in to 42in</a:t>
            </a:r>
          </a:p>
          <a:p>
            <a:endParaRPr lang="en-US" baseline="0"/>
          </a:p>
          <a:p>
            <a:r>
              <a:rPr lang="en-US" baseline="0"/>
              <a:t>Sources:</a:t>
            </a:r>
          </a:p>
          <a:p>
            <a:r>
              <a:rPr lang="en-US"/>
              <a:t>http://www.hydrocarbons-technology.com/projects/rockies_express/</a:t>
            </a:r>
          </a:p>
        </p:txBody>
      </p:sp>
      <p:sp>
        <p:nvSpPr>
          <p:cNvPr id="4" name="Slide Number Placeholder 3"/>
          <p:cNvSpPr>
            <a:spLocks noGrp="1"/>
          </p:cNvSpPr>
          <p:nvPr>
            <p:ph type="sldNum" sz="quarter" idx="10"/>
          </p:nvPr>
        </p:nvSpPr>
        <p:spPr/>
        <p:txBody>
          <a:bodyPr/>
          <a:lstStyle/>
          <a:p>
            <a:pPr>
              <a:defRPr/>
            </a:pPr>
            <a:fld id="{C1AB64C6-EFC2-4009-A12B-AC07225EFB7A}" type="slidenum">
              <a:rPr lang="en-US" smtClean="0"/>
              <a:pPr>
                <a:defRPr/>
              </a:pPr>
              <a:t>9</a:t>
            </a:fld>
            <a:endParaRPr lang="en-US"/>
          </a:p>
        </p:txBody>
      </p:sp>
    </p:spTree>
    <p:extLst>
      <p:ext uri="{BB962C8B-B14F-4D97-AF65-F5344CB8AC3E}">
        <p14:creationId xmlns:p14="http://schemas.microsoft.com/office/powerpoint/2010/main" val="21860049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http://www.hydrocarbons-technology.com/projects/rockies_express/</a:t>
            </a:r>
          </a:p>
        </p:txBody>
      </p:sp>
      <p:sp>
        <p:nvSpPr>
          <p:cNvPr id="4" name="Slide Number Placeholder 3"/>
          <p:cNvSpPr>
            <a:spLocks noGrp="1"/>
          </p:cNvSpPr>
          <p:nvPr>
            <p:ph type="sldNum" sz="quarter" idx="10"/>
          </p:nvPr>
        </p:nvSpPr>
        <p:spPr/>
        <p:txBody>
          <a:bodyPr/>
          <a:lstStyle/>
          <a:p>
            <a:pPr>
              <a:defRPr/>
            </a:pPr>
            <a:fld id="{C1AB64C6-EFC2-4009-A12B-AC07225EFB7A}" type="slidenum">
              <a:rPr lang="en-US" smtClean="0"/>
              <a:pPr>
                <a:defRPr/>
              </a:pPr>
              <a:t>10</a:t>
            </a:fld>
            <a:endParaRPr lang="en-US"/>
          </a:p>
        </p:txBody>
      </p:sp>
    </p:spTree>
    <p:extLst>
      <p:ext uri="{BB962C8B-B14F-4D97-AF65-F5344CB8AC3E}">
        <p14:creationId xmlns:p14="http://schemas.microsoft.com/office/powerpoint/2010/main" val="21952000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C1AB64C6-EFC2-4009-A12B-AC07225EFB7A}" type="slidenum">
              <a:rPr lang="en-US" smtClean="0"/>
              <a:pPr>
                <a:defRPr/>
              </a:pPr>
              <a:t>11</a:t>
            </a:fld>
            <a:endParaRPr lang="en-US"/>
          </a:p>
        </p:txBody>
      </p:sp>
    </p:spTree>
    <p:extLst>
      <p:ext uri="{BB962C8B-B14F-4D97-AF65-F5344CB8AC3E}">
        <p14:creationId xmlns:p14="http://schemas.microsoft.com/office/powerpoint/2010/main" val="42075887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C1AB64C6-EFC2-4009-A12B-AC07225EFB7A}" type="slidenum">
              <a:rPr lang="en-US" smtClean="0"/>
              <a:pPr>
                <a:defRPr/>
              </a:pPr>
              <a:t>12</a:t>
            </a:fld>
            <a:endParaRPr lang="en-US"/>
          </a:p>
        </p:txBody>
      </p:sp>
    </p:spTree>
    <p:extLst>
      <p:ext uri="{BB962C8B-B14F-4D97-AF65-F5344CB8AC3E}">
        <p14:creationId xmlns:p14="http://schemas.microsoft.com/office/powerpoint/2010/main" val="4455099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C1AB64C6-EFC2-4009-A12B-AC07225EFB7A}" type="slidenum">
              <a:rPr lang="en-US" smtClean="0"/>
              <a:pPr>
                <a:defRPr/>
              </a:pPr>
              <a:t>13</a:t>
            </a:fld>
            <a:endParaRPr lang="en-US"/>
          </a:p>
        </p:txBody>
      </p:sp>
    </p:spTree>
    <p:extLst>
      <p:ext uri="{BB962C8B-B14F-4D97-AF65-F5344CB8AC3E}">
        <p14:creationId xmlns:p14="http://schemas.microsoft.com/office/powerpoint/2010/main" val="7099981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A9A02A1-11B0-458B-9AD0-28B48EBAE3AA}" type="slidenum">
              <a:rPr lang="en-US"/>
              <a:pPr/>
              <a:t>14</a:t>
            </a:fld>
            <a:endParaRPr lang="en-US"/>
          </a:p>
        </p:txBody>
      </p:sp>
      <p:sp>
        <p:nvSpPr>
          <p:cNvPr id="358402" name="Rectangle 2"/>
          <p:cNvSpPr>
            <a:spLocks noGrp="1" noRot="1" noChangeAspect="1" noChangeArrowheads="1" noTextEdit="1"/>
          </p:cNvSpPr>
          <p:nvPr>
            <p:ph type="sldImg"/>
          </p:nvPr>
        </p:nvSpPr>
        <p:spPr>
          <a:ln/>
        </p:spPr>
      </p:sp>
      <p:sp>
        <p:nvSpPr>
          <p:cNvPr id="358403" name="Rectangle 3"/>
          <p:cNvSpPr>
            <a:spLocks noGrp="1" noChangeArrowheads="1"/>
          </p:cNvSpPr>
          <p:nvPr>
            <p:ph type="body" idx="1"/>
          </p:nvPr>
        </p:nvSpPr>
        <p:spPr/>
        <p:txBody>
          <a:bodyPr/>
          <a:lstStyle/>
          <a:p>
            <a:r>
              <a:rPr lang="en-US"/>
              <a:t>This is the entire QPTM data flow…</a:t>
            </a:r>
          </a:p>
        </p:txBody>
      </p:sp>
    </p:spTree>
    <p:extLst>
      <p:ext uri="{BB962C8B-B14F-4D97-AF65-F5344CB8AC3E}">
        <p14:creationId xmlns:p14="http://schemas.microsoft.com/office/powerpoint/2010/main" val="4916661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A9A02A1-11B0-458B-9AD0-28B48EBAE3AA}" type="slidenum">
              <a:rPr lang="en-US"/>
              <a:pPr/>
              <a:t>15</a:t>
            </a:fld>
            <a:endParaRPr lang="en-US"/>
          </a:p>
        </p:txBody>
      </p:sp>
      <p:sp>
        <p:nvSpPr>
          <p:cNvPr id="358402" name="Rectangle 2"/>
          <p:cNvSpPr>
            <a:spLocks noGrp="1" noRot="1" noChangeAspect="1" noChangeArrowheads="1" noTextEdit="1"/>
          </p:cNvSpPr>
          <p:nvPr>
            <p:ph type="sldImg"/>
          </p:nvPr>
        </p:nvSpPr>
        <p:spPr>
          <a:ln/>
        </p:spPr>
      </p:sp>
      <p:sp>
        <p:nvSpPr>
          <p:cNvPr id="358403" name="Rectangle 3"/>
          <p:cNvSpPr>
            <a:spLocks noGrp="1" noChangeArrowheads="1"/>
          </p:cNvSpPr>
          <p:nvPr>
            <p:ph type="body" idx="1"/>
          </p:nvPr>
        </p:nvSpPr>
        <p:spPr/>
        <p:txBody>
          <a:bodyPr/>
          <a:lstStyle/>
          <a:p>
            <a:r>
              <a:rPr lang="en-US"/>
              <a:t>This is the entire QPTM data flow…</a:t>
            </a:r>
          </a:p>
        </p:txBody>
      </p:sp>
    </p:spTree>
    <p:extLst>
      <p:ext uri="{BB962C8B-B14F-4D97-AF65-F5344CB8AC3E}">
        <p14:creationId xmlns:p14="http://schemas.microsoft.com/office/powerpoint/2010/main" val="21530770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a:t>TSPs:  Legal entity which owns the pipeline.  Controls security in QPTM.</a:t>
            </a:r>
          </a:p>
          <a:p>
            <a:r>
              <a:rPr lang="en-US" baseline="0"/>
              <a:t>Cycles:  Interstate pipelines are currently required to have 5 cycles per gas day.  Cycles are deadlines for different pipeline activities.  Having standardized cycles allows the nationwide network of pipelines to synchronize with each other.  We’ll see cycles in use in the Nominations module.</a:t>
            </a:r>
          </a:p>
          <a:p>
            <a:endParaRPr lang="en-US"/>
          </a:p>
        </p:txBody>
      </p:sp>
      <p:sp>
        <p:nvSpPr>
          <p:cNvPr id="4" name="Slide Number Placeholder 3"/>
          <p:cNvSpPr>
            <a:spLocks noGrp="1"/>
          </p:cNvSpPr>
          <p:nvPr>
            <p:ph type="sldNum" sz="quarter" idx="10"/>
          </p:nvPr>
        </p:nvSpPr>
        <p:spPr/>
        <p:txBody>
          <a:bodyPr/>
          <a:lstStyle/>
          <a:p>
            <a:pPr>
              <a:defRPr/>
            </a:pPr>
            <a:fld id="{C1AB64C6-EFC2-4009-A12B-AC07225EFB7A}" type="slidenum">
              <a:rPr lang="en-US" smtClean="0"/>
              <a:pPr>
                <a:defRPr/>
              </a:pPr>
              <a:t>16</a:t>
            </a:fld>
            <a:endParaRPr lang="en-US"/>
          </a:p>
        </p:txBody>
      </p:sp>
    </p:spTree>
    <p:extLst>
      <p:ext uri="{BB962C8B-B14F-4D97-AF65-F5344CB8AC3E}">
        <p14:creationId xmlns:p14="http://schemas.microsoft.com/office/powerpoint/2010/main" val="42406538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C1AB64C6-EFC2-4009-A12B-AC07225EFB7A}" type="slidenum">
              <a:rPr lang="en-US" smtClean="0"/>
              <a:pPr>
                <a:defRPr/>
              </a:pPr>
              <a:t>17</a:t>
            </a:fld>
            <a:endParaRPr lang="en-US"/>
          </a:p>
        </p:txBody>
      </p:sp>
    </p:spTree>
    <p:extLst>
      <p:ext uri="{BB962C8B-B14F-4D97-AF65-F5344CB8AC3E}">
        <p14:creationId xmlns:p14="http://schemas.microsoft.com/office/powerpoint/2010/main" val="20814915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Why not just create master</a:t>
            </a:r>
            <a:r>
              <a:rPr lang="en-US" baseline="0"/>
              <a:t> data in Contract Maintenance and Rate Maintenance?</a:t>
            </a:r>
          </a:p>
          <a:p>
            <a:pPr marL="228600" indent="-228600">
              <a:buAutoNum type="arabicPeriod"/>
            </a:pPr>
            <a:r>
              <a:rPr lang="en-US" baseline="0"/>
              <a:t>Don’t want to open up those screens to external users.  RFS is included in the CAW.</a:t>
            </a:r>
          </a:p>
          <a:p>
            <a:pPr marL="228600" indent="-228600">
              <a:buAutoNum type="arabicPeriod"/>
            </a:pPr>
            <a:r>
              <a:rPr lang="en-US" baseline="0"/>
              <a:t>Validations</a:t>
            </a:r>
          </a:p>
          <a:p>
            <a:pPr marL="228600" indent="-228600">
              <a:buAutoNum type="arabicPeriod"/>
            </a:pPr>
            <a:r>
              <a:rPr lang="en-US" baseline="0"/>
              <a:t>Approval workflow</a:t>
            </a:r>
          </a:p>
          <a:p>
            <a:pPr marL="228600" indent="-228600">
              <a:buAutoNum type="arabicPeriod"/>
            </a:pPr>
            <a:r>
              <a:rPr lang="en-US" baseline="0"/>
              <a:t>Greater control and security</a:t>
            </a:r>
          </a:p>
        </p:txBody>
      </p:sp>
      <p:sp>
        <p:nvSpPr>
          <p:cNvPr id="4" name="Slide Number Placeholder 3"/>
          <p:cNvSpPr>
            <a:spLocks noGrp="1"/>
          </p:cNvSpPr>
          <p:nvPr>
            <p:ph type="sldNum" sz="quarter" idx="10"/>
          </p:nvPr>
        </p:nvSpPr>
        <p:spPr/>
        <p:txBody>
          <a:bodyPr/>
          <a:lstStyle/>
          <a:p>
            <a:pPr>
              <a:defRPr/>
            </a:pPr>
            <a:fld id="{C1AB64C6-EFC2-4009-A12B-AC07225EFB7A}" type="slidenum">
              <a:rPr lang="en-US" smtClean="0"/>
              <a:pPr>
                <a:defRPr/>
              </a:pPr>
              <a:t>18</a:t>
            </a:fld>
            <a:endParaRPr lang="en-US"/>
          </a:p>
        </p:txBody>
      </p:sp>
    </p:spTree>
    <p:extLst>
      <p:ext uri="{BB962C8B-B14F-4D97-AF65-F5344CB8AC3E}">
        <p14:creationId xmlns:p14="http://schemas.microsoft.com/office/powerpoint/2010/main" val="10967344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A9A02A1-11B0-458B-9AD0-28B48EBAE3AA}" type="slidenum">
              <a:rPr lang="en-US"/>
              <a:pPr/>
              <a:t>19</a:t>
            </a:fld>
            <a:endParaRPr lang="en-US"/>
          </a:p>
        </p:txBody>
      </p:sp>
      <p:sp>
        <p:nvSpPr>
          <p:cNvPr id="358402" name="Rectangle 2"/>
          <p:cNvSpPr>
            <a:spLocks noGrp="1" noRot="1" noChangeAspect="1" noChangeArrowheads="1" noTextEdit="1"/>
          </p:cNvSpPr>
          <p:nvPr>
            <p:ph type="sldImg"/>
          </p:nvPr>
        </p:nvSpPr>
        <p:spPr>
          <a:ln/>
        </p:spPr>
      </p:sp>
      <p:sp>
        <p:nvSpPr>
          <p:cNvPr id="358403" name="Rectangle 3"/>
          <p:cNvSpPr>
            <a:spLocks noGrp="1" noChangeArrowheads="1"/>
          </p:cNvSpPr>
          <p:nvPr>
            <p:ph type="body" idx="1"/>
          </p:nvPr>
        </p:nvSpPr>
        <p:spPr/>
        <p:txBody>
          <a:bodyPr/>
          <a:lstStyle/>
          <a:p>
            <a:r>
              <a:rPr lang="en-US"/>
              <a:t>This is the entire QPTM data flow…</a:t>
            </a:r>
          </a:p>
        </p:txBody>
      </p:sp>
    </p:spTree>
    <p:extLst>
      <p:ext uri="{BB962C8B-B14F-4D97-AF65-F5344CB8AC3E}">
        <p14:creationId xmlns:p14="http://schemas.microsoft.com/office/powerpoint/2010/main" val="16608936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Nomination Submission:  </a:t>
            </a:r>
          </a:p>
          <a:p>
            <a:pPr marL="171450" indent="-171450">
              <a:buFontTx/>
              <a:buChar char="-"/>
            </a:pPr>
            <a:r>
              <a:rPr lang="en-US" baseline="0"/>
              <a:t>NAESB regulated (lots of fields)</a:t>
            </a:r>
          </a:p>
          <a:p>
            <a:pPr marL="171450" indent="-171450">
              <a:buFontTx/>
              <a:buChar char="-"/>
            </a:pPr>
            <a:r>
              <a:rPr lang="en-US" baseline="0"/>
              <a:t>Cycles</a:t>
            </a:r>
          </a:p>
          <a:p>
            <a:pPr marL="171450" indent="-171450">
              <a:buFontTx/>
              <a:buChar char="-"/>
            </a:pPr>
            <a:r>
              <a:rPr lang="en-US"/>
              <a:t>31-day</a:t>
            </a:r>
            <a:r>
              <a:rPr lang="en-US" baseline="0"/>
              <a:t> pop-up</a:t>
            </a:r>
          </a:p>
          <a:p>
            <a:pPr marL="171450" indent="-171450">
              <a:buFontTx/>
              <a:buChar char="-"/>
            </a:pPr>
            <a:r>
              <a:rPr lang="en-US" baseline="0"/>
              <a:t>Errors tab</a:t>
            </a:r>
          </a:p>
          <a:p>
            <a:pPr marL="0" indent="0">
              <a:buFontTx/>
              <a:buNone/>
            </a:pPr>
            <a:r>
              <a:rPr lang="en-US" baseline="0"/>
              <a:t>Nomination Maintenance</a:t>
            </a:r>
          </a:p>
          <a:p>
            <a:pPr marL="171450" indent="-171450">
              <a:buFontTx/>
              <a:buChar char="-"/>
            </a:pPr>
            <a:r>
              <a:rPr lang="en-US" baseline="0"/>
              <a:t>Calendar</a:t>
            </a:r>
          </a:p>
          <a:p>
            <a:pPr marL="171450" indent="-171450">
              <a:buFontTx/>
              <a:buChar char="-"/>
            </a:pPr>
            <a:r>
              <a:rPr lang="en-US" baseline="0"/>
              <a:t>31-day pop-up</a:t>
            </a:r>
          </a:p>
        </p:txBody>
      </p:sp>
      <p:sp>
        <p:nvSpPr>
          <p:cNvPr id="4" name="Slide Number Placeholder 3"/>
          <p:cNvSpPr>
            <a:spLocks noGrp="1"/>
          </p:cNvSpPr>
          <p:nvPr>
            <p:ph type="sldNum" sz="quarter" idx="10"/>
          </p:nvPr>
        </p:nvSpPr>
        <p:spPr/>
        <p:txBody>
          <a:bodyPr/>
          <a:lstStyle/>
          <a:p>
            <a:pPr>
              <a:defRPr/>
            </a:pPr>
            <a:fld id="{C1AB64C6-EFC2-4009-A12B-AC07225EFB7A}" type="slidenum">
              <a:rPr lang="en-US" smtClean="0"/>
              <a:pPr>
                <a:defRPr/>
              </a:pPr>
              <a:t>20</a:t>
            </a:fld>
            <a:endParaRPr lang="en-US"/>
          </a:p>
        </p:txBody>
      </p:sp>
    </p:spTree>
    <p:extLst>
      <p:ext uri="{BB962C8B-B14F-4D97-AF65-F5344CB8AC3E}">
        <p14:creationId xmlns:p14="http://schemas.microsoft.com/office/powerpoint/2010/main" val="30557300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A9A02A1-11B0-458B-9AD0-28B48EBAE3AA}" type="slidenum">
              <a:rPr lang="en-US"/>
              <a:pPr/>
              <a:t>21</a:t>
            </a:fld>
            <a:endParaRPr lang="en-US"/>
          </a:p>
        </p:txBody>
      </p:sp>
      <p:sp>
        <p:nvSpPr>
          <p:cNvPr id="358402" name="Rectangle 2"/>
          <p:cNvSpPr>
            <a:spLocks noGrp="1" noRot="1" noChangeAspect="1" noChangeArrowheads="1" noTextEdit="1"/>
          </p:cNvSpPr>
          <p:nvPr>
            <p:ph type="sldImg"/>
          </p:nvPr>
        </p:nvSpPr>
        <p:spPr>
          <a:ln/>
        </p:spPr>
      </p:sp>
      <p:sp>
        <p:nvSpPr>
          <p:cNvPr id="358403" name="Rectangle 3"/>
          <p:cNvSpPr>
            <a:spLocks noGrp="1" noChangeArrowheads="1"/>
          </p:cNvSpPr>
          <p:nvPr>
            <p:ph type="body" idx="1"/>
          </p:nvPr>
        </p:nvSpPr>
        <p:spPr/>
        <p:txBody>
          <a:bodyPr/>
          <a:lstStyle/>
          <a:p>
            <a:r>
              <a:rPr lang="en-US"/>
              <a:t>This is the entire QPTM data flow…</a:t>
            </a:r>
          </a:p>
        </p:txBody>
      </p:sp>
    </p:spTree>
    <p:extLst>
      <p:ext uri="{BB962C8B-B14F-4D97-AF65-F5344CB8AC3E}">
        <p14:creationId xmlns:p14="http://schemas.microsoft.com/office/powerpoint/2010/main" val="22453079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C1AB64C6-EFC2-4009-A12B-AC07225EFB7A}" type="slidenum">
              <a:rPr lang="en-US" smtClean="0"/>
              <a:pPr>
                <a:defRPr/>
              </a:pPr>
              <a:t>22</a:t>
            </a:fld>
            <a:endParaRPr lang="en-US"/>
          </a:p>
        </p:txBody>
      </p:sp>
    </p:spTree>
    <p:extLst>
      <p:ext uri="{BB962C8B-B14F-4D97-AF65-F5344CB8AC3E}">
        <p14:creationId xmlns:p14="http://schemas.microsoft.com/office/powerpoint/2010/main" val="42459474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A9A02A1-11B0-458B-9AD0-28B48EBAE3AA}" type="slidenum">
              <a:rPr lang="en-US"/>
              <a:pPr/>
              <a:t>23</a:t>
            </a:fld>
            <a:endParaRPr lang="en-US"/>
          </a:p>
        </p:txBody>
      </p:sp>
      <p:sp>
        <p:nvSpPr>
          <p:cNvPr id="358402" name="Rectangle 2"/>
          <p:cNvSpPr>
            <a:spLocks noGrp="1" noRot="1" noChangeAspect="1" noChangeArrowheads="1" noTextEdit="1"/>
          </p:cNvSpPr>
          <p:nvPr>
            <p:ph type="sldImg"/>
          </p:nvPr>
        </p:nvSpPr>
        <p:spPr>
          <a:ln/>
        </p:spPr>
      </p:sp>
      <p:sp>
        <p:nvSpPr>
          <p:cNvPr id="358403" name="Rectangle 3"/>
          <p:cNvSpPr>
            <a:spLocks noGrp="1" noChangeArrowheads="1"/>
          </p:cNvSpPr>
          <p:nvPr>
            <p:ph type="body" idx="1"/>
          </p:nvPr>
        </p:nvSpPr>
        <p:spPr/>
        <p:txBody>
          <a:bodyPr/>
          <a:lstStyle/>
          <a:p>
            <a:r>
              <a:rPr lang="en-US"/>
              <a:t>This is the entire QPTM data flow…</a:t>
            </a:r>
          </a:p>
        </p:txBody>
      </p:sp>
    </p:spTree>
    <p:extLst>
      <p:ext uri="{BB962C8B-B14F-4D97-AF65-F5344CB8AC3E}">
        <p14:creationId xmlns:p14="http://schemas.microsoft.com/office/powerpoint/2010/main" val="34772338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C1AB64C6-EFC2-4009-A12B-AC07225EFB7A}" type="slidenum">
              <a:rPr lang="en-US" smtClean="0"/>
              <a:pPr>
                <a:defRPr/>
              </a:pPr>
              <a:t>24</a:t>
            </a:fld>
            <a:endParaRPr lang="en-US"/>
          </a:p>
        </p:txBody>
      </p:sp>
    </p:spTree>
    <p:extLst>
      <p:ext uri="{BB962C8B-B14F-4D97-AF65-F5344CB8AC3E}">
        <p14:creationId xmlns:p14="http://schemas.microsoft.com/office/powerpoint/2010/main" val="253906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A9A02A1-11B0-458B-9AD0-28B48EBAE3AA}" type="slidenum">
              <a:rPr lang="en-US"/>
              <a:pPr/>
              <a:t>25</a:t>
            </a:fld>
            <a:endParaRPr lang="en-US"/>
          </a:p>
        </p:txBody>
      </p:sp>
      <p:sp>
        <p:nvSpPr>
          <p:cNvPr id="358402" name="Rectangle 2"/>
          <p:cNvSpPr>
            <a:spLocks noGrp="1" noRot="1" noChangeAspect="1" noChangeArrowheads="1" noTextEdit="1"/>
          </p:cNvSpPr>
          <p:nvPr>
            <p:ph type="sldImg"/>
          </p:nvPr>
        </p:nvSpPr>
        <p:spPr>
          <a:ln/>
        </p:spPr>
      </p:sp>
      <p:sp>
        <p:nvSpPr>
          <p:cNvPr id="358403" name="Rectangle 3"/>
          <p:cNvSpPr>
            <a:spLocks noGrp="1" noChangeArrowheads="1"/>
          </p:cNvSpPr>
          <p:nvPr>
            <p:ph type="body" idx="1"/>
          </p:nvPr>
        </p:nvSpPr>
        <p:spPr/>
        <p:txBody>
          <a:bodyPr/>
          <a:lstStyle/>
          <a:p>
            <a:r>
              <a:rPr lang="en-US"/>
              <a:t>This is the entire QPTM data flow…</a:t>
            </a:r>
          </a:p>
        </p:txBody>
      </p:sp>
    </p:spTree>
    <p:extLst>
      <p:ext uri="{BB962C8B-B14F-4D97-AF65-F5344CB8AC3E}">
        <p14:creationId xmlns:p14="http://schemas.microsoft.com/office/powerpoint/2010/main" val="16027497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C1AB64C6-EFC2-4009-A12B-AC07225EFB7A}" type="slidenum">
              <a:rPr lang="en-US" smtClean="0"/>
              <a:pPr>
                <a:defRPr/>
              </a:pPr>
              <a:t>26</a:t>
            </a:fld>
            <a:endParaRPr lang="en-US"/>
          </a:p>
        </p:txBody>
      </p:sp>
    </p:spTree>
    <p:extLst>
      <p:ext uri="{BB962C8B-B14F-4D97-AF65-F5344CB8AC3E}">
        <p14:creationId xmlns:p14="http://schemas.microsoft.com/office/powerpoint/2010/main" val="8009001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C1AB64C6-EFC2-4009-A12B-AC07225EFB7A}" type="slidenum">
              <a:rPr lang="en-US" smtClean="0"/>
              <a:pPr>
                <a:defRPr/>
              </a:pPr>
              <a:t>27</a:t>
            </a:fld>
            <a:endParaRPr lang="en-US"/>
          </a:p>
        </p:txBody>
      </p:sp>
    </p:spTree>
    <p:extLst>
      <p:ext uri="{BB962C8B-B14F-4D97-AF65-F5344CB8AC3E}">
        <p14:creationId xmlns:p14="http://schemas.microsoft.com/office/powerpoint/2010/main" val="10081713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TextEdit="1"/>
          </p:cNvSpPr>
          <p:nvPr>
            <p:ph type="sldImg"/>
          </p:nvPr>
        </p:nvSpPr>
        <p:spPr>
          <a:xfrm>
            <a:off x="1143000" y="685800"/>
            <a:ext cx="4572000" cy="3429000"/>
          </a:xfrm>
          <a:ln/>
        </p:spPr>
      </p:sp>
      <p:sp>
        <p:nvSpPr>
          <p:cNvPr id="16387" name="Notes Placeholder 2"/>
          <p:cNvSpPr>
            <a:spLocks noGrp="1"/>
          </p:cNvSpPr>
          <p:nvPr>
            <p:ph type="body" idx="1"/>
          </p:nvPr>
        </p:nvSpPr>
        <p:spPr>
          <a:noFill/>
        </p:spPr>
        <p:txBody>
          <a:bodyPr/>
          <a:lstStyle/>
          <a:p>
            <a:pPr marL="171450" indent="-171450">
              <a:buFontTx/>
              <a:buChar char="-"/>
            </a:pPr>
            <a:endParaRPr lang="en-US"/>
          </a:p>
        </p:txBody>
      </p:sp>
      <p:sp>
        <p:nvSpPr>
          <p:cNvPr id="16388" name="Slide Number Placeholder 3"/>
          <p:cNvSpPr>
            <a:spLocks noGrp="1"/>
          </p:cNvSpPr>
          <p:nvPr>
            <p:ph type="sldNum" sz="quarter" idx="5"/>
          </p:nvPr>
        </p:nvSpPr>
        <p:spPr>
          <a:noFill/>
        </p:spPr>
        <p:txBody>
          <a:bodyPr/>
          <a:lstStyle>
            <a:lvl1pPr defTabSz="928688">
              <a:defRPr>
                <a:solidFill>
                  <a:schemeClr val="tx1"/>
                </a:solidFill>
                <a:latin typeface="Arial" charset="0"/>
              </a:defRPr>
            </a:lvl1pPr>
            <a:lvl2pPr marL="742950" indent="-285750" defTabSz="928688">
              <a:defRPr>
                <a:solidFill>
                  <a:schemeClr val="tx1"/>
                </a:solidFill>
                <a:latin typeface="Arial" charset="0"/>
              </a:defRPr>
            </a:lvl2pPr>
            <a:lvl3pPr marL="1143000" indent="-228600" defTabSz="928688">
              <a:defRPr>
                <a:solidFill>
                  <a:schemeClr val="tx1"/>
                </a:solidFill>
                <a:latin typeface="Arial" charset="0"/>
              </a:defRPr>
            </a:lvl3pPr>
            <a:lvl4pPr marL="1600200" indent="-228600" defTabSz="928688">
              <a:defRPr>
                <a:solidFill>
                  <a:schemeClr val="tx1"/>
                </a:solidFill>
                <a:latin typeface="Arial" charset="0"/>
              </a:defRPr>
            </a:lvl4pPr>
            <a:lvl5pPr marL="2057400" indent="-228600" defTabSz="928688">
              <a:defRPr>
                <a:solidFill>
                  <a:schemeClr val="tx1"/>
                </a:solidFill>
                <a:latin typeface="Arial" charset="0"/>
              </a:defRPr>
            </a:lvl5pPr>
            <a:lvl6pPr marL="2514600" indent="-228600" defTabSz="928688" eaLnBrk="0" fontAlgn="base" hangingPunct="0">
              <a:spcBef>
                <a:spcPct val="0"/>
              </a:spcBef>
              <a:spcAft>
                <a:spcPct val="0"/>
              </a:spcAft>
              <a:defRPr>
                <a:solidFill>
                  <a:schemeClr val="tx1"/>
                </a:solidFill>
                <a:latin typeface="Arial" charset="0"/>
              </a:defRPr>
            </a:lvl6pPr>
            <a:lvl7pPr marL="2971800" indent="-228600" defTabSz="928688" eaLnBrk="0" fontAlgn="base" hangingPunct="0">
              <a:spcBef>
                <a:spcPct val="0"/>
              </a:spcBef>
              <a:spcAft>
                <a:spcPct val="0"/>
              </a:spcAft>
              <a:defRPr>
                <a:solidFill>
                  <a:schemeClr val="tx1"/>
                </a:solidFill>
                <a:latin typeface="Arial" charset="0"/>
              </a:defRPr>
            </a:lvl7pPr>
            <a:lvl8pPr marL="3429000" indent="-228600" defTabSz="928688" eaLnBrk="0" fontAlgn="base" hangingPunct="0">
              <a:spcBef>
                <a:spcPct val="0"/>
              </a:spcBef>
              <a:spcAft>
                <a:spcPct val="0"/>
              </a:spcAft>
              <a:defRPr>
                <a:solidFill>
                  <a:schemeClr val="tx1"/>
                </a:solidFill>
                <a:latin typeface="Arial" charset="0"/>
              </a:defRPr>
            </a:lvl8pPr>
            <a:lvl9pPr marL="3886200" indent="-228600" defTabSz="928688" eaLnBrk="0" fontAlgn="base" hangingPunct="0">
              <a:spcBef>
                <a:spcPct val="0"/>
              </a:spcBef>
              <a:spcAft>
                <a:spcPct val="0"/>
              </a:spcAft>
              <a:defRPr>
                <a:solidFill>
                  <a:schemeClr val="tx1"/>
                </a:solidFill>
                <a:latin typeface="Arial" charset="0"/>
              </a:defRPr>
            </a:lvl9pPr>
          </a:lstStyle>
          <a:p>
            <a:fld id="{F67EF0F5-28B5-43D1-9057-8C790DF16E7A}" type="slidenum">
              <a:rPr lang="en-US" smtClean="0">
                <a:solidFill>
                  <a:prstClr val="black"/>
                </a:solidFill>
              </a:rPr>
              <a:pPr/>
              <a:t>28</a:t>
            </a:fld>
            <a:endParaRPr lang="en-US">
              <a:solidFill>
                <a:prstClr val="black"/>
              </a:solidFill>
            </a:endParaRPr>
          </a:p>
        </p:txBody>
      </p:sp>
    </p:spTree>
    <p:extLst>
      <p:ext uri="{BB962C8B-B14F-4D97-AF65-F5344CB8AC3E}">
        <p14:creationId xmlns:p14="http://schemas.microsoft.com/office/powerpoint/2010/main" val="26296703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TextEdit="1"/>
          </p:cNvSpPr>
          <p:nvPr>
            <p:ph type="sldImg"/>
          </p:nvPr>
        </p:nvSpPr>
        <p:spPr>
          <a:xfrm>
            <a:off x="1143000" y="685800"/>
            <a:ext cx="4572000" cy="3429000"/>
          </a:xfrm>
          <a:ln/>
        </p:spPr>
      </p:sp>
      <p:sp>
        <p:nvSpPr>
          <p:cNvPr id="16387" name="Notes Placeholder 2"/>
          <p:cNvSpPr>
            <a:spLocks noGrp="1"/>
          </p:cNvSpPr>
          <p:nvPr>
            <p:ph type="body" idx="1"/>
          </p:nvPr>
        </p:nvSpPr>
        <p:spPr>
          <a:noFill/>
        </p:spPr>
        <p:txBody>
          <a:bodyPr/>
          <a:lstStyle/>
          <a:p>
            <a:pPr marL="171450" indent="-171450">
              <a:buFontTx/>
              <a:buChar char="-"/>
            </a:pPr>
            <a:endParaRPr lang="en-US"/>
          </a:p>
        </p:txBody>
      </p:sp>
      <p:sp>
        <p:nvSpPr>
          <p:cNvPr id="16388" name="Slide Number Placeholder 3"/>
          <p:cNvSpPr>
            <a:spLocks noGrp="1"/>
          </p:cNvSpPr>
          <p:nvPr>
            <p:ph type="sldNum" sz="quarter" idx="5"/>
          </p:nvPr>
        </p:nvSpPr>
        <p:spPr>
          <a:noFill/>
        </p:spPr>
        <p:txBody>
          <a:bodyPr/>
          <a:lstStyle>
            <a:lvl1pPr defTabSz="928688">
              <a:defRPr>
                <a:solidFill>
                  <a:schemeClr val="tx1"/>
                </a:solidFill>
                <a:latin typeface="Arial" charset="0"/>
              </a:defRPr>
            </a:lvl1pPr>
            <a:lvl2pPr marL="742950" indent="-285750" defTabSz="928688">
              <a:defRPr>
                <a:solidFill>
                  <a:schemeClr val="tx1"/>
                </a:solidFill>
                <a:latin typeface="Arial" charset="0"/>
              </a:defRPr>
            </a:lvl2pPr>
            <a:lvl3pPr marL="1143000" indent="-228600" defTabSz="928688">
              <a:defRPr>
                <a:solidFill>
                  <a:schemeClr val="tx1"/>
                </a:solidFill>
                <a:latin typeface="Arial" charset="0"/>
              </a:defRPr>
            </a:lvl3pPr>
            <a:lvl4pPr marL="1600200" indent="-228600" defTabSz="928688">
              <a:defRPr>
                <a:solidFill>
                  <a:schemeClr val="tx1"/>
                </a:solidFill>
                <a:latin typeface="Arial" charset="0"/>
              </a:defRPr>
            </a:lvl4pPr>
            <a:lvl5pPr marL="2057400" indent="-228600" defTabSz="928688">
              <a:defRPr>
                <a:solidFill>
                  <a:schemeClr val="tx1"/>
                </a:solidFill>
                <a:latin typeface="Arial" charset="0"/>
              </a:defRPr>
            </a:lvl5pPr>
            <a:lvl6pPr marL="2514600" indent="-228600" defTabSz="928688" eaLnBrk="0" fontAlgn="base" hangingPunct="0">
              <a:spcBef>
                <a:spcPct val="0"/>
              </a:spcBef>
              <a:spcAft>
                <a:spcPct val="0"/>
              </a:spcAft>
              <a:defRPr>
                <a:solidFill>
                  <a:schemeClr val="tx1"/>
                </a:solidFill>
                <a:latin typeface="Arial" charset="0"/>
              </a:defRPr>
            </a:lvl6pPr>
            <a:lvl7pPr marL="2971800" indent="-228600" defTabSz="928688" eaLnBrk="0" fontAlgn="base" hangingPunct="0">
              <a:spcBef>
                <a:spcPct val="0"/>
              </a:spcBef>
              <a:spcAft>
                <a:spcPct val="0"/>
              </a:spcAft>
              <a:defRPr>
                <a:solidFill>
                  <a:schemeClr val="tx1"/>
                </a:solidFill>
                <a:latin typeface="Arial" charset="0"/>
              </a:defRPr>
            </a:lvl7pPr>
            <a:lvl8pPr marL="3429000" indent="-228600" defTabSz="928688" eaLnBrk="0" fontAlgn="base" hangingPunct="0">
              <a:spcBef>
                <a:spcPct val="0"/>
              </a:spcBef>
              <a:spcAft>
                <a:spcPct val="0"/>
              </a:spcAft>
              <a:defRPr>
                <a:solidFill>
                  <a:schemeClr val="tx1"/>
                </a:solidFill>
                <a:latin typeface="Arial" charset="0"/>
              </a:defRPr>
            </a:lvl8pPr>
            <a:lvl9pPr marL="3886200" indent="-228600" defTabSz="928688" eaLnBrk="0" fontAlgn="base" hangingPunct="0">
              <a:spcBef>
                <a:spcPct val="0"/>
              </a:spcBef>
              <a:spcAft>
                <a:spcPct val="0"/>
              </a:spcAft>
              <a:defRPr>
                <a:solidFill>
                  <a:schemeClr val="tx1"/>
                </a:solidFill>
                <a:latin typeface="Arial" charset="0"/>
              </a:defRPr>
            </a:lvl9pPr>
          </a:lstStyle>
          <a:p>
            <a:fld id="{F67EF0F5-28B5-43D1-9057-8C790DF16E7A}" type="slidenum">
              <a:rPr lang="en-US" smtClean="0">
                <a:solidFill>
                  <a:prstClr val="black"/>
                </a:solidFill>
              </a:rPr>
              <a:pPr/>
              <a:t>29</a:t>
            </a:fld>
            <a:endParaRPr lang="en-US">
              <a:solidFill>
                <a:prstClr val="black"/>
              </a:solidFill>
            </a:endParaRPr>
          </a:p>
        </p:txBody>
      </p:sp>
    </p:spTree>
    <p:extLst>
      <p:ext uri="{BB962C8B-B14F-4D97-AF65-F5344CB8AC3E}">
        <p14:creationId xmlns:p14="http://schemas.microsoft.com/office/powerpoint/2010/main" val="28881778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A9A02A1-11B0-458B-9AD0-28B48EBAE3AA}" type="slidenum">
              <a:rPr lang="en-US"/>
              <a:pPr/>
              <a:t>30</a:t>
            </a:fld>
            <a:endParaRPr lang="en-US"/>
          </a:p>
        </p:txBody>
      </p:sp>
      <p:sp>
        <p:nvSpPr>
          <p:cNvPr id="358402" name="Rectangle 2"/>
          <p:cNvSpPr>
            <a:spLocks noGrp="1" noRot="1" noChangeAspect="1" noChangeArrowheads="1" noTextEdit="1"/>
          </p:cNvSpPr>
          <p:nvPr>
            <p:ph type="sldImg"/>
          </p:nvPr>
        </p:nvSpPr>
        <p:spPr>
          <a:ln/>
        </p:spPr>
      </p:sp>
      <p:sp>
        <p:nvSpPr>
          <p:cNvPr id="358403" name="Rectangle 3"/>
          <p:cNvSpPr>
            <a:spLocks noGrp="1" noChangeArrowheads="1"/>
          </p:cNvSpPr>
          <p:nvPr>
            <p:ph type="body" idx="1"/>
          </p:nvPr>
        </p:nvSpPr>
        <p:spPr/>
        <p:txBody>
          <a:bodyPr/>
          <a:lstStyle/>
          <a:p>
            <a:r>
              <a:rPr lang="en-US"/>
              <a:t>This is the entire QPTM data flow…</a:t>
            </a:r>
          </a:p>
        </p:txBody>
      </p:sp>
    </p:spTree>
    <p:extLst>
      <p:ext uri="{BB962C8B-B14F-4D97-AF65-F5344CB8AC3E}">
        <p14:creationId xmlns:p14="http://schemas.microsoft.com/office/powerpoint/2010/main" val="38759786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Who?  Other than PDAs, the</a:t>
            </a:r>
            <a:r>
              <a:rPr lang="en-US" baseline="0"/>
              <a:t> allocations process should be self-sustaining (no manual input required).  At this point, it uses inputs from the system.</a:t>
            </a:r>
            <a:endParaRPr lang="en-US"/>
          </a:p>
        </p:txBody>
      </p:sp>
      <p:sp>
        <p:nvSpPr>
          <p:cNvPr id="4" name="Slide Number Placeholder 3"/>
          <p:cNvSpPr>
            <a:spLocks noGrp="1"/>
          </p:cNvSpPr>
          <p:nvPr>
            <p:ph type="sldNum" sz="quarter" idx="10"/>
          </p:nvPr>
        </p:nvSpPr>
        <p:spPr/>
        <p:txBody>
          <a:bodyPr/>
          <a:lstStyle/>
          <a:p>
            <a:pPr>
              <a:defRPr/>
            </a:pPr>
            <a:fld id="{C1AB64C6-EFC2-4009-A12B-AC07225EFB7A}" type="slidenum">
              <a:rPr lang="en-US" smtClean="0"/>
              <a:pPr>
                <a:defRPr/>
              </a:pPr>
              <a:t>31</a:t>
            </a:fld>
            <a:endParaRPr lang="en-US"/>
          </a:p>
        </p:txBody>
      </p:sp>
    </p:spTree>
    <p:extLst>
      <p:ext uri="{BB962C8B-B14F-4D97-AF65-F5344CB8AC3E}">
        <p14:creationId xmlns:p14="http://schemas.microsoft.com/office/powerpoint/2010/main" val="16249927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A9A02A1-11B0-458B-9AD0-28B48EBAE3AA}" type="slidenum">
              <a:rPr lang="en-US"/>
              <a:pPr/>
              <a:t>32</a:t>
            </a:fld>
            <a:endParaRPr lang="en-US"/>
          </a:p>
        </p:txBody>
      </p:sp>
      <p:sp>
        <p:nvSpPr>
          <p:cNvPr id="358402" name="Rectangle 2"/>
          <p:cNvSpPr>
            <a:spLocks noGrp="1" noRot="1" noChangeAspect="1" noChangeArrowheads="1" noTextEdit="1"/>
          </p:cNvSpPr>
          <p:nvPr>
            <p:ph type="sldImg"/>
          </p:nvPr>
        </p:nvSpPr>
        <p:spPr>
          <a:ln/>
        </p:spPr>
      </p:sp>
      <p:sp>
        <p:nvSpPr>
          <p:cNvPr id="358403" name="Rectangle 3"/>
          <p:cNvSpPr>
            <a:spLocks noGrp="1" noChangeArrowheads="1"/>
          </p:cNvSpPr>
          <p:nvPr>
            <p:ph type="body" idx="1"/>
          </p:nvPr>
        </p:nvSpPr>
        <p:spPr/>
        <p:txBody>
          <a:bodyPr/>
          <a:lstStyle/>
          <a:p>
            <a:r>
              <a:rPr lang="en-US"/>
              <a:t>This is the entire QPTM data flow…</a:t>
            </a:r>
          </a:p>
        </p:txBody>
      </p:sp>
    </p:spTree>
    <p:extLst>
      <p:ext uri="{BB962C8B-B14F-4D97-AF65-F5344CB8AC3E}">
        <p14:creationId xmlns:p14="http://schemas.microsoft.com/office/powerpoint/2010/main" val="176869141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C1AB64C6-EFC2-4009-A12B-AC07225EFB7A}" type="slidenum">
              <a:rPr lang="en-US" smtClean="0"/>
              <a:pPr>
                <a:defRPr/>
              </a:pPr>
              <a:t>33</a:t>
            </a:fld>
            <a:endParaRPr lang="en-US"/>
          </a:p>
        </p:txBody>
      </p:sp>
    </p:spTree>
    <p:extLst>
      <p:ext uri="{BB962C8B-B14F-4D97-AF65-F5344CB8AC3E}">
        <p14:creationId xmlns:p14="http://schemas.microsoft.com/office/powerpoint/2010/main" val="386736096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A9A02A1-11B0-458B-9AD0-28B48EBAE3AA}" type="slidenum">
              <a:rPr lang="en-US"/>
              <a:pPr/>
              <a:t>34</a:t>
            </a:fld>
            <a:endParaRPr lang="en-US"/>
          </a:p>
        </p:txBody>
      </p:sp>
      <p:sp>
        <p:nvSpPr>
          <p:cNvPr id="358402" name="Rectangle 2"/>
          <p:cNvSpPr>
            <a:spLocks noGrp="1" noRot="1" noChangeAspect="1" noChangeArrowheads="1" noTextEdit="1"/>
          </p:cNvSpPr>
          <p:nvPr>
            <p:ph type="sldImg"/>
          </p:nvPr>
        </p:nvSpPr>
        <p:spPr>
          <a:ln/>
        </p:spPr>
      </p:sp>
      <p:sp>
        <p:nvSpPr>
          <p:cNvPr id="358403" name="Rectangle 3"/>
          <p:cNvSpPr>
            <a:spLocks noGrp="1" noChangeArrowheads="1"/>
          </p:cNvSpPr>
          <p:nvPr>
            <p:ph type="body" idx="1"/>
          </p:nvPr>
        </p:nvSpPr>
        <p:spPr/>
        <p:txBody>
          <a:bodyPr/>
          <a:lstStyle/>
          <a:p>
            <a:r>
              <a:rPr lang="en-US"/>
              <a:t>This is the entire QPTM data flow…</a:t>
            </a:r>
          </a:p>
        </p:txBody>
      </p:sp>
    </p:spTree>
    <p:extLst>
      <p:ext uri="{BB962C8B-B14F-4D97-AF65-F5344CB8AC3E}">
        <p14:creationId xmlns:p14="http://schemas.microsoft.com/office/powerpoint/2010/main" val="371910505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C1AB64C6-EFC2-4009-A12B-AC07225EFB7A}" type="slidenum">
              <a:rPr lang="en-US" smtClean="0"/>
              <a:pPr>
                <a:defRPr/>
              </a:pPr>
              <a:t>36</a:t>
            </a:fld>
            <a:endParaRPr lang="en-US"/>
          </a:p>
        </p:txBody>
      </p:sp>
    </p:spTree>
    <p:extLst>
      <p:ext uri="{BB962C8B-B14F-4D97-AF65-F5344CB8AC3E}">
        <p14:creationId xmlns:p14="http://schemas.microsoft.com/office/powerpoint/2010/main" val="153653939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A9A02A1-11B0-458B-9AD0-28B48EBAE3AA}" type="slidenum">
              <a:rPr lang="en-US"/>
              <a:pPr/>
              <a:t>37</a:t>
            </a:fld>
            <a:endParaRPr lang="en-US"/>
          </a:p>
        </p:txBody>
      </p:sp>
      <p:sp>
        <p:nvSpPr>
          <p:cNvPr id="358402" name="Rectangle 2"/>
          <p:cNvSpPr>
            <a:spLocks noGrp="1" noRot="1" noChangeAspect="1" noChangeArrowheads="1" noTextEdit="1"/>
          </p:cNvSpPr>
          <p:nvPr>
            <p:ph type="sldImg"/>
          </p:nvPr>
        </p:nvSpPr>
        <p:spPr>
          <a:ln/>
        </p:spPr>
      </p:sp>
      <p:sp>
        <p:nvSpPr>
          <p:cNvPr id="358403" name="Rectangle 3"/>
          <p:cNvSpPr>
            <a:spLocks noGrp="1" noChangeArrowheads="1"/>
          </p:cNvSpPr>
          <p:nvPr>
            <p:ph type="body" idx="1"/>
          </p:nvPr>
        </p:nvSpPr>
        <p:spPr/>
        <p:txBody>
          <a:bodyPr/>
          <a:lstStyle/>
          <a:p>
            <a:r>
              <a:rPr lang="en-US"/>
              <a:t>This is the entire QPTM data flow…</a:t>
            </a:r>
          </a:p>
        </p:txBody>
      </p:sp>
    </p:spTree>
    <p:extLst>
      <p:ext uri="{BB962C8B-B14F-4D97-AF65-F5344CB8AC3E}">
        <p14:creationId xmlns:p14="http://schemas.microsoft.com/office/powerpoint/2010/main" val="227317827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C1AB64C6-EFC2-4009-A12B-AC07225EFB7A}" type="slidenum">
              <a:rPr lang="en-US" smtClean="0"/>
              <a:pPr>
                <a:defRPr/>
              </a:pPr>
              <a:t>38</a:t>
            </a:fld>
            <a:endParaRPr lang="en-US"/>
          </a:p>
        </p:txBody>
      </p:sp>
    </p:spTree>
    <p:extLst>
      <p:ext uri="{BB962C8B-B14F-4D97-AF65-F5344CB8AC3E}">
        <p14:creationId xmlns:p14="http://schemas.microsoft.com/office/powerpoint/2010/main" val="38514741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p:spPr>
        <p:txBody>
          <a:bodyPr/>
          <a:lstStyle>
            <a:lvl1pPr defTabSz="928688" eaLnBrk="0" hangingPunct="0">
              <a:defRPr>
                <a:solidFill>
                  <a:schemeClr val="tx1"/>
                </a:solidFill>
                <a:latin typeface="Arial" charset="0"/>
              </a:defRPr>
            </a:lvl1pPr>
            <a:lvl2pPr marL="742950" indent="-285750" defTabSz="928688" eaLnBrk="0" hangingPunct="0">
              <a:defRPr>
                <a:solidFill>
                  <a:schemeClr val="tx1"/>
                </a:solidFill>
                <a:latin typeface="Arial" charset="0"/>
              </a:defRPr>
            </a:lvl2pPr>
            <a:lvl3pPr marL="1143000" indent="-228600" defTabSz="928688" eaLnBrk="0" hangingPunct="0">
              <a:defRPr>
                <a:solidFill>
                  <a:schemeClr val="tx1"/>
                </a:solidFill>
                <a:latin typeface="Arial" charset="0"/>
              </a:defRPr>
            </a:lvl3pPr>
            <a:lvl4pPr marL="1600200" indent="-228600" defTabSz="928688" eaLnBrk="0" hangingPunct="0">
              <a:defRPr>
                <a:solidFill>
                  <a:schemeClr val="tx1"/>
                </a:solidFill>
                <a:latin typeface="Arial" charset="0"/>
              </a:defRPr>
            </a:lvl4pPr>
            <a:lvl5pPr marL="2057400" indent="-228600" defTabSz="928688" eaLnBrk="0" hangingPunct="0">
              <a:defRPr>
                <a:solidFill>
                  <a:schemeClr val="tx1"/>
                </a:solidFill>
                <a:latin typeface="Arial" charset="0"/>
              </a:defRPr>
            </a:lvl5pPr>
            <a:lvl6pPr marL="2514600" indent="-228600" defTabSz="928688" eaLnBrk="0" fontAlgn="base" hangingPunct="0">
              <a:spcBef>
                <a:spcPct val="0"/>
              </a:spcBef>
              <a:spcAft>
                <a:spcPct val="0"/>
              </a:spcAft>
              <a:defRPr>
                <a:solidFill>
                  <a:schemeClr val="tx1"/>
                </a:solidFill>
                <a:latin typeface="Arial" charset="0"/>
              </a:defRPr>
            </a:lvl6pPr>
            <a:lvl7pPr marL="2971800" indent="-228600" defTabSz="928688" eaLnBrk="0" fontAlgn="base" hangingPunct="0">
              <a:spcBef>
                <a:spcPct val="0"/>
              </a:spcBef>
              <a:spcAft>
                <a:spcPct val="0"/>
              </a:spcAft>
              <a:defRPr>
                <a:solidFill>
                  <a:schemeClr val="tx1"/>
                </a:solidFill>
                <a:latin typeface="Arial" charset="0"/>
              </a:defRPr>
            </a:lvl7pPr>
            <a:lvl8pPr marL="3429000" indent="-228600" defTabSz="928688" eaLnBrk="0" fontAlgn="base" hangingPunct="0">
              <a:spcBef>
                <a:spcPct val="0"/>
              </a:spcBef>
              <a:spcAft>
                <a:spcPct val="0"/>
              </a:spcAft>
              <a:defRPr>
                <a:solidFill>
                  <a:schemeClr val="tx1"/>
                </a:solidFill>
                <a:latin typeface="Arial" charset="0"/>
              </a:defRPr>
            </a:lvl8pPr>
            <a:lvl9pPr marL="3886200" indent="-228600" defTabSz="928688" eaLnBrk="0" fontAlgn="base" hangingPunct="0">
              <a:spcBef>
                <a:spcPct val="0"/>
              </a:spcBef>
              <a:spcAft>
                <a:spcPct val="0"/>
              </a:spcAft>
              <a:defRPr>
                <a:solidFill>
                  <a:schemeClr val="tx1"/>
                </a:solidFill>
                <a:latin typeface="Arial" charset="0"/>
              </a:defRPr>
            </a:lvl9pPr>
          </a:lstStyle>
          <a:p>
            <a:pPr eaLnBrk="1" hangingPunct="1"/>
            <a:fld id="{A4DAD988-AFA3-4CC9-9656-E25121AAC68A}" type="slidenum">
              <a:rPr lang="en-US" smtClean="0"/>
              <a:pPr eaLnBrk="1" hangingPunct="1"/>
              <a:t>39</a:t>
            </a:fld>
            <a:endParaRPr lang="en-US"/>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p:spPr>
        <p:txBody>
          <a:bodyPr/>
          <a:lstStyle/>
          <a:p>
            <a:pPr eaLnBrk="1" hangingPunct="1"/>
            <a:r>
              <a:rPr lang="en-US"/>
              <a:t>Sir Winston Churchill,</a:t>
            </a:r>
            <a:r>
              <a:rPr lang="en-US" baseline="0"/>
              <a:t> the cat.</a:t>
            </a: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2"/>
          <p:cNvSpPr>
            <a:spLocks noChangeArrowheads="1"/>
          </p:cNvSpPr>
          <p:nvPr/>
        </p:nvSpPr>
        <p:spPr bwMode="auto">
          <a:xfrm>
            <a:off x="0"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 name="Rectangle 4"/>
          <p:cNvSpPr>
            <a:spLocks noChangeArrowheads="1"/>
          </p:cNvSpPr>
          <p:nvPr/>
        </p:nvSpPr>
        <p:spPr bwMode="auto">
          <a:xfrm>
            <a:off x="542925" y="2743200"/>
            <a:ext cx="8058150" cy="2392363"/>
          </a:xfrm>
          <a:prstGeom prst="rect">
            <a:avLst/>
          </a:prstGeom>
          <a:gradFill rotWithShape="1">
            <a:gsLst>
              <a:gs pos="0">
                <a:schemeClr val="bg1"/>
              </a:gs>
              <a:gs pos="100000">
                <a:schemeClr val="bg1">
                  <a:gamma/>
                  <a:tint val="0"/>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6" name="Rectangle 7"/>
          <p:cNvSpPr>
            <a:spLocks noChangeArrowheads="1"/>
          </p:cNvSpPr>
          <p:nvPr/>
        </p:nvSpPr>
        <p:spPr bwMode="auto">
          <a:xfrm>
            <a:off x="0" y="6280150"/>
            <a:ext cx="7543800" cy="76200"/>
          </a:xfrm>
          <a:prstGeom prst="rect">
            <a:avLst/>
          </a:prstGeom>
          <a:gradFill rotWithShape="1">
            <a:gsLst>
              <a:gs pos="0">
                <a:srgbClr val="2C98BE"/>
              </a:gs>
              <a:gs pos="100000">
                <a:schemeClr val="bg1">
                  <a:alpha val="0"/>
                </a:scheme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7" name="Picture 9" descr="MediumLogoSec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2057400" cy="170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10"/>
          <p:cNvSpPr>
            <a:spLocks noChangeArrowheads="1"/>
          </p:cNvSpPr>
          <p:nvPr/>
        </p:nvSpPr>
        <p:spPr bwMode="auto">
          <a:xfrm>
            <a:off x="0"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 name="Rectangle 11"/>
          <p:cNvSpPr>
            <a:spLocks noChangeArrowheads="1"/>
          </p:cNvSpPr>
          <p:nvPr/>
        </p:nvSpPr>
        <p:spPr bwMode="auto">
          <a:xfrm>
            <a:off x="2286000" y="6586538"/>
            <a:ext cx="3352800" cy="166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r>
              <a:rPr lang="en-US" sz="1000"/>
              <a:t>Proprietary &amp; Confidential – Do Not Copy or Distribute</a:t>
            </a:r>
          </a:p>
        </p:txBody>
      </p:sp>
      <p:pic>
        <p:nvPicPr>
          <p:cNvPr id="10" name="Picture 15" descr="MediumLogoSec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2057400" cy="170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 name="Group 17"/>
          <p:cNvGrpSpPr>
            <a:grpSpLocks/>
          </p:cNvGrpSpPr>
          <p:nvPr/>
        </p:nvGrpSpPr>
        <p:grpSpPr bwMode="auto">
          <a:xfrm>
            <a:off x="0" y="5919788"/>
            <a:ext cx="8936038" cy="776287"/>
            <a:chOff x="0" y="3729"/>
            <a:chExt cx="5629" cy="489"/>
          </a:xfrm>
        </p:grpSpPr>
        <p:sp>
          <p:nvSpPr>
            <p:cNvPr id="12" name="Rectangle 13"/>
            <p:cNvSpPr>
              <a:spLocks noChangeArrowheads="1"/>
            </p:cNvSpPr>
            <p:nvPr userDrawn="1"/>
          </p:nvSpPr>
          <p:spPr bwMode="auto">
            <a:xfrm>
              <a:off x="0" y="3956"/>
              <a:ext cx="4752" cy="48"/>
            </a:xfrm>
            <a:prstGeom prst="rect">
              <a:avLst/>
            </a:prstGeom>
            <a:gradFill rotWithShape="1">
              <a:gsLst>
                <a:gs pos="0">
                  <a:srgbClr val="2C98BE"/>
                </a:gs>
                <a:gs pos="100000">
                  <a:schemeClr val="bg1">
                    <a:alpha val="0"/>
                  </a:scheme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13" name="Picture 16" descr="QuorumStdLogo_Colo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3648" y="3729"/>
              <a:ext cx="1981" cy="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4" name="TextBox 13"/>
          <p:cNvSpPr txBox="1">
            <a:spLocks noChangeArrowheads="1"/>
          </p:cNvSpPr>
          <p:nvPr/>
        </p:nvSpPr>
        <p:spPr bwMode="auto">
          <a:xfrm>
            <a:off x="0" y="6611938"/>
            <a:ext cx="114300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fld id="{7CEC26C8-9A2A-4B90-8330-B3115D960634}" type="slidenum">
              <a:rPr lang="en-US" sz="1000" smtClean="0"/>
              <a:pPr>
                <a:defRPr/>
              </a:pPr>
              <a:t>‹#›</a:t>
            </a:fld>
            <a:endParaRPr lang="en-US" sz="1000"/>
          </a:p>
        </p:txBody>
      </p:sp>
      <p:sp>
        <p:nvSpPr>
          <p:cNvPr id="172037" name="Rectangle 5"/>
          <p:cNvSpPr>
            <a:spLocks noGrp="1" noChangeArrowheads="1"/>
          </p:cNvSpPr>
          <p:nvPr>
            <p:ph type="subTitle" idx="1"/>
          </p:nvPr>
        </p:nvSpPr>
        <p:spPr>
          <a:xfrm>
            <a:off x="533400" y="3657600"/>
            <a:ext cx="8077200" cy="995363"/>
          </a:xfrm>
        </p:spPr>
        <p:txBody>
          <a:bodyPr lIns="91407" tIns="45704" rIns="91407" bIns="45704"/>
          <a:lstStyle>
            <a:lvl1pPr marL="0" indent="0" algn="ctr">
              <a:buFont typeface="Wingdings" pitchFamily="2" charset="2"/>
              <a:buNone/>
              <a:defRPr>
                <a:solidFill>
                  <a:schemeClr val="accent1"/>
                </a:solidFill>
              </a:defRPr>
            </a:lvl1pPr>
          </a:lstStyle>
          <a:p>
            <a:pPr lvl="0"/>
            <a:r>
              <a:rPr lang="en-US" noProof="0"/>
              <a:t>Click to edit Master subtitle style</a:t>
            </a:r>
          </a:p>
        </p:txBody>
      </p:sp>
      <p:sp>
        <p:nvSpPr>
          <p:cNvPr id="172038" name="Rectangle 6"/>
          <p:cNvSpPr>
            <a:spLocks noGrp="1" noChangeArrowheads="1"/>
          </p:cNvSpPr>
          <p:nvPr>
            <p:ph type="ctrTitle"/>
          </p:nvPr>
        </p:nvSpPr>
        <p:spPr>
          <a:xfrm>
            <a:off x="185738" y="2133600"/>
            <a:ext cx="8772525" cy="1470025"/>
          </a:xfrm>
        </p:spPr>
        <p:txBody>
          <a:bodyPr lIns="91407" tIns="45704" rIns="91407" bIns="45704" anchor="b"/>
          <a:lstStyle>
            <a:lvl1pPr algn="ctr">
              <a:defRPr sz="3600"/>
            </a:lvl1pPr>
          </a:lstStyle>
          <a:p>
            <a:pPr lvl="0"/>
            <a:r>
              <a:rPr lang="en-US" noProof="0"/>
              <a:t>Click to edit Master title style</a:t>
            </a:r>
          </a:p>
        </p:txBody>
      </p:sp>
    </p:spTree>
    <p:extLst>
      <p:ext uri="{BB962C8B-B14F-4D97-AF65-F5344CB8AC3E}">
        <p14:creationId xmlns:p14="http://schemas.microsoft.com/office/powerpoint/2010/main" val="26700225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706132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81000" y="1143000"/>
            <a:ext cx="39624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p:cNvSpPr>
            <a:spLocks noGrp="1"/>
          </p:cNvSpPr>
          <p:nvPr>
            <p:ph sz="half" idx="12"/>
          </p:nvPr>
        </p:nvSpPr>
        <p:spPr>
          <a:xfrm>
            <a:off x="4768790" y="1143000"/>
            <a:ext cx="39624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557161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a:xfrm>
            <a:off x="1599045" y="6247805"/>
            <a:ext cx="3048000" cy="229195"/>
          </a:xfrm>
          <a:prstGeom prst="rect">
            <a:avLst/>
          </a:prstGeom>
        </p:spPr>
        <p:txBody>
          <a:bodyPr lIns="84216" tIns="42108" rIns="84216" bIns="42108"/>
          <a:lstStyle>
            <a:lvl1pPr>
              <a:defRPr/>
            </a:lvl1pPr>
          </a:lstStyle>
          <a:p>
            <a:endParaRPr lang="en-US"/>
          </a:p>
        </p:txBody>
      </p:sp>
    </p:spTree>
    <p:extLst>
      <p:ext uri="{BB962C8B-B14F-4D97-AF65-F5344CB8AC3E}">
        <p14:creationId xmlns:p14="http://schemas.microsoft.com/office/powerpoint/2010/main" val="9554408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81000" y="1143000"/>
            <a:ext cx="42291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2500" y="1143000"/>
            <a:ext cx="42291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8"/>
          <p:cNvSpPr>
            <a:spLocks noGrp="1" noChangeArrowheads="1"/>
          </p:cNvSpPr>
          <p:nvPr>
            <p:ph type="dt" sz="half" idx="10"/>
          </p:nvPr>
        </p:nvSpPr>
        <p:spPr>
          <a:ln/>
        </p:spPr>
        <p:txBody>
          <a:bodyPr/>
          <a:lstStyle>
            <a:lvl1pPr>
              <a:defRPr/>
            </a:lvl1pPr>
          </a:lstStyle>
          <a:p>
            <a:pPr>
              <a:defRPr/>
            </a:pPr>
            <a:endParaRPr lang="en-US"/>
          </a:p>
        </p:txBody>
      </p:sp>
      <p:sp>
        <p:nvSpPr>
          <p:cNvPr id="6" name="Rectangle 9"/>
          <p:cNvSpPr>
            <a:spLocks noGrp="1" noChangeArrowheads="1"/>
          </p:cNvSpPr>
          <p:nvPr>
            <p:ph type="sldNum" sz="quarter" idx="11"/>
          </p:nvPr>
        </p:nvSpPr>
        <p:spPr>
          <a:ln/>
        </p:spPr>
        <p:txBody>
          <a:bodyPr/>
          <a:lstStyle>
            <a:lvl1pPr>
              <a:defRPr/>
            </a:lvl1pPr>
          </a:lstStyle>
          <a:p>
            <a:pPr>
              <a:defRPr/>
            </a:pPr>
            <a:fld id="{B905E398-52A7-4D5C-A063-5CF98F682069}" type="slidenum">
              <a:rPr lang="en-US"/>
              <a:pPr>
                <a:defRPr/>
              </a:pPr>
              <a:t>‹#›</a:t>
            </a:fld>
            <a:endParaRPr lang="en-US"/>
          </a:p>
        </p:txBody>
      </p:sp>
    </p:spTree>
    <p:extLst>
      <p:ext uri="{BB962C8B-B14F-4D97-AF65-F5344CB8AC3E}">
        <p14:creationId xmlns:p14="http://schemas.microsoft.com/office/powerpoint/2010/main" val="16752877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wmf"/><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16"/>
          <p:cNvGrpSpPr>
            <a:grpSpLocks/>
          </p:cNvGrpSpPr>
          <p:nvPr/>
        </p:nvGrpSpPr>
        <p:grpSpPr bwMode="auto">
          <a:xfrm>
            <a:off x="0" y="0"/>
            <a:ext cx="9144000" cy="1196975"/>
            <a:chOff x="0" y="0"/>
            <a:chExt cx="5760" cy="754"/>
          </a:xfrm>
        </p:grpSpPr>
        <p:sp>
          <p:nvSpPr>
            <p:cNvPr id="1037" name="Rectangle 2"/>
            <p:cNvSpPr>
              <a:spLocks noChangeArrowheads="1"/>
            </p:cNvSpPr>
            <p:nvPr/>
          </p:nvSpPr>
          <p:spPr bwMode="auto">
            <a:xfrm>
              <a:off x="0" y="0"/>
              <a:ext cx="5760" cy="528"/>
            </a:xfrm>
            <a:prstGeom prst="rect">
              <a:avLst/>
            </a:prstGeom>
            <a:gradFill rotWithShape="1">
              <a:gsLst>
                <a:gs pos="0">
                  <a:schemeClr val="bg1">
                    <a:alpha val="0"/>
                  </a:schemeClr>
                </a:gs>
                <a:gs pos="100000">
                  <a:srgbClr val="2C98BE"/>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1038" name="Picture 14" descr="MediumLogoSection"/>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0" y="0"/>
              <a:ext cx="912" cy="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27" name="Rectangle 11"/>
          <p:cNvSpPr>
            <a:spLocks noChangeArrowheads="1"/>
          </p:cNvSpPr>
          <p:nvPr/>
        </p:nvSpPr>
        <p:spPr bwMode="auto">
          <a:xfrm>
            <a:off x="0" y="0"/>
            <a:ext cx="9144000" cy="838200"/>
          </a:xfrm>
          <a:prstGeom prst="rect">
            <a:avLst/>
          </a:prstGeom>
          <a:gradFill rotWithShape="1">
            <a:gsLst>
              <a:gs pos="0">
                <a:schemeClr val="bg1">
                  <a:alpha val="0"/>
                </a:schemeClr>
              </a:gs>
              <a:gs pos="100000">
                <a:srgbClr val="2C98BE"/>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8" name="Rectangle 3"/>
          <p:cNvSpPr>
            <a:spLocks noGrp="1" noChangeArrowheads="1"/>
          </p:cNvSpPr>
          <p:nvPr>
            <p:ph type="title"/>
          </p:nvPr>
        </p:nvSpPr>
        <p:spPr bwMode="auto">
          <a:xfrm>
            <a:off x="2286000" y="76200"/>
            <a:ext cx="67818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9" name="Rectangle 4"/>
          <p:cNvSpPr>
            <a:spLocks noGrp="1" noChangeArrowheads="1"/>
          </p:cNvSpPr>
          <p:nvPr>
            <p:ph type="body" idx="1"/>
          </p:nvPr>
        </p:nvSpPr>
        <p:spPr bwMode="auto">
          <a:xfrm>
            <a:off x="381000" y="1143000"/>
            <a:ext cx="8610600"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30" name="Rectangle 7"/>
          <p:cNvSpPr>
            <a:spLocks noChangeArrowheads="1"/>
          </p:cNvSpPr>
          <p:nvPr/>
        </p:nvSpPr>
        <p:spPr bwMode="auto">
          <a:xfrm>
            <a:off x="0" y="6477000"/>
            <a:ext cx="8839200" cy="76200"/>
          </a:xfrm>
          <a:prstGeom prst="rect">
            <a:avLst/>
          </a:prstGeom>
          <a:gradFill rotWithShape="1">
            <a:gsLst>
              <a:gs pos="0">
                <a:srgbClr val="2C98BE"/>
              </a:gs>
              <a:gs pos="100000">
                <a:schemeClr val="bg1">
                  <a:alpha val="0"/>
                </a:scheme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1" name="Rectangle 8"/>
          <p:cNvSpPr>
            <a:spLocks noChangeArrowheads="1"/>
          </p:cNvSpPr>
          <p:nvPr/>
        </p:nvSpPr>
        <p:spPr bwMode="auto">
          <a:xfrm>
            <a:off x="2438400" y="6610350"/>
            <a:ext cx="3352800"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r>
              <a:rPr lang="en-US" sz="1000"/>
              <a:t>Proprietary &amp; Confidential – Do Not Copy or Distribute</a:t>
            </a:r>
          </a:p>
        </p:txBody>
      </p:sp>
      <p:pic>
        <p:nvPicPr>
          <p:cNvPr id="1032" name="Picture 10" descr="MediumLogoSection"/>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447800"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33" name="Group 17"/>
          <p:cNvGrpSpPr>
            <a:grpSpLocks/>
          </p:cNvGrpSpPr>
          <p:nvPr/>
        </p:nvGrpSpPr>
        <p:grpSpPr bwMode="auto">
          <a:xfrm>
            <a:off x="0" y="6278563"/>
            <a:ext cx="8978900" cy="465137"/>
            <a:chOff x="0" y="3955"/>
            <a:chExt cx="5656" cy="293"/>
          </a:xfrm>
        </p:grpSpPr>
        <p:sp>
          <p:nvSpPr>
            <p:cNvPr id="1035" name="Rectangle 12"/>
            <p:cNvSpPr>
              <a:spLocks noChangeArrowheads="1"/>
            </p:cNvSpPr>
            <p:nvPr userDrawn="1"/>
          </p:nvSpPr>
          <p:spPr bwMode="auto">
            <a:xfrm>
              <a:off x="0" y="4080"/>
              <a:ext cx="5568" cy="48"/>
            </a:xfrm>
            <a:prstGeom prst="rect">
              <a:avLst/>
            </a:prstGeom>
            <a:gradFill rotWithShape="1">
              <a:gsLst>
                <a:gs pos="0">
                  <a:srgbClr val="2C98BE"/>
                </a:gs>
                <a:gs pos="100000">
                  <a:schemeClr val="bg1">
                    <a:alpha val="0"/>
                  </a:scheme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1036" name="Picture 15" descr="QuorumStdLogo_Color"/>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4470" y="3955"/>
              <a:ext cx="1186"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34" name="TextBox 1"/>
          <p:cNvSpPr txBox="1">
            <a:spLocks noChangeArrowheads="1"/>
          </p:cNvSpPr>
          <p:nvPr/>
        </p:nvSpPr>
        <p:spPr bwMode="auto">
          <a:xfrm>
            <a:off x="0" y="6605588"/>
            <a:ext cx="114300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fld id="{A2CE0849-1909-49CF-8CFC-72366907C3A4}" type="slidenum">
              <a:rPr lang="en-US" sz="1000" smtClean="0"/>
              <a:pPr>
                <a:defRPr/>
              </a:pPr>
              <a:t>‹#›</a:t>
            </a:fld>
            <a:endParaRPr lang="en-US" sz="1200"/>
          </a:p>
        </p:txBody>
      </p:sp>
    </p:spTree>
  </p:cSld>
  <p:clrMap bg1="lt1" tx1="dk1" bg2="lt2" tx2="dk2" accent1="accent1" accent2="accent2" accent3="accent3" accent4="accent4" accent5="accent5" accent6="accent6" hlink="hlink" folHlink="folHlink"/>
  <p:sldLayoutIdLst>
    <p:sldLayoutId id="2147483772" r:id="rId1"/>
    <p:sldLayoutId id="2147483773" r:id="rId2"/>
    <p:sldLayoutId id="2147483774" r:id="rId3"/>
    <p:sldLayoutId id="2147483775" r:id="rId4"/>
    <p:sldLayoutId id="2147483776" r:id="rId5"/>
  </p:sldLayoutIdLst>
  <p:txStyles>
    <p:titleStyle>
      <a:lvl1pPr algn="r" rtl="0" eaLnBrk="1" fontAlgn="base" hangingPunct="1">
        <a:spcBef>
          <a:spcPct val="0"/>
        </a:spcBef>
        <a:spcAft>
          <a:spcPct val="0"/>
        </a:spcAft>
        <a:defRPr sz="3200">
          <a:solidFill>
            <a:srgbClr val="20282A"/>
          </a:solidFill>
          <a:latin typeface="+mj-lt"/>
          <a:ea typeface="+mj-ea"/>
          <a:cs typeface="+mj-cs"/>
        </a:defRPr>
      </a:lvl1pPr>
      <a:lvl2pPr algn="r" rtl="0" eaLnBrk="1" fontAlgn="base" hangingPunct="1">
        <a:spcBef>
          <a:spcPct val="0"/>
        </a:spcBef>
        <a:spcAft>
          <a:spcPct val="0"/>
        </a:spcAft>
        <a:defRPr sz="3200">
          <a:solidFill>
            <a:srgbClr val="20282A"/>
          </a:solidFill>
          <a:latin typeface="Arial" charset="0"/>
        </a:defRPr>
      </a:lvl2pPr>
      <a:lvl3pPr algn="r" rtl="0" eaLnBrk="1" fontAlgn="base" hangingPunct="1">
        <a:spcBef>
          <a:spcPct val="0"/>
        </a:spcBef>
        <a:spcAft>
          <a:spcPct val="0"/>
        </a:spcAft>
        <a:defRPr sz="3200">
          <a:solidFill>
            <a:srgbClr val="20282A"/>
          </a:solidFill>
          <a:latin typeface="Arial" charset="0"/>
        </a:defRPr>
      </a:lvl3pPr>
      <a:lvl4pPr algn="r" rtl="0" eaLnBrk="1" fontAlgn="base" hangingPunct="1">
        <a:spcBef>
          <a:spcPct val="0"/>
        </a:spcBef>
        <a:spcAft>
          <a:spcPct val="0"/>
        </a:spcAft>
        <a:defRPr sz="3200">
          <a:solidFill>
            <a:srgbClr val="20282A"/>
          </a:solidFill>
          <a:latin typeface="Arial" charset="0"/>
        </a:defRPr>
      </a:lvl4pPr>
      <a:lvl5pPr algn="r" rtl="0" eaLnBrk="1" fontAlgn="base" hangingPunct="1">
        <a:spcBef>
          <a:spcPct val="0"/>
        </a:spcBef>
        <a:spcAft>
          <a:spcPct val="0"/>
        </a:spcAft>
        <a:defRPr sz="3200">
          <a:solidFill>
            <a:srgbClr val="20282A"/>
          </a:solidFill>
          <a:latin typeface="Arial" charset="0"/>
        </a:defRPr>
      </a:lvl5pPr>
      <a:lvl6pPr marL="457200" algn="r" rtl="0" eaLnBrk="1" fontAlgn="base" hangingPunct="1">
        <a:spcBef>
          <a:spcPct val="0"/>
        </a:spcBef>
        <a:spcAft>
          <a:spcPct val="0"/>
        </a:spcAft>
        <a:defRPr sz="3200">
          <a:solidFill>
            <a:srgbClr val="20282A"/>
          </a:solidFill>
          <a:latin typeface="Arial" charset="0"/>
        </a:defRPr>
      </a:lvl6pPr>
      <a:lvl7pPr marL="914400" algn="r" rtl="0" eaLnBrk="1" fontAlgn="base" hangingPunct="1">
        <a:spcBef>
          <a:spcPct val="0"/>
        </a:spcBef>
        <a:spcAft>
          <a:spcPct val="0"/>
        </a:spcAft>
        <a:defRPr sz="3200">
          <a:solidFill>
            <a:srgbClr val="20282A"/>
          </a:solidFill>
          <a:latin typeface="Arial" charset="0"/>
        </a:defRPr>
      </a:lvl7pPr>
      <a:lvl8pPr marL="1371600" algn="r" rtl="0" eaLnBrk="1" fontAlgn="base" hangingPunct="1">
        <a:spcBef>
          <a:spcPct val="0"/>
        </a:spcBef>
        <a:spcAft>
          <a:spcPct val="0"/>
        </a:spcAft>
        <a:defRPr sz="3200">
          <a:solidFill>
            <a:srgbClr val="20282A"/>
          </a:solidFill>
          <a:latin typeface="Arial" charset="0"/>
        </a:defRPr>
      </a:lvl8pPr>
      <a:lvl9pPr marL="1828800" algn="r" rtl="0" eaLnBrk="1" fontAlgn="base" hangingPunct="1">
        <a:spcBef>
          <a:spcPct val="0"/>
        </a:spcBef>
        <a:spcAft>
          <a:spcPct val="0"/>
        </a:spcAft>
        <a:defRPr sz="3200">
          <a:solidFill>
            <a:srgbClr val="20282A"/>
          </a:solidFill>
          <a:latin typeface="Arial" charset="0"/>
        </a:defRPr>
      </a:lvl9pPr>
    </p:titleStyle>
    <p:bodyStyle>
      <a:lvl1pPr marL="342900" indent="-342900" algn="l" rtl="0" eaLnBrk="1" fontAlgn="base" hangingPunct="1">
        <a:spcBef>
          <a:spcPct val="20000"/>
        </a:spcBef>
        <a:spcAft>
          <a:spcPct val="0"/>
        </a:spcAft>
        <a:buFont typeface="Wingdings" pitchFamily="2" charset="2"/>
        <a:buChar char="w"/>
        <a:defRPr sz="2800">
          <a:solidFill>
            <a:srgbClr val="20282A"/>
          </a:solidFill>
          <a:latin typeface="+mn-lt"/>
          <a:ea typeface="+mn-ea"/>
          <a:cs typeface="+mn-cs"/>
        </a:defRPr>
      </a:lvl1pPr>
      <a:lvl2pPr marL="742950" indent="-285750" algn="l" rtl="0" eaLnBrk="1" fontAlgn="base" hangingPunct="1">
        <a:spcBef>
          <a:spcPct val="20000"/>
        </a:spcBef>
        <a:spcAft>
          <a:spcPct val="0"/>
        </a:spcAft>
        <a:buFont typeface="Wingdings" pitchFamily="2" charset="2"/>
        <a:buChar char=""/>
        <a:defRPr sz="2400">
          <a:solidFill>
            <a:srgbClr val="20282A"/>
          </a:solidFill>
          <a:latin typeface="+mn-lt"/>
        </a:defRPr>
      </a:lvl2pPr>
      <a:lvl3pPr marL="1143000" indent="-228600" algn="l" rtl="0" eaLnBrk="1" fontAlgn="base" hangingPunct="1">
        <a:spcBef>
          <a:spcPct val="20000"/>
        </a:spcBef>
        <a:spcAft>
          <a:spcPct val="0"/>
        </a:spcAft>
        <a:buFont typeface="Arial" charset="0"/>
        <a:buChar char="­"/>
        <a:defRPr sz="2000">
          <a:solidFill>
            <a:srgbClr val="20282A"/>
          </a:solidFill>
          <a:latin typeface="+mn-lt"/>
        </a:defRPr>
      </a:lvl3pPr>
      <a:lvl4pPr marL="1600200" indent="-228600" algn="l" rtl="0" eaLnBrk="1" fontAlgn="base" hangingPunct="1">
        <a:spcBef>
          <a:spcPct val="20000"/>
        </a:spcBef>
        <a:spcAft>
          <a:spcPct val="0"/>
        </a:spcAft>
        <a:buFont typeface="Wingdings" pitchFamily="2" charset="2"/>
        <a:buChar char="§"/>
        <a:defRPr sz="1600">
          <a:solidFill>
            <a:srgbClr val="20282A"/>
          </a:solidFill>
          <a:latin typeface="+mn-lt"/>
        </a:defRPr>
      </a:lvl4pPr>
      <a:lvl5pPr marL="2057400" indent="-228600" algn="l" rtl="0" eaLnBrk="1" fontAlgn="base" hangingPunct="1">
        <a:spcBef>
          <a:spcPct val="20000"/>
        </a:spcBef>
        <a:spcAft>
          <a:spcPct val="0"/>
        </a:spcAft>
        <a:buChar char="»"/>
        <a:defRPr sz="1200">
          <a:solidFill>
            <a:srgbClr val="20282A"/>
          </a:solidFill>
          <a:latin typeface="+mn-lt"/>
        </a:defRPr>
      </a:lvl5pPr>
      <a:lvl6pPr marL="2514600" indent="-228600" algn="l" rtl="0" eaLnBrk="1" fontAlgn="base" hangingPunct="1">
        <a:spcBef>
          <a:spcPct val="20000"/>
        </a:spcBef>
        <a:spcAft>
          <a:spcPct val="0"/>
        </a:spcAft>
        <a:buChar char="»"/>
        <a:defRPr sz="1200">
          <a:solidFill>
            <a:srgbClr val="20282A"/>
          </a:solidFill>
          <a:latin typeface="+mn-lt"/>
        </a:defRPr>
      </a:lvl6pPr>
      <a:lvl7pPr marL="2971800" indent="-228600" algn="l" rtl="0" eaLnBrk="1" fontAlgn="base" hangingPunct="1">
        <a:spcBef>
          <a:spcPct val="20000"/>
        </a:spcBef>
        <a:spcAft>
          <a:spcPct val="0"/>
        </a:spcAft>
        <a:buChar char="»"/>
        <a:defRPr sz="1200">
          <a:solidFill>
            <a:srgbClr val="20282A"/>
          </a:solidFill>
          <a:latin typeface="+mn-lt"/>
        </a:defRPr>
      </a:lvl7pPr>
      <a:lvl8pPr marL="3429000" indent="-228600" algn="l" rtl="0" eaLnBrk="1" fontAlgn="base" hangingPunct="1">
        <a:spcBef>
          <a:spcPct val="20000"/>
        </a:spcBef>
        <a:spcAft>
          <a:spcPct val="0"/>
        </a:spcAft>
        <a:buChar char="»"/>
        <a:defRPr sz="1200">
          <a:solidFill>
            <a:srgbClr val="20282A"/>
          </a:solidFill>
          <a:latin typeface="+mn-lt"/>
        </a:defRPr>
      </a:lvl8pPr>
      <a:lvl9pPr marL="3886200" indent="-228600" algn="l" rtl="0" eaLnBrk="1" fontAlgn="base" hangingPunct="1">
        <a:spcBef>
          <a:spcPct val="20000"/>
        </a:spcBef>
        <a:spcAft>
          <a:spcPct val="0"/>
        </a:spcAft>
        <a:buChar char="»"/>
        <a:defRPr sz="1200">
          <a:solidFill>
            <a:srgbClr val="20282A"/>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image" Target="../media/image18.gif"/><Relationship Id="rId26" Type="http://schemas.openxmlformats.org/officeDocument/2006/relationships/image" Target="../media/image26.png"/><Relationship Id="rId3" Type="http://schemas.openxmlformats.org/officeDocument/2006/relationships/notesSlide" Target="../notesSlides/notesSlide3.xml"/><Relationship Id="rId21" Type="http://schemas.openxmlformats.org/officeDocument/2006/relationships/image" Target="../media/image21.png"/><Relationship Id="rId7" Type="http://schemas.openxmlformats.org/officeDocument/2006/relationships/image" Target="../media/image7.jpeg"/><Relationship Id="rId12" Type="http://schemas.openxmlformats.org/officeDocument/2006/relationships/image" Target="../media/image12.png"/><Relationship Id="rId17" Type="http://schemas.openxmlformats.org/officeDocument/2006/relationships/image" Target="../media/image17.jpeg"/><Relationship Id="rId25" Type="http://schemas.openxmlformats.org/officeDocument/2006/relationships/image" Target="../media/image25.png"/><Relationship Id="rId2" Type="http://schemas.openxmlformats.org/officeDocument/2006/relationships/slideLayout" Target="../slideLayouts/slideLayout5.xml"/><Relationship Id="rId16" Type="http://schemas.openxmlformats.org/officeDocument/2006/relationships/image" Target="../media/image16.jpeg"/><Relationship Id="rId20" Type="http://schemas.openxmlformats.org/officeDocument/2006/relationships/image" Target="../media/image20.png"/><Relationship Id="rId1" Type="http://schemas.openxmlformats.org/officeDocument/2006/relationships/tags" Target="../tags/tag1.xml"/><Relationship Id="rId6" Type="http://schemas.openxmlformats.org/officeDocument/2006/relationships/image" Target="../media/image6.jpeg"/><Relationship Id="rId11" Type="http://schemas.openxmlformats.org/officeDocument/2006/relationships/image" Target="../media/image11.jpeg"/><Relationship Id="rId24" Type="http://schemas.openxmlformats.org/officeDocument/2006/relationships/image" Target="../media/image24.png"/><Relationship Id="rId5" Type="http://schemas.openxmlformats.org/officeDocument/2006/relationships/image" Target="../media/image5.png"/><Relationship Id="rId15" Type="http://schemas.openxmlformats.org/officeDocument/2006/relationships/image" Target="../media/image15.jpeg"/><Relationship Id="rId23" Type="http://schemas.openxmlformats.org/officeDocument/2006/relationships/image" Target="../media/image23.png"/><Relationship Id="rId10" Type="http://schemas.openxmlformats.org/officeDocument/2006/relationships/image" Target="../media/image10.png"/><Relationship Id="rId19" Type="http://schemas.openxmlformats.org/officeDocument/2006/relationships/image" Target="../media/image19.jpeg"/><Relationship Id="rId4" Type="http://schemas.openxmlformats.org/officeDocument/2006/relationships/image" Target="../media/image4.jpeg"/><Relationship Id="rId9" Type="http://schemas.openxmlformats.org/officeDocument/2006/relationships/image" Target="../media/image9.jpeg"/><Relationship Id="rId14" Type="http://schemas.openxmlformats.org/officeDocument/2006/relationships/image" Target="../media/image14.png"/><Relationship Id="rId22" Type="http://schemas.openxmlformats.org/officeDocument/2006/relationships/image" Target="../media/image22.png"/></Relationships>
</file>

<file path=ppt/slides/_rels/slide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28.gif"/><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28.gif"/><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5.xml"/><Relationship Id="rId1" Type="http://schemas.openxmlformats.org/officeDocument/2006/relationships/slideLayout" Target="../slideLayouts/slideLayout4.xml"/><Relationship Id="rId5" Type="http://schemas.openxmlformats.org/officeDocument/2006/relationships/image" Target="../media/image32.jpeg"/><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a:t>September 29, 2017</a:t>
            </a:r>
          </a:p>
        </p:txBody>
      </p:sp>
      <p:sp>
        <p:nvSpPr>
          <p:cNvPr id="4" name="Title 3"/>
          <p:cNvSpPr>
            <a:spLocks noGrp="1"/>
          </p:cNvSpPr>
          <p:nvPr>
            <p:ph type="ctrTitle"/>
          </p:nvPr>
        </p:nvSpPr>
        <p:spPr/>
        <p:txBody>
          <a:bodyPr/>
          <a:lstStyle/>
          <a:p>
            <a:r>
              <a:rPr lang="en-US"/>
              <a:t>QPTM Product Overview</a:t>
            </a:r>
          </a:p>
        </p:txBody>
      </p:sp>
    </p:spTree>
    <p:extLst>
      <p:ext uri="{BB962C8B-B14F-4D97-AF65-F5344CB8AC3E}">
        <p14:creationId xmlns:p14="http://schemas.microsoft.com/office/powerpoint/2010/main" val="39781225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Agenda</a:t>
            </a:r>
          </a:p>
        </p:txBody>
      </p:sp>
      <p:sp>
        <p:nvSpPr>
          <p:cNvPr id="3" name="Content Placeholder 2"/>
          <p:cNvSpPr>
            <a:spLocks noGrp="1"/>
          </p:cNvSpPr>
          <p:nvPr>
            <p:ph idx="1"/>
          </p:nvPr>
        </p:nvSpPr>
        <p:spPr/>
        <p:txBody>
          <a:bodyPr/>
          <a:lstStyle/>
          <a:p>
            <a:r>
              <a:rPr lang="en-US" sz="2400"/>
              <a:t>Intro</a:t>
            </a:r>
          </a:p>
          <a:p>
            <a:r>
              <a:rPr lang="en-US" sz="2400"/>
              <a:t>Business Case/Regulatory Environment</a:t>
            </a:r>
          </a:p>
          <a:p>
            <a:r>
              <a:rPr lang="en-US" sz="2400"/>
              <a:t>External Access</a:t>
            </a:r>
          </a:p>
          <a:p>
            <a:r>
              <a:rPr lang="en-US" sz="2400"/>
              <a:t>System Flow</a:t>
            </a:r>
          </a:p>
          <a:p>
            <a:pPr lvl="1"/>
            <a:r>
              <a:rPr lang="en-US" sz="2000"/>
              <a:t>Pre-Flow</a:t>
            </a:r>
          </a:p>
          <a:p>
            <a:pPr lvl="2"/>
            <a:r>
              <a:rPr lang="en-US" sz="1800"/>
              <a:t>Nominations</a:t>
            </a:r>
          </a:p>
          <a:p>
            <a:pPr lvl="2"/>
            <a:r>
              <a:rPr lang="en-US" sz="1800"/>
              <a:t>Confirmations</a:t>
            </a:r>
          </a:p>
          <a:p>
            <a:pPr lvl="2"/>
            <a:r>
              <a:rPr lang="en-US" sz="1800"/>
              <a:t>Scheduling</a:t>
            </a:r>
          </a:p>
          <a:p>
            <a:pPr lvl="1"/>
            <a:r>
              <a:rPr lang="en-US" sz="2000"/>
              <a:t>Post-Flow</a:t>
            </a:r>
          </a:p>
          <a:p>
            <a:pPr lvl="2"/>
            <a:r>
              <a:rPr lang="en-US" sz="1800"/>
              <a:t>Allocations</a:t>
            </a:r>
          </a:p>
          <a:p>
            <a:pPr lvl="2"/>
            <a:r>
              <a:rPr lang="en-US" sz="1800"/>
              <a:t>Inventory</a:t>
            </a:r>
          </a:p>
          <a:p>
            <a:pPr lvl="2"/>
            <a:r>
              <a:rPr lang="en-US" sz="1800"/>
              <a:t>Invoicing</a:t>
            </a:r>
          </a:p>
          <a:p>
            <a:r>
              <a:rPr lang="en-US" sz="2400"/>
              <a:t>Acronym Review</a:t>
            </a:r>
          </a:p>
        </p:txBody>
      </p:sp>
    </p:spTree>
    <p:extLst>
      <p:ext uri="{BB962C8B-B14F-4D97-AF65-F5344CB8AC3E}">
        <p14:creationId xmlns:p14="http://schemas.microsoft.com/office/powerpoint/2010/main" val="10057431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Intro</a:t>
            </a:r>
          </a:p>
        </p:txBody>
      </p:sp>
      <p:sp>
        <p:nvSpPr>
          <p:cNvPr id="3" name="Content Placeholder 2"/>
          <p:cNvSpPr>
            <a:spLocks noGrp="1"/>
          </p:cNvSpPr>
          <p:nvPr>
            <p:ph idx="1"/>
          </p:nvPr>
        </p:nvSpPr>
        <p:spPr/>
        <p:txBody>
          <a:bodyPr>
            <a:normAutofit/>
          </a:bodyPr>
          <a:lstStyle/>
          <a:p>
            <a:r>
              <a:rPr lang="en-US"/>
              <a:t>What is </a:t>
            </a:r>
            <a:r>
              <a:rPr lang="en-US">
                <a:solidFill>
                  <a:srgbClr val="FFC000"/>
                </a:solidFill>
              </a:rPr>
              <a:t>QPTM</a:t>
            </a:r>
            <a:r>
              <a:rPr lang="en-US"/>
              <a:t>?</a:t>
            </a:r>
          </a:p>
          <a:p>
            <a:pPr lvl="1"/>
            <a:r>
              <a:rPr lang="en-US"/>
              <a:t>Quorum Pipeline Transaction Management</a:t>
            </a:r>
          </a:p>
          <a:p>
            <a:pPr lvl="1"/>
            <a:r>
              <a:rPr lang="en-US"/>
              <a:t>Comprehensive software solution for natural gas pipeline operators to manage business transactions with shippers – including contracts, nominations, scheduling, balancing, invoicing and accounting</a:t>
            </a:r>
          </a:p>
          <a:p>
            <a:pPr lvl="4"/>
            <a:endParaRPr lang="en-US"/>
          </a:p>
          <a:p>
            <a:r>
              <a:rPr lang="en-US"/>
              <a:t>Original intent  </a:t>
            </a:r>
          </a:p>
          <a:p>
            <a:pPr lvl="1"/>
            <a:r>
              <a:rPr lang="en-US"/>
              <a:t>Regulated interstate pipelines</a:t>
            </a:r>
          </a:p>
          <a:p>
            <a:pPr lvl="1"/>
            <a:r>
              <a:rPr lang="en-US"/>
              <a:t>Functionality works for intrastate pipelines, </a:t>
            </a:r>
            <a:r>
              <a:rPr lang="en-US">
                <a:solidFill>
                  <a:srgbClr val="FFC000"/>
                </a:solidFill>
              </a:rPr>
              <a:t>LDC</a:t>
            </a:r>
            <a:r>
              <a:rPr lang="en-US"/>
              <a:t>s, storage facilities, and some gas gathering systems</a:t>
            </a:r>
          </a:p>
        </p:txBody>
      </p:sp>
    </p:spTree>
    <p:extLst>
      <p:ext uri="{BB962C8B-B14F-4D97-AF65-F5344CB8AC3E}">
        <p14:creationId xmlns:p14="http://schemas.microsoft.com/office/powerpoint/2010/main" val="303167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pPr>
              <a:defRPr/>
            </a:pPr>
            <a:r>
              <a:rPr lang="en-US"/>
              <a:t>Quorum Pipeline Clients</a:t>
            </a:r>
          </a:p>
        </p:txBody>
      </p:sp>
      <p:sp>
        <p:nvSpPr>
          <p:cNvPr id="23557" name="Footer Placeholder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1075"/>
              </a:spcBef>
              <a:buClr>
                <a:srgbClr val="009DE2"/>
              </a:buClr>
              <a:buSzPct val="80000"/>
              <a:buBlip>
                <a:blip r:embed="rId4"/>
              </a:buBlip>
              <a:defRPr>
                <a:solidFill>
                  <a:srgbClr val="060A51"/>
                </a:solidFill>
                <a:latin typeface="Calibri Light" pitchFamily="34" charset="0"/>
                <a:ea typeface="MS PGothic" pitchFamily="34" charset="-128"/>
                <a:cs typeface="Calibri Light" pitchFamily="34" charset="0"/>
              </a:defRPr>
            </a:lvl1pPr>
            <a:lvl2pPr marL="742950" indent="-285750" eaLnBrk="0" hangingPunct="0">
              <a:spcBef>
                <a:spcPts val="1075"/>
              </a:spcBef>
              <a:buClr>
                <a:srgbClr val="009DE2"/>
              </a:buClr>
              <a:buSzPct val="80000"/>
              <a:buBlip>
                <a:blip r:embed="rId4"/>
              </a:buBlip>
              <a:defRPr sz="1600">
                <a:solidFill>
                  <a:srgbClr val="060A51"/>
                </a:solidFill>
                <a:latin typeface="Calibri Light" pitchFamily="34" charset="0"/>
                <a:ea typeface="MS PGothic" pitchFamily="34" charset="-128"/>
                <a:cs typeface="Calibri Light" pitchFamily="34" charset="0"/>
              </a:defRPr>
            </a:lvl2pPr>
            <a:lvl3pPr marL="1143000" indent="-228600" eaLnBrk="0" hangingPunct="0">
              <a:spcBef>
                <a:spcPts val="1075"/>
              </a:spcBef>
              <a:buClr>
                <a:srgbClr val="009DE2"/>
              </a:buClr>
              <a:buSzPct val="80000"/>
              <a:buBlip>
                <a:blip r:embed="rId4"/>
              </a:buBlip>
              <a:defRPr sz="1400">
                <a:solidFill>
                  <a:srgbClr val="060A51"/>
                </a:solidFill>
                <a:latin typeface="Calibri Light" pitchFamily="34" charset="0"/>
                <a:ea typeface="MS PGothic" pitchFamily="34" charset="-128"/>
                <a:cs typeface="Calibri Light" pitchFamily="34" charset="0"/>
              </a:defRPr>
            </a:lvl3pPr>
            <a:lvl4pPr marL="1600200" indent="-228600" eaLnBrk="0" hangingPunct="0">
              <a:spcBef>
                <a:spcPts val="1075"/>
              </a:spcBef>
              <a:buClr>
                <a:srgbClr val="009DE2"/>
              </a:buClr>
              <a:buSzPct val="80000"/>
              <a:buBlip>
                <a:blip r:embed="rId4"/>
              </a:buBlip>
              <a:defRPr sz="1200">
                <a:solidFill>
                  <a:srgbClr val="060A51"/>
                </a:solidFill>
                <a:latin typeface="Calibri Light" pitchFamily="34" charset="0"/>
                <a:ea typeface="MS PGothic" pitchFamily="34" charset="-128"/>
                <a:cs typeface="Calibri Light" pitchFamily="34" charset="0"/>
              </a:defRPr>
            </a:lvl4pPr>
            <a:lvl5pPr marL="2057400" indent="-228600" eaLnBrk="0" hangingPunct="0">
              <a:spcBef>
                <a:spcPts val="1075"/>
              </a:spcBef>
              <a:buClr>
                <a:srgbClr val="009DE2"/>
              </a:buClr>
              <a:buSzPct val="80000"/>
              <a:buBlip>
                <a:blip r:embed="rId4"/>
              </a:buBlip>
              <a:defRPr sz="1100">
                <a:solidFill>
                  <a:srgbClr val="060A51"/>
                </a:solidFill>
                <a:latin typeface="Calibri Light" pitchFamily="34" charset="0"/>
                <a:ea typeface="MS PGothic" pitchFamily="34" charset="-128"/>
                <a:cs typeface="Calibri Light" pitchFamily="34" charset="0"/>
              </a:defRPr>
            </a:lvl5pPr>
            <a:lvl6pPr marL="2514600" indent="-228600" defTabSz="457200" eaLnBrk="0" fontAlgn="base" hangingPunct="0">
              <a:spcBef>
                <a:spcPts val="1075"/>
              </a:spcBef>
              <a:spcAft>
                <a:spcPct val="0"/>
              </a:spcAft>
              <a:buClr>
                <a:srgbClr val="009DE2"/>
              </a:buClr>
              <a:buSzPct val="80000"/>
              <a:buBlip>
                <a:blip r:embed="rId4"/>
              </a:buBlip>
              <a:defRPr sz="1100">
                <a:solidFill>
                  <a:srgbClr val="060A51"/>
                </a:solidFill>
                <a:latin typeface="Calibri Light" pitchFamily="34" charset="0"/>
                <a:ea typeface="MS PGothic" pitchFamily="34" charset="-128"/>
                <a:cs typeface="Calibri Light" pitchFamily="34" charset="0"/>
              </a:defRPr>
            </a:lvl6pPr>
            <a:lvl7pPr marL="2971800" indent="-228600" defTabSz="457200" eaLnBrk="0" fontAlgn="base" hangingPunct="0">
              <a:spcBef>
                <a:spcPts val="1075"/>
              </a:spcBef>
              <a:spcAft>
                <a:spcPct val="0"/>
              </a:spcAft>
              <a:buClr>
                <a:srgbClr val="009DE2"/>
              </a:buClr>
              <a:buSzPct val="80000"/>
              <a:buBlip>
                <a:blip r:embed="rId4"/>
              </a:buBlip>
              <a:defRPr sz="1100">
                <a:solidFill>
                  <a:srgbClr val="060A51"/>
                </a:solidFill>
                <a:latin typeface="Calibri Light" pitchFamily="34" charset="0"/>
                <a:ea typeface="MS PGothic" pitchFamily="34" charset="-128"/>
                <a:cs typeface="Calibri Light" pitchFamily="34" charset="0"/>
              </a:defRPr>
            </a:lvl7pPr>
            <a:lvl8pPr marL="3429000" indent="-228600" defTabSz="457200" eaLnBrk="0" fontAlgn="base" hangingPunct="0">
              <a:spcBef>
                <a:spcPts val="1075"/>
              </a:spcBef>
              <a:spcAft>
                <a:spcPct val="0"/>
              </a:spcAft>
              <a:buClr>
                <a:srgbClr val="009DE2"/>
              </a:buClr>
              <a:buSzPct val="80000"/>
              <a:buBlip>
                <a:blip r:embed="rId4"/>
              </a:buBlip>
              <a:defRPr sz="1100">
                <a:solidFill>
                  <a:srgbClr val="060A51"/>
                </a:solidFill>
                <a:latin typeface="Calibri Light" pitchFamily="34" charset="0"/>
                <a:ea typeface="MS PGothic" pitchFamily="34" charset="-128"/>
                <a:cs typeface="Calibri Light" pitchFamily="34" charset="0"/>
              </a:defRPr>
            </a:lvl8pPr>
            <a:lvl9pPr marL="3886200" indent="-228600" defTabSz="457200" eaLnBrk="0" fontAlgn="base" hangingPunct="0">
              <a:spcBef>
                <a:spcPts val="1075"/>
              </a:spcBef>
              <a:spcAft>
                <a:spcPct val="0"/>
              </a:spcAft>
              <a:buClr>
                <a:srgbClr val="009DE2"/>
              </a:buClr>
              <a:buSzPct val="80000"/>
              <a:buBlip>
                <a:blip r:embed="rId4"/>
              </a:buBlip>
              <a:defRPr sz="1100">
                <a:solidFill>
                  <a:srgbClr val="060A51"/>
                </a:solidFill>
                <a:latin typeface="Calibri Light" pitchFamily="34" charset="0"/>
                <a:ea typeface="MS PGothic" pitchFamily="34" charset="-128"/>
                <a:cs typeface="Calibri Light" pitchFamily="34" charset="0"/>
              </a:defRPr>
            </a:lvl9pPr>
          </a:lstStyle>
          <a:p>
            <a:pPr eaLnBrk="1" hangingPunct="1">
              <a:spcBef>
                <a:spcPct val="0"/>
              </a:spcBef>
              <a:buClrTx/>
              <a:buSzTx/>
              <a:buFontTx/>
              <a:buNone/>
            </a:pPr>
            <a:r>
              <a:rPr lang="en-US" altLang="en-US">
                <a:solidFill>
                  <a:srgbClr val="7F7F7F"/>
                </a:solidFill>
                <a:latin typeface="Calibri" pitchFamily="34" charset="0"/>
              </a:rPr>
              <a:t>Copyright Quorum Business Solutions Inc. 2016</a:t>
            </a:r>
          </a:p>
        </p:txBody>
      </p:sp>
      <p:sp>
        <p:nvSpPr>
          <p:cNvPr id="23558" name="Slide Number Placeholder 4"/>
          <p:cNvSpPr>
            <a:spLocks noGrp="1"/>
          </p:cNvSpPr>
          <p:nvPr>
            <p:ph type="sldNum" sz="quarter" idx="11"/>
          </p:nvPr>
        </p:nvSpPr>
        <p:spPr bwMode="auto">
          <a:xfrm>
            <a:off x="8766175" y="6491288"/>
            <a:ext cx="446088"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1075"/>
              </a:spcBef>
              <a:buClr>
                <a:srgbClr val="009DE2"/>
              </a:buClr>
              <a:buSzPct val="80000"/>
              <a:buBlip>
                <a:blip r:embed="rId4"/>
              </a:buBlip>
              <a:defRPr>
                <a:solidFill>
                  <a:srgbClr val="060A51"/>
                </a:solidFill>
                <a:latin typeface="Calibri Light" pitchFamily="34" charset="0"/>
                <a:ea typeface="MS PGothic" pitchFamily="34" charset="-128"/>
                <a:cs typeface="Calibri Light" pitchFamily="34" charset="0"/>
              </a:defRPr>
            </a:lvl1pPr>
            <a:lvl2pPr marL="742950" indent="-285750" eaLnBrk="0" hangingPunct="0">
              <a:spcBef>
                <a:spcPts val="1075"/>
              </a:spcBef>
              <a:buClr>
                <a:srgbClr val="009DE2"/>
              </a:buClr>
              <a:buSzPct val="80000"/>
              <a:buBlip>
                <a:blip r:embed="rId4"/>
              </a:buBlip>
              <a:defRPr sz="1600">
                <a:solidFill>
                  <a:srgbClr val="060A51"/>
                </a:solidFill>
                <a:latin typeface="Calibri Light" pitchFamily="34" charset="0"/>
                <a:ea typeface="MS PGothic" pitchFamily="34" charset="-128"/>
                <a:cs typeface="Calibri Light" pitchFamily="34" charset="0"/>
              </a:defRPr>
            </a:lvl2pPr>
            <a:lvl3pPr marL="1143000" indent="-228600" eaLnBrk="0" hangingPunct="0">
              <a:spcBef>
                <a:spcPts val="1075"/>
              </a:spcBef>
              <a:buClr>
                <a:srgbClr val="009DE2"/>
              </a:buClr>
              <a:buSzPct val="80000"/>
              <a:buBlip>
                <a:blip r:embed="rId4"/>
              </a:buBlip>
              <a:defRPr sz="1400">
                <a:solidFill>
                  <a:srgbClr val="060A51"/>
                </a:solidFill>
                <a:latin typeface="Calibri Light" pitchFamily="34" charset="0"/>
                <a:ea typeface="MS PGothic" pitchFamily="34" charset="-128"/>
                <a:cs typeface="Calibri Light" pitchFamily="34" charset="0"/>
              </a:defRPr>
            </a:lvl3pPr>
            <a:lvl4pPr marL="1600200" indent="-228600" eaLnBrk="0" hangingPunct="0">
              <a:spcBef>
                <a:spcPts val="1075"/>
              </a:spcBef>
              <a:buClr>
                <a:srgbClr val="009DE2"/>
              </a:buClr>
              <a:buSzPct val="80000"/>
              <a:buBlip>
                <a:blip r:embed="rId4"/>
              </a:buBlip>
              <a:defRPr sz="1200">
                <a:solidFill>
                  <a:srgbClr val="060A51"/>
                </a:solidFill>
                <a:latin typeface="Calibri Light" pitchFamily="34" charset="0"/>
                <a:ea typeface="MS PGothic" pitchFamily="34" charset="-128"/>
                <a:cs typeface="Calibri Light" pitchFamily="34" charset="0"/>
              </a:defRPr>
            </a:lvl4pPr>
            <a:lvl5pPr marL="2057400" indent="-228600" eaLnBrk="0" hangingPunct="0">
              <a:spcBef>
                <a:spcPts val="1075"/>
              </a:spcBef>
              <a:buClr>
                <a:srgbClr val="009DE2"/>
              </a:buClr>
              <a:buSzPct val="80000"/>
              <a:buBlip>
                <a:blip r:embed="rId4"/>
              </a:buBlip>
              <a:defRPr sz="1100">
                <a:solidFill>
                  <a:srgbClr val="060A51"/>
                </a:solidFill>
                <a:latin typeface="Calibri Light" pitchFamily="34" charset="0"/>
                <a:ea typeface="MS PGothic" pitchFamily="34" charset="-128"/>
                <a:cs typeface="Calibri Light" pitchFamily="34" charset="0"/>
              </a:defRPr>
            </a:lvl5pPr>
            <a:lvl6pPr marL="2514600" indent="-228600" defTabSz="457200" eaLnBrk="0" fontAlgn="base" hangingPunct="0">
              <a:spcBef>
                <a:spcPts val="1075"/>
              </a:spcBef>
              <a:spcAft>
                <a:spcPct val="0"/>
              </a:spcAft>
              <a:buClr>
                <a:srgbClr val="009DE2"/>
              </a:buClr>
              <a:buSzPct val="80000"/>
              <a:buBlip>
                <a:blip r:embed="rId4"/>
              </a:buBlip>
              <a:defRPr sz="1100">
                <a:solidFill>
                  <a:srgbClr val="060A51"/>
                </a:solidFill>
                <a:latin typeface="Calibri Light" pitchFamily="34" charset="0"/>
                <a:ea typeface="MS PGothic" pitchFamily="34" charset="-128"/>
                <a:cs typeface="Calibri Light" pitchFamily="34" charset="0"/>
              </a:defRPr>
            </a:lvl6pPr>
            <a:lvl7pPr marL="2971800" indent="-228600" defTabSz="457200" eaLnBrk="0" fontAlgn="base" hangingPunct="0">
              <a:spcBef>
                <a:spcPts val="1075"/>
              </a:spcBef>
              <a:spcAft>
                <a:spcPct val="0"/>
              </a:spcAft>
              <a:buClr>
                <a:srgbClr val="009DE2"/>
              </a:buClr>
              <a:buSzPct val="80000"/>
              <a:buBlip>
                <a:blip r:embed="rId4"/>
              </a:buBlip>
              <a:defRPr sz="1100">
                <a:solidFill>
                  <a:srgbClr val="060A51"/>
                </a:solidFill>
                <a:latin typeface="Calibri Light" pitchFamily="34" charset="0"/>
                <a:ea typeface="MS PGothic" pitchFamily="34" charset="-128"/>
                <a:cs typeface="Calibri Light" pitchFamily="34" charset="0"/>
              </a:defRPr>
            </a:lvl7pPr>
            <a:lvl8pPr marL="3429000" indent="-228600" defTabSz="457200" eaLnBrk="0" fontAlgn="base" hangingPunct="0">
              <a:spcBef>
                <a:spcPts val="1075"/>
              </a:spcBef>
              <a:spcAft>
                <a:spcPct val="0"/>
              </a:spcAft>
              <a:buClr>
                <a:srgbClr val="009DE2"/>
              </a:buClr>
              <a:buSzPct val="80000"/>
              <a:buBlip>
                <a:blip r:embed="rId4"/>
              </a:buBlip>
              <a:defRPr sz="1100">
                <a:solidFill>
                  <a:srgbClr val="060A51"/>
                </a:solidFill>
                <a:latin typeface="Calibri Light" pitchFamily="34" charset="0"/>
                <a:ea typeface="MS PGothic" pitchFamily="34" charset="-128"/>
                <a:cs typeface="Calibri Light" pitchFamily="34" charset="0"/>
              </a:defRPr>
            </a:lvl8pPr>
            <a:lvl9pPr marL="3886200" indent="-228600" defTabSz="457200" eaLnBrk="0" fontAlgn="base" hangingPunct="0">
              <a:spcBef>
                <a:spcPts val="1075"/>
              </a:spcBef>
              <a:spcAft>
                <a:spcPct val="0"/>
              </a:spcAft>
              <a:buClr>
                <a:srgbClr val="009DE2"/>
              </a:buClr>
              <a:buSzPct val="80000"/>
              <a:buBlip>
                <a:blip r:embed="rId4"/>
              </a:buBlip>
              <a:defRPr sz="1100">
                <a:solidFill>
                  <a:srgbClr val="060A51"/>
                </a:solidFill>
                <a:latin typeface="Calibri Light" pitchFamily="34" charset="0"/>
                <a:ea typeface="MS PGothic" pitchFamily="34" charset="-128"/>
                <a:cs typeface="Calibri Light" pitchFamily="34" charset="0"/>
              </a:defRPr>
            </a:lvl9pPr>
          </a:lstStyle>
          <a:p>
            <a:pPr eaLnBrk="1" hangingPunct="1">
              <a:spcBef>
                <a:spcPct val="0"/>
              </a:spcBef>
              <a:buClrTx/>
              <a:buSzTx/>
              <a:buFontTx/>
              <a:buNone/>
            </a:pPr>
            <a:fld id="{36433355-7F6C-40D8-93DD-AA7D862B70D2}" type="slidenum">
              <a:rPr lang="en-US" altLang="en-US">
                <a:solidFill>
                  <a:schemeClr val="bg1"/>
                </a:solidFill>
                <a:latin typeface="Calibri" pitchFamily="34" charset="0"/>
              </a:rPr>
              <a:pPr eaLnBrk="1" hangingPunct="1">
                <a:spcBef>
                  <a:spcPct val="0"/>
                </a:spcBef>
                <a:buClrTx/>
                <a:buSzTx/>
                <a:buFontTx/>
                <a:buNone/>
              </a:pPr>
              <a:t>4</a:t>
            </a:fld>
            <a:endParaRPr lang="en-US" altLang="en-US">
              <a:solidFill>
                <a:schemeClr val="bg1"/>
              </a:solidFill>
              <a:latin typeface="Calibri" pitchFamily="34" charset="0"/>
            </a:endParaRPr>
          </a:p>
        </p:txBody>
      </p:sp>
      <p:pic>
        <p:nvPicPr>
          <p:cNvPr id="23559" name="Picture 58" descr="Quorum_RGB_Primary_Mark.pn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0" y="307975"/>
            <a:ext cx="86995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AutoShape 16"/>
          <p:cNvSpPr>
            <a:spLocks noChangeArrowheads="1"/>
          </p:cNvSpPr>
          <p:nvPr/>
        </p:nvSpPr>
        <p:spPr bwMode="auto">
          <a:xfrm>
            <a:off x="381000" y="1417638"/>
            <a:ext cx="4038600" cy="3000375"/>
          </a:xfrm>
          <a:prstGeom prst="roundRect">
            <a:avLst>
              <a:gd name="adj" fmla="val 16667"/>
            </a:avLst>
          </a:prstGeom>
          <a:gradFill rotWithShape="1">
            <a:gsLst>
              <a:gs pos="0">
                <a:schemeClr val="accent1"/>
              </a:gs>
              <a:gs pos="100000">
                <a:schemeClr val="accent1">
                  <a:gamma/>
                  <a:shade val="87843"/>
                  <a:invGamma/>
                </a:schemeClr>
              </a:gs>
            </a:gsLst>
            <a:lin ang="5400000" scaled="1"/>
          </a:gradFill>
          <a:ln w="9525">
            <a:solidFill>
              <a:srgbClr val="76808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7" tIns="45714" rIns="91427" bIns="45714"/>
          <a:lstStyle/>
          <a:p>
            <a:pPr eaLnBrk="0" hangingPunct="0">
              <a:defRPr/>
            </a:pPr>
            <a:r>
              <a:rPr lang="en-US" sz="2400" b="1">
                <a:solidFill>
                  <a:srgbClr val="FFCC00"/>
                </a:solidFill>
              </a:rPr>
              <a:t>22 QPTM Clients</a:t>
            </a:r>
          </a:p>
          <a:p>
            <a:pPr lvl="1">
              <a:spcBef>
                <a:spcPct val="20000"/>
              </a:spcBef>
              <a:buSzPct val="40000"/>
              <a:buFont typeface="Wingdings" pitchFamily="2" charset="2"/>
              <a:buChar char="u"/>
              <a:defRPr/>
            </a:pPr>
            <a:r>
              <a:rPr lang="en-US">
                <a:solidFill>
                  <a:srgbClr val="FFFFFF"/>
                </a:solidFill>
              </a:rPr>
              <a:t> Interstate pipelines (24)</a:t>
            </a:r>
          </a:p>
          <a:p>
            <a:pPr lvl="1">
              <a:spcBef>
                <a:spcPct val="20000"/>
              </a:spcBef>
              <a:buSzPct val="40000"/>
              <a:buFont typeface="Wingdings" pitchFamily="2" charset="2"/>
              <a:buChar char="u"/>
              <a:defRPr/>
            </a:pPr>
            <a:r>
              <a:rPr lang="en-US">
                <a:solidFill>
                  <a:srgbClr val="FFFFFF"/>
                </a:solidFill>
              </a:rPr>
              <a:t> Intrastate pipelines (24)</a:t>
            </a:r>
          </a:p>
          <a:p>
            <a:pPr lvl="1">
              <a:spcBef>
                <a:spcPct val="20000"/>
              </a:spcBef>
              <a:buSzPct val="40000"/>
              <a:buFont typeface="Wingdings" pitchFamily="2" charset="2"/>
              <a:buChar char="u"/>
              <a:defRPr/>
            </a:pPr>
            <a:r>
              <a:rPr lang="en-US">
                <a:solidFill>
                  <a:srgbClr val="FFFFFF"/>
                </a:solidFill>
              </a:rPr>
              <a:t> Gathering systems (6)</a:t>
            </a:r>
          </a:p>
          <a:p>
            <a:pPr lvl="1">
              <a:spcBef>
                <a:spcPct val="20000"/>
              </a:spcBef>
              <a:buSzPct val="40000"/>
              <a:buFont typeface="Wingdings" pitchFamily="2" charset="2"/>
              <a:buChar char="u"/>
              <a:defRPr/>
            </a:pPr>
            <a:r>
              <a:rPr lang="en-US">
                <a:solidFill>
                  <a:srgbClr val="FFFFFF"/>
                </a:solidFill>
              </a:rPr>
              <a:t> Storage facilities (17)</a:t>
            </a:r>
          </a:p>
          <a:p>
            <a:pPr lvl="1">
              <a:spcBef>
                <a:spcPct val="20000"/>
              </a:spcBef>
              <a:buSzPct val="40000"/>
              <a:buFont typeface="Wingdings" pitchFamily="2" charset="2"/>
              <a:buChar char="u"/>
              <a:defRPr/>
            </a:pPr>
            <a:r>
              <a:rPr lang="en-US">
                <a:solidFill>
                  <a:srgbClr val="FFFFFF"/>
                </a:solidFill>
              </a:rPr>
              <a:t> Distribution systems (17)</a:t>
            </a:r>
          </a:p>
          <a:p>
            <a:pPr lvl="1">
              <a:spcBef>
                <a:spcPct val="20000"/>
              </a:spcBef>
              <a:buSzPct val="40000"/>
              <a:buFont typeface="Wingdings" pitchFamily="2" charset="2"/>
              <a:buChar char="u"/>
              <a:defRPr/>
            </a:pPr>
            <a:r>
              <a:rPr lang="en-US">
                <a:solidFill>
                  <a:srgbClr val="FFFFFF"/>
                </a:solidFill>
              </a:rPr>
              <a:t> Canadian pipelines (3)</a:t>
            </a:r>
          </a:p>
          <a:p>
            <a:pPr lvl="1">
              <a:spcBef>
                <a:spcPct val="20000"/>
              </a:spcBef>
              <a:buSzPct val="40000"/>
              <a:buFont typeface="Wingdings" pitchFamily="2" charset="2"/>
              <a:buChar char="u"/>
              <a:defRPr/>
            </a:pPr>
            <a:r>
              <a:rPr lang="en-US">
                <a:solidFill>
                  <a:srgbClr val="FFFFFF"/>
                </a:solidFill>
              </a:rPr>
              <a:t> Hub facilities (2)</a:t>
            </a:r>
          </a:p>
        </p:txBody>
      </p:sp>
      <p:sp>
        <p:nvSpPr>
          <p:cNvPr id="36" name="AutoShape 18"/>
          <p:cNvSpPr>
            <a:spLocks noChangeArrowheads="1"/>
          </p:cNvSpPr>
          <p:nvPr>
            <p:custDataLst>
              <p:tags r:id="rId1"/>
            </p:custDataLst>
          </p:nvPr>
        </p:nvSpPr>
        <p:spPr bwMode="auto">
          <a:xfrm rot="10800000">
            <a:off x="1143000" y="4527550"/>
            <a:ext cx="2438400" cy="304800"/>
          </a:xfrm>
          <a:prstGeom prst="triangle">
            <a:avLst>
              <a:gd name="adj" fmla="val 50000"/>
            </a:avLst>
          </a:prstGeom>
          <a:gradFill rotWithShape="1">
            <a:gsLst>
              <a:gs pos="0">
                <a:schemeClr val="bg2"/>
              </a:gs>
              <a:gs pos="100000">
                <a:schemeClr val="bg2">
                  <a:gamma/>
                  <a:shade val="69804"/>
                  <a:invGamma/>
                </a:scheme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lIns="45714" tIns="45714" rIns="45714" bIns="45714" anchor="ctr"/>
          <a:lstStyle/>
          <a:p>
            <a:pPr eaLnBrk="0" hangingPunct="0">
              <a:defRPr/>
            </a:pPr>
            <a:endParaRPr lang="en-US">
              <a:solidFill>
                <a:srgbClr val="20282A"/>
              </a:solidFill>
            </a:endParaRPr>
          </a:p>
        </p:txBody>
      </p:sp>
      <p:sp>
        <p:nvSpPr>
          <p:cNvPr id="5" name="TextBox 4"/>
          <p:cNvSpPr txBox="1"/>
          <p:nvPr/>
        </p:nvSpPr>
        <p:spPr>
          <a:xfrm>
            <a:off x="284479" y="4900136"/>
            <a:ext cx="4264487" cy="1477328"/>
          </a:xfrm>
          <a:prstGeom prst="rect">
            <a:avLst/>
          </a:prstGeom>
          <a:noFill/>
        </p:spPr>
        <p:txBody>
          <a:bodyPr wrap="square" rtlCol="0">
            <a:spAutoFit/>
          </a:bodyPr>
          <a:lstStyle/>
          <a:p>
            <a:pPr algn="ctr"/>
            <a:r>
              <a:rPr lang="en-US" b="1">
                <a:latin typeface="+mj-lt"/>
              </a:rPr>
              <a:t>myQuorum Pipeline is the industry leader:</a:t>
            </a:r>
          </a:p>
          <a:p>
            <a:pPr algn="ctr"/>
            <a:r>
              <a:rPr lang="en-US" altLang="en-US" b="1">
                <a:solidFill>
                  <a:srgbClr val="20282A"/>
                </a:solidFill>
                <a:latin typeface="+mj-lt"/>
              </a:rPr>
              <a:t>22 clients running 90+ assets on over 50,000 miles of pipeline in the U.S. and Canada</a:t>
            </a:r>
          </a:p>
        </p:txBody>
      </p:sp>
      <p:pic>
        <p:nvPicPr>
          <p:cNvPr id="75" name="Picture 3" descr="Energy Transfer Partners"/>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16120" y="3581400"/>
            <a:ext cx="1581150" cy="684212"/>
          </a:xfrm>
          <a:prstGeom prst="rect">
            <a:avLst/>
          </a:prstGeom>
          <a:noFill/>
          <a:extLst>
            <a:ext uri="{909E8E84-426E-40DD-AFC4-6F175D3DCCD1}">
              <a14:hiddenFill xmlns:a14="http://schemas.microsoft.com/office/drawing/2010/main">
                <a:solidFill>
                  <a:srgbClr val="FFFFFF"/>
                </a:solidFill>
              </a14:hiddenFill>
            </a:ext>
          </a:extLst>
        </p:spPr>
      </p:pic>
      <p:pic>
        <p:nvPicPr>
          <p:cNvPr id="76" name="Picture 4" descr="Enterprise logo"/>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43755" y="3449521"/>
            <a:ext cx="693457" cy="830932"/>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12" descr="logo_header_ONEOK"/>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42410" y="5118100"/>
            <a:ext cx="1436687"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 name="Picture 17" descr="DTE Energy logo"/>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248400" y="2667000"/>
            <a:ext cx="1408112"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 name="Picture 7" descr="sourcegas"/>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00600" y="5638800"/>
            <a:ext cx="1410403" cy="449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 name="Picture 2" descr="https://encrypted-tbn0.google.com/images?q=tbn:ANd9GcTm5ovR_4TbxvWnaE2T5g_abjT9lAFrCSm6oQMgoC_wCy-y6_5s"/>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15355" y="3657600"/>
            <a:ext cx="1000125" cy="561976"/>
          </a:xfrm>
          <a:prstGeom prst="rect">
            <a:avLst/>
          </a:prstGeom>
          <a:noFill/>
          <a:extLst>
            <a:ext uri="{909E8E84-426E-40DD-AFC4-6F175D3DCCD1}">
              <a14:hiddenFill xmlns:a14="http://schemas.microsoft.com/office/drawing/2010/main">
                <a:solidFill>
                  <a:srgbClr val="FFFFFF"/>
                </a:solidFill>
              </a14:hiddenFill>
            </a:ext>
          </a:extLst>
        </p:spPr>
      </p:pic>
      <p:pic>
        <p:nvPicPr>
          <p:cNvPr id="85" name="Picture 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324600" y="5727265"/>
            <a:ext cx="1252842" cy="403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7" name="Picture 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177303" y="4534280"/>
            <a:ext cx="1291885" cy="330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8" name="Picture 4"/>
          <p:cNvPicPr>
            <a:picLocks noChangeAspect="1"/>
          </p:cNvPicPr>
          <p:nvPr/>
        </p:nvPicPr>
        <p:blipFill rotWithShape="1">
          <a:blip r:embed="rId14">
            <a:extLst>
              <a:ext uri="{28A0092B-C50C-407E-A947-70E740481C1C}">
                <a14:useLocalDpi xmlns:a14="http://schemas.microsoft.com/office/drawing/2010/main" val="0"/>
              </a:ext>
            </a:extLst>
          </a:blip>
          <a:srcRect l="13040" b="26232"/>
          <a:stretch/>
        </p:blipFill>
        <p:spPr bwMode="auto">
          <a:xfrm>
            <a:off x="6172540" y="5033020"/>
            <a:ext cx="1317944" cy="529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 name="Picture 9"/>
          <p:cNvPicPr>
            <a:picLocks noChangeAspect="1"/>
          </p:cNvPicPr>
          <p:nvPr/>
        </p:nvPicPr>
        <p:blipFill>
          <a:blip r:embed="rId15">
            <a:extLst>
              <a:ext uri="{28A0092B-C50C-407E-A947-70E740481C1C}">
                <a14:useLocalDpi xmlns:a14="http://schemas.microsoft.com/office/drawing/2010/main" val="0"/>
              </a:ext>
            </a:extLst>
          </a:blip>
          <a:srcRect/>
          <a:stretch>
            <a:fillRect/>
          </a:stretch>
        </p:blipFill>
        <p:spPr bwMode="auto">
          <a:xfrm>
            <a:off x="4724400" y="2895600"/>
            <a:ext cx="1449390" cy="530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 name="Picture 2" descr="ONE Gas"/>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701117" y="4560252"/>
            <a:ext cx="1290483" cy="357188"/>
          </a:xfrm>
          <a:prstGeom prst="rect">
            <a:avLst/>
          </a:prstGeom>
          <a:noFill/>
          <a:extLst>
            <a:ext uri="{909E8E84-426E-40DD-AFC4-6F175D3DCCD1}">
              <a14:hiddenFill xmlns:a14="http://schemas.microsoft.com/office/drawing/2010/main">
                <a:solidFill>
                  <a:srgbClr val="FFFFFF"/>
                </a:solidFill>
              </a14:hiddenFill>
            </a:ext>
          </a:extLst>
        </p:spPr>
      </p:pic>
      <p:pic>
        <p:nvPicPr>
          <p:cNvPr id="93" name="Picture 2" descr="http://midstreamcapital.com/images/ee217b291b42eb2b402b3c604a843f62_b86t.jpg"/>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530568" y="4518246"/>
            <a:ext cx="1548529" cy="346806"/>
          </a:xfrm>
          <a:prstGeom prst="rect">
            <a:avLst/>
          </a:prstGeom>
          <a:noFill/>
          <a:extLst>
            <a:ext uri="{909E8E84-426E-40DD-AFC4-6F175D3DCCD1}">
              <a14:hiddenFill xmlns:a14="http://schemas.microsoft.com/office/drawing/2010/main">
                <a:solidFill>
                  <a:srgbClr val="FFFFFF"/>
                </a:solidFill>
              </a14:hiddenFill>
            </a:ext>
          </a:extLst>
        </p:spPr>
      </p:pic>
      <p:pic>
        <p:nvPicPr>
          <p:cNvPr id="94" name="Picture 93" descr="http://www.saskenergy.com/site/templates/images/logosplash.gif"/>
          <p:cNvPicPr>
            <a:picLocks noChangeAspect="1" noChangeArrowheads="1"/>
          </p:cNvPicPr>
          <p:nvPr/>
        </p:nvPicPr>
        <p:blipFill rotWithShape="1">
          <a:blip r:embed="rId18">
            <a:extLst>
              <a:ext uri="{28A0092B-C50C-407E-A947-70E740481C1C}">
                <a14:useLocalDpi xmlns:a14="http://schemas.microsoft.com/office/drawing/2010/main" val="0"/>
              </a:ext>
            </a:extLst>
          </a:blip>
          <a:srcRect l="10344"/>
          <a:stretch/>
        </p:blipFill>
        <p:spPr bwMode="auto">
          <a:xfrm>
            <a:off x="7543800" y="5029200"/>
            <a:ext cx="1524000" cy="402981"/>
          </a:xfrm>
          <a:prstGeom prst="rect">
            <a:avLst/>
          </a:prstGeom>
          <a:noFill/>
          <a:extLst>
            <a:ext uri="{909E8E84-426E-40DD-AFC4-6F175D3DCCD1}">
              <a14:hiddenFill xmlns:a14="http://schemas.microsoft.com/office/drawing/2010/main">
                <a:solidFill>
                  <a:srgbClr val="FFFFFF"/>
                </a:solidFill>
              </a14:hiddenFill>
            </a:ext>
          </a:extLst>
        </p:spPr>
      </p:pic>
      <p:pic>
        <p:nvPicPr>
          <p:cNvPr id="96" name="Picture 2" descr="http://www.sec.gov/Archives/edgar/data/1022321/000119312511188513/g206658g84k05.jpg"/>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885021" y="3606537"/>
            <a:ext cx="1162141" cy="53870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a:extLst>
              <a:ext uri="{FF2B5EF4-FFF2-40B4-BE49-F238E27FC236}">
                <a16:creationId xmlns:a16="http://schemas.microsoft.com/office/drawing/2014/main" id="{E54C0B44-1DE2-5913-C386-96A086F4413C}"/>
              </a:ext>
            </a:extLst>
          </p:cNvPr>
          <p:cNvPicPr>
            <a:picLocks noChangeAspect="1"/>
          </p:cNvPicPr>
          <p:nvPr/>
        </p:nvPicPr>
        <p:blipFill>
          <a:blip r:embed="rId20"/>
          <a:stretch>
            <a:fillRect/>
          </a:stretch>
        </p:blipFill>
        <p:spPr>
          <a:xfrm>
            <a:off x="4417036" y="2041037"/>
            <a:ext cx="2009775" cy="704850"/>
          </a:xfrm>
          <a:prstGeom prst="rect">
            <a:avLst/>
          </a:prstGeom>
        </p:spPr>
      </p:pic>
      <p:pic>
        <p:nvPicPr>
          <p:cNvPr id="3" name="Picture 3" descr="A picture containing text, tableware, dishware, plate&#10;&#10;Description automatically generated">
            <a:extLst>
              <a:ext uri="{FF2B5EF4-FFF2-40B4-BE49-F238E27FC236}">
                <a16:creationId xmlns:a16="http://schemas.microsoft.com/office/drawing/2014/main" id="{F9ED5D2D-6C2C-38FB-6C51-761C2DBDAC81}"/>
              </a:ext>
            </a:extLst>
          </p:cNvPr>
          <p:cNvPicPr>
            <a:picLocks noChangeAspect="1"/>
          </p:cNvPicPr>
          <p:nvPr/>
        </p:nvPicPr>
        <p:blipFill>
          <a:blip r:embed="rId21"/>
          <a:stretch>
            <a:fillRect/>
          </a:stretch>
        </p:blipFill>
        <p:spPr>
          <a:xfrm>
            <a:off x="7021146" y="2888517"/>
            <a:ext cx="2057400" cy="514350"/>
          </a:xfrm>
          <a:prstGeom prst="rect">
            <a:avLst/>
          </a:prstGeom>
        </p:spPr>
      </p:pic>
      <p:pic>
        <p:nvPicPr>
          <p:cNvPr id="4" name="Picture 6" descr="A picture containing logo&#10;&#10;Description automatically generated">
            <a:extLst>
              <a:ext uri="{FF2B5EF4-FFF2-40B4-BE49-F238E27FC236}">
                <a16:creationId xmlns:a16="http://schemas.microsoft.com/office/drawing/2014/main" id="{181B586D-90CE-3E56-1976-2B2864B6F278}"/>
              </a:ext>
            </a:extLst>
          </p:cNvPr>
          <p:cNvPicPr>
            <a:picLocks noChangeAspect="1"/>
          </p:cNvPicPr>
          <p:nvPr/>
        </p:nvPicPr>
        <p:blipFill>
          <a:blip r:embed="rId22"/>
          <a:stretch>
            <a:fillRect/>
          </a:stretch>
        </p:blipFill>
        <p:spPr>
          <a:xfrm>
            <a:off x="4744183" y="1106121"/>
            <a:ext cx="1238250" cy="933450"/>
          </a:xfrm>
          <a:prstGeom prst="rect">
            <a:avLst/>
          </a:prstGeom>
        </p:spPr>
      </p:pic>
      <p:pic>
        <p:nvPicPr>
          <p:cNvPr id="7" name="Picture 7" descr="A picture containing text&#10;&#10;Description automatically generated">
            <a:extLst>
              <a:ext uri="{FF2B5EF4-FFF2-40B4-BE49-F238E27FC236}">
                <a16:creationId xmlns:a16="http://schemas.microsoft.com/office/drawing/2014/main" id="{EE5E591C-071B-BCAE-95F7-1EE03219BE9B}"/>
              </a:ext>
            </a:extLst>
          </p:cNvPr>
          <p:cNvPicPr>
            <a:picLocks noChangeAspect="1"/>
          </p:cNvPicPr>
          <p:nvPr/>
        </p:nvPicPr>
        <p:blipFill>
          <a:blip r:embed="rId23"/>
          <a:stretch>
            <a:fillRect/>
          </a:stretch>
        </p:blipFill>
        <p:spPr>
          <a:xfrm>
            <a:off x="6437068" y="1514841"/>
            <a:ext cx="1408480" cy="878010"/>
          </a:xfrm>
          <a:prstGeom prst="rect">
            <a:avLst/>
          </a:prstGeom>
        </p:spPr>
      </p:pic>
      <p:pic>
        <p:nvPicPr>
          <p:cNvPr id="8" name="Picture 8" descr="A picture containing logo&#10;&#10;Description automatically generated">
            <a:extLst>
              <a:ext uri="{FF2B5EF4-FFF2-40B4-BE49-F238E27FC236}">
                <a16:creationId xmlns:a16="http://schemas.microsoft.com/office/drawing/2014/main" id="{0DAD689F-B9AF-F4FF-978F-A32FC7CC1633}"/>
              </a:ext>
            </a:extLst>
          </p:cNvPr>
          <p:cNvPicPr>
            <a:picLocks noChangeAspect="1"/>
          </p:cNvPicPr>
          <p:nvPr/>
        </p:nvPicPr>
        <p:blipFill>
          <a:blip r:embed="rId24"/>
          <a:stretch>
            <a:fillRect/>
          </a:stretch>
        </p:blipFill>
        <p:spPr>
          <a:xfrm>
            <a:off x="7838953" y="5637823"/>
            <a:ext cx="1252172" cy="506046"/>
          </a:xfrm>
          <a:prstGeom prst="rect">
            <a:avLst/>
          </a:prstGeom>
        </p:spPr>
      </p:pic>
      <p:pic>
        <p:nvPicPr>
          <p:cNvPr id="9" name="Picture 9" descr="Logo, company name&#10;&#10;Description automatically generated">
            <a:extLst>
              <a:ext uri="{FF2B5EF4-FFF2-40B4-BE49-F238E27FC236}">
                <a16:creationId xmlns:a16="http://schemas.microsoft.com/office/drawing/2014/main" id="{38E7F10D-A046-CBAE-D5A0-BE8D3F1A3EA6}"/>
              </a:ext>
            </a:extLst>
          </p:cNvPr>
          <p:cNvPicPr>
            <a:picLocks noChangeAspect="1"/>
          </p:cNvPicPr>
          <p:nvPr/>
        </p:nvPicPr>
        <p:blipFill>
          <a:blip r:embed="rId25"/>
          <a:stretch>
            <a:fillRect/>
          </a:stretch>
        </p:blipFill>
        <p:spPr>
          <a:xfrm>
            <a:off x="7885112" y="1028821"/>
            <a:ext cx="1189159" cy="775433"/>
          </a:xfrm>
          <a:prstGeom prst="rect">
            <a:avLst/>
          </a:prstGeom>
        </p:spPr>
      </p:pic>
      <p:pic>
        <p:nvPicPr>
          <p:cNvPr id="10" name="Picture 10">
            <a:extLst>
              <a:ext uri="{FF2B5EF4-FFF2-40B4-BE49-F238E27FC236}">
                <a16:creationId xmlns:a16="http://schemas.microsoft.com/office/drawing/2014/main" id="{98689158-EF76-8456-D190-515C4C32FDE0}"/>
              </a:ext>
            </a:extLst>
          </p:cNvPr>
          <p:cNvPicPr>
            <a:picLocks noChangeAspect="1"/>
          </p:cNvPicPr>
          <p:nvPr/>
        </p:nvPicPr>
        <p:blipFill>
          <a:blip r:embed="rId26"/>
          <a:stretch>
            <a:fillRect/>
          </a:stretch>
        </p:blipFill>
        <p:spPr>
          <a:xfrm>
            <a:off x="7858613" y="2043357"/>
            <a:ext cx="880697" cy="1022595"/>
          </a:xfrm>
          <a:prstGeom prst="rect">
            <a:avLst/>
          </a:prstGeom>
        </p:spPr>
      </p:pic>
    </p:spTree>
    <p:extLst>
      <p:ext uri="{BB962C8B-B14F-4D97-AF65-F5344CB8AC3E}">
        <p14:creationId xmlns:p14="http://schemas.microsoft.com/office/powerpoint/2010/main" val="2496277487"/>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Line 2"/>
          <p:cNvSpPr>
            <a:spLocks noChangeShapeType="1"/>
          </p:cNvSpPr>
          <p:nvPr/>
        </p:nvSpPr>
        <p:spPr bwMode="auto">
          <a:xfrm>
            <a:off x="7772400" y="3276600"/>
            <a:ext cx="381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35" name="Line 3"/>
          <p:cNvSpPr>
            <a:spLocks noChangeShapeType="1"/>
          </p:cNvSpPr>
          <p:nvPr/>
        </p:nvSpPr>
        <p:spPr bwMode="auto">
          <a:xfrm>
            <a:off x="4114800" y="3276600"/>
            <a:ext cx="1828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36" name="Line 4"/>
          <p:cNvSpPr>
            <a:spLocks noChangeShapeType="1"/>
          </p:cNvSpPr>
          <p:nvPr/>
        </p:nvSpPr>
        <p:spPr bwMode="auto">
          <a:xfrm>
            <a:off x="5943600" y="3276600"/>
            <a:ext cx="1828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37" name="Line 5"/>
          <p:cNvSpPr>
            <a:spLocks noChangeShapeType="1"/>
          </p:cNvSpPr>
          <p:nvPr/>
        </p:nvSpPr>
        <p:spPr bwMode="auto">
          <a:xfrm>
            <a:off x="3733800" y="3276600"/>
            <a:ext cx="381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38" name="Rectangle 7"/>
          <p:cNvSpPr>
            <a:spLocks noChangeArrowheads="1"/>
          </p:cNvSpPr>
          <p:nvPr/>
        </p:nvSpPr>
        <p:spPr bwMode="auto">
          <a:xfrm>
            <a:off x="2971800" y="2819400"/>
            <a:ext cx="762000" cy="838200"/>
          </a:xfrm>
          <a:prstGeom prst="rect">
            <a:avLst/>
          </a:prstGeom>
          <a:solidFill>
            <a:schemeClr val="hlink"/>
          </a:solidFill>
          <a:ln>
            <a:noFill/>
          </a:ln>
          <a:effectLst>
            <a:outerShdw dist="17961" dir="2700000" algn="ctr" rotWithShape="0">
              <a:srgbClr val="808080"/>
            </a:outerShdw>
          </a:effectLst>
          <a:extLst>
            <a:ext uri="{91240B29-F687-4F45-9708-019B960494DF}">
              <a14:hiddenLine xmlns:a14="http://schemas.microsoft.com/office/drawing/2010/main" w="9525">
                <a:solidFill>
                  <a:schemeClr val="tx1"/>
                </a:solidFill>
                <a:miter lim="800000"/>
                <a:headEnd/>
                <a:tailEnd/>
              </a14:hiddenLine>
            </a:ext>
          </a:extLst>
        </p:spPr>
        <p:txBody>
          <a:bodyPr wrap="none" lIns="91338" tIns="45668" rIns="91338" bIns="45668" anchor="ctr"/>
          <a:lstStyle/>
          <a:p>
            <a:pPr algn="ctr" eaLnBrk="1" hangingPunct="1"/>
            <a:r>
              <a:rPr lang="en-US" sz="1000"/>
              <a:t>Processing </a:t>
            </a:r>
          </a:p>
          <a:p>
            <a:pPr algn="ctr" eaLnBrk="1" hangingPunct="1"/>
            <a:r>
              <a:rPr lang="en-US" sz="1000"/>
              <a:t>Plant/</a:t>
            </a:r>
          </a:p>
          <a:p>
            <a:pPr algn="ctr" eaLnBrk="1" hangingPunct="1"/>
            <a:r>
              <a:rPr lang="en-US" sz="1000"/>
              <a:t>Terminal</a:t>
            </a:r>
          </a:p>
        </p:txBody>
      </p:sp>
      <p:sp>
        <p:nvSpPr>
          <p:cNvPr id="18439" name="Line 8"/>
          <p:cNvSpPr>
            <a:spLocks noChangeShapeType="1"/>
          </p:cNvSpPr>
          <p:nvPr/>
        </p:nvSpPr>
        <p:spPr bwMode="auto">
          <a:xfrm flipH="1">
            <a:off x="6553200" y="2362200"/>
            <a:ext cx="228600" cy="9144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0" name="Line 9"/>
          <p:cNvSpPr>
            <a:spLocks noChangeShapeType="1"/>
          </p:cNvSpPr>
          <p:nvPr/>
        </p:nvSpPr>
        <p:spPr bwMode="auto">
          <a:xfrm>
            <a:off x="7010400" y="2895600"/>
            <a:ext cx="76200" cy="381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1" name="Line 10"/>
          <p:cNvSpPr>
            <a:spLocks noChangeShapeType="1"/>
          </p:cNvSpPr>
          <p:nvPr/>
        </p:nvSpPr>
        <p:spPr bwMode="auto">
          <a:xfrm flipV="1">
            <a:off x="7086600" y="2819400"/>
            <a:ext cx="304800" cy="4572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1499" name="Oval 11"/>
          <p:cNvSpPr>
            <a:spLocks noChangeArrowheads="1"/>
          </p:cNvSpPr>
          <p:nvPr/>
        </p:nvSpPr>
        <p:spPr bwMode="auto">
          <a:xfrm>
            <a:off x="6629400" y="2209800"/>
            <a:ext cx="381000" cy="381000"/>
          </a:xfrm>
          <a:prstGeom prst="ellipse">
            <a:avLst/>
          </a:prstGeom>
          <a:solidFill>
            <a:schemeClr val="accent1"/>
          </a:solidFill>
          <a:ln>
            <a:noFill/>
          </a:ln>
          <a:effectLst>
            <a:prstShdw prst="shdw17" dist="17961" dir="2700000">
              <a:schemeClr val="accent1">
                <a:gamma/>
                <a:shade val="60000"/>
                <a:invGamma/>
              </a:schemeClr>
            </a:prstShdw>
          </a:effectLst>
          <a:extLst>
            <a:ext uri="{91240B29-F687-4F45-9708-019B960494DF}">
              <a14:hiddenLine xmlns:a14="http://schemas.microsoft.com/office/drawing/2010/main" w="9525">
                <a:solidFill>
                  <a:schemeClr val="tx1"/>
                </a:solidFill>
                <a:round/>
                <a:headEnd/>
                <a:tailEnd/>
              </a14:hiddenLine>
            </a:ext>
          </a:extLst>
        </p:spPr>
        <p:txBody>
          <a:bodyPr wrap="none" anchor="ctr"/>
          <a:lstStyle/>
          <a:p>
            <a:pPr>
              <a:defRPr/>
            </a:pPr>
            <a:endParaRPr lang="en-US"/>
          </a:p>
        </p:txBody>
      </p:sp>
      <p:sp>
        <p:nvSpPr>
          <p:cNvPr id="191500" name="Oval 12"/>
          <p:cNvSpPr>
            <a:spLocks noChangeArrowheads="1"/>
          </p:cNvSpPr>
          <p:nvPr/>
        </p:nvSpPr>
        <p:spPr bwMode="auto">
          <a:xfrm>
            <a:off x="6934200" y="2743200"/>
            <a:ext cx="152400" cy="152400"/>
          </a:xfrm>
          <a:prstGeom prst="ellipse">
            <a:avLst/>
          </a:prstGeom>
          <a:solidFill>
            <a:schemeClr val="accent1"/>
          </a:solidFill>
          <a:ln>
            <a:noFill/>
          </a:ln>
          <a:effectLst>
            <a:prstShdw prst="shdw17" dist="17961" dir="2700000">
              <a:schemeClr val="accent1">
                <a:gamma/>
                <a:shade val="60000"/>
                <a:invGamma/>
              </a:schemeClr>
            </a:prstShdw>
          </a:effectLst>
          <a:extLst>
            <a:ext uri="{91240B29-F687-4F45-9708-019B960494DF}">
              <a14:hiddenLine xmlns:a14="http://schemas.microsoft.com/office/drawing/2010/main" w="9525">
                <a:solidFill>
                  <a:schemeClr val="tx1"/>
                </a:solidFill>
                <a:round/>
                <a:headEnd/>
                <a:tailEnd/>
              </a14:hiddenLine>
            </a:ext>
          </a:extLst>
        </p:spPr>
        <p:txBody>
          <a:bodyPr wrap="none" anchor="ctr"/>
          <a:lstStyle/>
          <a:p>
            <a:pPr>
              <a:defRPr/>
            </a:pPr>
            <a:endParaRPr lang="en-US"/>
          </a:p>
        </p:txBody>
      </p:sp>
      <p:sp>
        <p:nvSpPr>
          <p:cNvPr id="191501" name="Oval 13"/>
          <p:cNvSpPr>
            <a:spLocks noChangeArrowheads="1"/>
          </p:cNvSpPr>
          <p:nvPr/>
        </p:nvSpPr>
        <p:spPr bwMode="auto">
          <a:xfrm>
            <a:off x="7315200" y="2590800"/>
            <a:ext cx="304800" cy="304800"/>
          </a:xfrm>
          <a:prstGeom prst="ellipse">
            <a:avLst/>
          </a:prstGeom>
          <a:solidFill>
            <a:schemeClr val="accent1"/>
          </a:solidFill>
          <a:ln>
            <a:noFill/>
          </a:ln>
          <a:effectLst>
            <a:prstShdw prst="shdw17" dist="17961" dir="2700000">
              <a:schemeClr val="accent1">
                <a:gamma/>
                <a:shade val="60000"/>
                <a:invGamma/>
              </a:schemeClr>
            </a:prstShdw>
          </a:effectLst>
          <a:extLst>
            <a:ext uri="{91240B29-F687-4F45-9708-019B960494DF}">
              <a14:hiddenLine xmlns:a14="http://schemas.microsoft.com/office/drawing/2010/main" w="9525">
                <a:solidFill>
                  <a:schemeClr val="tx1"/>
                </a:solidFill>
                <a:round/>
                <a:headEnd/>
                <a:tailEnd/>
              </a14:hiddenLine>
            </a:ext>
          </a:extLst>
        </p:spPr>
        <p:txBody>
          <a:bodyPr wrap="none" anchor="ctr"/>
          <a:lstStyle/>
          <a:p>
            <a:pPr>
              <a:defRPr/>
            </a:pPr>
            <a:endParaRPr lang="en-US"/>
          </a:p>
        </p:txBody>
      </p:sp>
      <p:sp>
        <p:nvSpPr>
          <p:cNvPr id="18445" name="Rectangle 14"/>
          <p:cNvSpPr>
            <a:spLocks noChangeArrowheads="1"/>
          </p:cNvSpPr>
          <p:nvPr/>
        </p:nvSpPr>
        <p:spPr bwMode="auto">
          <a:xfrm>
            <a:off x="7924800" y="3048000"/>
            <a:ext cx="381000" cy="457200"/>
          </a:xfrm>
          <a:prstGeom prst="rect">
            <a:avLst/>
          </a:prstGeom>
          <a:solidFill>
            <a:schemeClr val="hlink"/>
          </a:solidFill>
          <a:ln>
            <a:noFill/>
          </a:ln>
          <a:effectLst>
            <a:outerShdw dist="17961" dir="2700000" algn="ctr" rotWithShape="0">
              <a:srgbClr val="808080"/>
            </a:outerShdw>
          </a:effectLst>
          <a:extLst>
            <a:ext uri="{91240B29-F687-4F45-9708-019B960494DF}">
              <a14:hiddenLine xmlns:a14="http://schemas.microsoft.com/office/drawing/2010/main" w="9525">
                <a:solidFill>
                  <a:schemeClr val="tx1"/>
                </a:solidFill>
                <a:miter lim="800000"/>
                <a:headEnd/>
                <a:tailEnd/>
              </a14:hiddenLine>
            </a:ext>
          </a:extLst>
        </p:spPr>
        <p:txBody>
          <a:bodyPr wrap="none" lIns="91338" tIns="45668" rIns="91338" bIns="45668" anchor="ctr"/>
          <a:lstStyle/>
          <a:p>
            <a:pPr algn="ctr" eaLnBrk="1" hangingPunct="1"/>
            <a:r>
              <a:rPr lang="en-US" sz="1000"/>
              <a:t>LDC</a:t>
            </a:r>
          </a:p>
        </p:txBody>
      </p:sp>
      <p:sp>
        <p:nvSpPr>
          <p:cNvPr id="18446" name="Text Box 15"/>
          <p:cNvSpPr txBox="1">
            <a:spLocks noChangeArrowheads="1"/>
          </p:cNvSpPr>
          <p:nvPr/>
        </p:nvSpPr>
        <p:spPr bwMode="auto">
          <a:xfrm>
            <a:off x="7162800" y="2057400"/>
            <a:ext cx="701675"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338" tIns="45668" rIns="91338" bIns="45668">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000"/>
              <a:t>Storage</a:t>
            </a:r>
          </a:p>
        </p:txBody>
      </p:sp>
      <p:sp>
        <p:nvSpPr>
          <p:cNvPr id="18447" name="Line 16"/>
          <p:cNvSpPr>
            <a:spLocks noChangeShapeType="1"/>
          </p:cNvSpPr>
          <p:nvPr/>
        </p:nvSpPr>
        <p:spPr bwMode="auto">
          <a:xfrm>
            <a:off x="4419600" y="2133600"/>
            <a:ext cx="304800" cy="1143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8" name="Line 17"/>
          <p:cNvSpPr>
            <a:spLocks noChangeShapeType="1"/>
          </p:cNvSpPr>
          <p:nvPr/>
        </p:nvSpPr>
        <p:spPr bwMode="auto">
          <a:xfrm flipV="1">
            <a:off x="4419600" y="3276600"/>
            <a:ext cx="76200" cy="381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9" name="Line 18"/>
          <p:cNvSpPr>
            <a:spLocks noChangeShapeType="1"/>
          </p:cNvSpPr>
          <p:nvPr/>
        </p:nvSpPr>
        <p:spPr bwMode="auto">
          <a:xfrm flipV="1">
            <a:off x="4495800" y="1981200"/>
            <a:ext cx="457200" cy="381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50" name="Line 19"/>
          <p:cNvSpPr>
            <a:spLocks noChangeShapeType="1"/>
          </p:cNvSpPr>
          <p:nvPr/>
        </p:nvSpPr>
        <p:spPr bwMode="auto">
          <a:xfrm flipH="1">
            <a:off x="4953000" y="3276600"/>
            <a:ext cx="76200" cy="381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51" name="Text Box 20"/>
          <p:cNvSpPr txBox="1">
            <a:spLocks noChangeArrowheads="1"/>
          </p:cNvSpPr>
          <p:nvPr/>
        </p:nvSpPr>
        <p:spPr bwMode="auto">
          <a:xfrm>
            <a:off x="2819400" y="1676400"/>
            <a:ext cx="963613" cy="254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38" tIns="45668" rIns="91338" bIns="45668">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000" b="1"/>
              <a:t>MIDSTREAM</a:t>
            </a:r>
          </a:p>
        </p:txBody>
      </p:sp>
      <p:sp>
        <p:nvSpPr>
          <p:cNvPr id="18452" name="Text Box 21"/>
          <p:cNvSpPr txBox="1">
            <a:spLocks noChangeArrowheads="1"/>
          </p:cNvSpPr>
          <p:nvPr/>
        </p:nvSpPr>
        <p:spPr bwMode="auto">
          <a:xfrm>
            <a:off x="4191000" y="1676400"/>
            <a:ext cx="1609725" cy="254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38" tIns="45668" rIns="91338" bIns="45668">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000" b="1"/>
              <a:t>INTRASTATE PIPELINE</a:t>
            </a:r>
          </a:p>
        </p:txBody>
      </p:sp>
      <p:sp>
        <p:nvSpPr>
          <p:cNvPr id="18453" name="Text Box 22"/>
          <p:cNvSpPr txBox="1">
            <a:spLocks noChangeArrowheads="1"/>
          </p:cNvSpPr>
          <p:nvPr/>
        </p:nvSpPr>
        <p:spPr bwMode="auto">
          <a:xfrm>
            <a:off x="6096000" y="1676400"/>
            <a:ext cx="1601788" cy="254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38" tIns="45668" rIns="91338" bIns="45668">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000" b="1"/>
              <a:t>INTERSTATE PIPELINE</a:t>
            </a:r>
          </a:p>
        </p:txBody>
      </p:sp>
      <p:sp>
        <p:nvSpPr>
          <p:cNvPr id="18454" name="Text Box 23"/>
          <p:cNvSpPr txBox="1">
            <a:spLocks noChangeArrowheads="1"/>
          </p:cNvSpPr>
          <p:nvPr/>
        </p:nvSpPr>
        <p:spPr bwMode="auto">
          <a:xfrm>
            <a:off x="7848600" y="1676400"/>
            <a:ext cx="1143000" cy="55389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338" tIns="45668" rIns="91338" bIns="45668">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sz="1000" b="1"/>
              <a:t>LOCAL</a:t>
            </a:r>
          </a:p>
          <a:p>
            <a:pPr algn="ctr" eaLnBrk="1" hangingPunct="1"/>
            <a:r>
              <a:rPr lang="en-US" sz="1000" b="1"/>
              <a:t>DISTRIBUTION</a:t>
            </a:r>
          </a:p>
          <a:p>
            <a:pPr algn="ctr" eaLnBrk="1" hangingPunct="1"/>
            <a:r>
              <a:rPr lang="en-US" sz="1000" b="1"/>
              <a:t>COMPANY</a:t>
            </a:r>
          </a:p>
        </p:txBody>
      </p:sp>
      <p:sp>
        <p:nvSpPr>
          <p:cNvPr id="18455" name="Line 24"/>
          <p:cNvSpPr>
            <a:spLocks noChangeShapeType="1"/>
          </p:cNvSpPr>
          <p:nvPr/>
        </p:nvSpPr>
        <p:spPr bwMode="auto">
          <a:xfrm flipV="1">
            <a:off x="8305800" y="2819400"/>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56" name="Line 25"/>
          <p:cNvSpPr>
            <a:spLocks noChangeShapeType="1"/>
          </p:cNvSpPr>
          <p:nvPr/>
        </p:nvSpPr>
        <p:spPr bwMode="auto">
          <a:xfrm>
            <a:off x="8305800" y="3276600"/>
            <a:ext cx="304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57" name="Line 26"/>
          <p:cNvSpPr>
            <a:spLocks noChangeShapeType="1"/>
          </p:cNvSpPr>
          <p:nvPr/>
        </p:nvSpPr>
        <p:spPr bwMode="auto">
          <a:xfrm>
            <a:off x="8305800" y="3276600"/>
            <a:ext cx="3048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58" name="Line 27"/>
          <p:cNvSpPr>
            <a:spLocks noChangeShapeType="1"/>
          </p:cNvSpPr>
          <p:nvPr/>
        </p:nvSpPr>
        <p:spPr bwMode="auto">
          <a:xfrm flipV="1">
            <a:off x="8305800" y="3124200"/>
            <a:ext cx="30480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59" name="Line 28"/>
          <p:cNvSpPr>
            <a:spLocks noChangeShapeType="1"/>
          </p:cNvSpPr>
          <p:nvPr/>
        </p:nvSpPr>
        <p:spPr bwMode="auto">
          <a:xfrm>
            <a:off x="8305800" y="3276600"/>
            <a:ext cx="30480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60" name="Line 29"/>
          <p:cNvSpPr>
            <a:spLocks noChangeShapeType="1"/>
          </p:cNvSpPr>
          <p:nvPr/>
        </p:nvSpPr>
        <p:spPr bwMode="auto">
          <a:xfrm flipV="1">
            <a:off x="8305800" y="2971800"/>
            <a:ext cx="3048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61" name="Text Box 30"/>
          <p:cNvSpPr txBox="1">
            <a:spLocks noChangeArrowheads="1"/>
          </p:cNvSpPr>
          <p:nvPr/>
        </p:nvSpPr>
        <p:spPr bwMode="auto">
          <a:xfrm>
            <a:off x="4953000" y="2438400"/>
            <a:ext cx="5715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38" tIns="45668" rIns="91338" bIns="45668">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000"/>
              <a:t>Meters</a:t>
            </a:r>
          </a:p>
        </p:txBody>
      </p:sp>
      <p:sp>
        <p:nvSpPr>
          <p:cNvPr id="18462" name="Line 31"/>
          <p:cNvSpPr>
            <a:spLocks noChangeShapeType="1"/>
          </p:cNvSpPr>
          <p:nvPr/>
        </p:nvSpPr>
        <p:spPr bwMode="auto">
          <a:xfrm flipH="1" flipV="1">
            <a:off x="4876800" y="2590800"/>
            <a:ext cx="152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63" name="Line 32"/>
          <p:cNvSpPr>
            <a:spLocks noChangeShapeType="1"/>
          </p:cNvSpPr>
          <p:nvPr/>
        </p:nvSpPr>
        <p:spPr bwMode="auto">
          <a:xfrm flipH="1">
            <a:off x="4724400" y="2590800"/>
            <a:ext cx="152400" cy="609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64" name="Line 33"/>
          <p:cNvSpPr>
            <a:spLocks noChangeShapeType="1"/>
          </p:cNvSpPr>
          <p:nvPr/>
        </p:nvSpPr>
        <p:spPr bwMode="auto">
          <a:xfrm flipH="1" flipV="1">
            <a:off x="4495800" y="2438400"/>
            <a:ext cx="38100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65" name="Line 34"/>
          <p:cNvSpPr>
            <a:spLocks noChangeShapeType="1"/>
          </p:cNvSpPr>
          <p:nvPr/>
        </p:nvSpPr>
        <p:spPr bwMode="auto">
          <a:xfrm flipH="1">
            <a:off x="7010400" y="2209800"/>
            <a:ext cx="22860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66" name="AutoShape 35"/>
          <p:cNvSpPr>
            <a:spLocks noChangeArrowheads="1"/>
          </p:cNvSpPr>
          <p:nvPr/>
        </p:nvSpPr>
        <p:spPr bwMode="auto">
          <a:xfrm>
            <a:off x="8610600" y="2743200"/>
            <a:ext cx="76200" cy="76200"/>
          </a:xfrm>
          <a:prstGeom prst="triangle">
            <a:avLst>
              <a:gd name="adj" fmla="val 50000"/>
            </a:avLst>
          </a:prstGeom>
          <a:solidFill>
            <a:srgbClr val="9966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67" name="Rectangle 36"/>
          <p:cNvSpPr>
            <a:spLocks noChangeArrowheads="1"/>
          </p:cNvSpPr>
          <p:nvPr/>
        </p:nvSpPr>
        <p:spPr bwMode="auto">
          <a:xfrm>
            <a:off x="8610600" y="2819400"/>
            <a:ext cx="76200" cy="76200"/>
          </a:xfrm>
          <a:prstGeom prst="rect">
            <a:avLst/>
          </a:prstGeom>
          <a:solidFill>
            <a:srgbClr val="9966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68" name="AutoShape 37"/>
          <p:cNvSpPr>
            <a:spLocks noChangeArrowheads="1"/>
          </p:cNvSpPr>
          <p:nvPr/>
        </p:nvSpPr>
        <p:spPr bwMode="auto">
          <a:xfrm>
            <a:off x="8610600" y="2895600"/>
            <a:ext cx="76200" cy="76200"/>
          </a:xfrm>
          <a:prstGeom prst="triangle">
            <a:avLst>
              <a:gd name="adj" fmla="val 50000"/>
            </a:avLst>
          </a:prstGeom>
          <a:solidFill>
            <a:srgbClr val="9966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69" name="Rectangle 38"/>
          <p:cNvSpPr>
            <a:spLocks noChangeArrowheads="1"/>
          </p:cNvSpPr>
          <p:nvPr/>
        </p:nvSpPr>
        <p:spPr bwMode="auto">
          <a:xfrm>
            <a:off x="8610600" y="2971800"/>
            <a:ext cx="76200" cy="76200"/>
          </a:xfrm>
          <a:prstGeom prst="rect">
            <a:avLst/>
          </a:prstGeom>
          <a:solidFill>
            <a:srgbClr val="9966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70" name="AutoShape 39"/>
          <p:cNvSpPr>
            <a:spLocks noChangeArrowheads="1"/>
          </p:cNvSpPr>
          <p:nvPr/>
        </p:nvSpPr>
        <p:spPr bwMode="auto">
          <a:xfrm>
            <a:off x="8610600" y="3048000"/>
            <a:ext cx="76200" cy="76200"/>
          </a:xfrm>
          <a:prstGeom prst="triangle">
            <a:avLst>
              <a:gd name="adj" fmla="val 50000"/>
            </a:avLst>
          </a:prstGeom>
          <a:solidFill>
            <a:srgbClr val="9966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71" name="Rectangle 40"/>
          <p:cNvSpPr>
            <a:spLocks noChangeArrowheads="1"/>
          </p:cNvSpPr>
          <p:nvPr/>
        </p:nvSpPr>
        <p:spPr bwMode="auto">
          <a:xfrm>
            <a:off x="8610600" y="3124200"/>
            <a:ext cx="76200" cy="76200"/>
          </a:xfrm>
          <a:prstGeom prst="rect">
            <a:avLst/>
          </a:prstGeom>
          <a:solidFill>
            <a:srgbClr val="9966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72" name="AutoShape 41"/>
          <p:cNvSpPr>
            <a:spLocks noChangeArrowheads="1"/>
          </p:cNvSpPr>
          <p:nvPr/>
        </p:nvSpPr>
        <p:spPr bwMode="auto">
          <a:xfrm>
            <a:off x="8610600" y="3200400"/>
            <a:ext cx="76200" cy="76200"/>
          </a:xfrm>
          <a:prstGeom prst="triangle">
            <a:avLst>
              <a:gd name="adj" fmla="val 50000"/>
            </a:avLst>
          </a:prstGeom>
          <a:solidFill>
            <a:srgbClr val="9966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73" name="Rectangle 42"/>
          <p:cNvSpPr>
            <a:spLocks noChangeArrowheads="1"/>
          </p:cNvSpPr>
          <p:nvPr/>
        </p:nvSpPr>
        <p:spPr bwMode="auto">
          <a:xfrm>
            <a:off x="8610600" y="3276600"/>
            <a:ext cx="76200" cy="76200"/>
          </a:xfrm>
          <a:prstGeom prst="rect">
            <a:avLst/>
          </a:prstGeom>
          <a:solidFill>
            <a:srgbClr val="9966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74" name="AutoShape 43"/>
          <p:cNvSpPr>
            <a:spLocks noChangeArrowheads="1"/>
          </p:cNvSpPr>
          <p:nvPr/>
        </p:nvSpPr>
        <p:spPr bwMode="auto">
          <a:xfrm>
            <a:off x="8610600" y="3505200"/>
            <a:ext cx="76200" cy="76200"/>
          </a:xfrm>
          <a:prstGeom prst="triangle">
            <a:avLst>
              <a:gd name="adj" fmla="val 50000"/>
            </a:avLst>
          </a:prstGeom>
          <a:solidFill>
            <a:srgbClr val="9966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75" name="Rectangle 44"/>
          <p:cNvSpPr>
            <a:spLocks noChangeArrowheads="1"/>
          </p:cNvSpPr>
          <p:nvPr/>
        </p:nvSpPr>
        <p:spPr bwMode="auto">
          <a:xfrm>
            <a:off x="8610600" y="3581400"/>
            <a:ext cx="76200" cy="76200"/>
          </a:xfrm>
          <a:prstGeom prst="rect">
            <a:avLst/>
          </a:prstGeom>
          <a:solidFill>
            <a:srgbClr val="9966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76" name="AutoShape 45"/>
          <p:cNvSpPr>
            <a:spLocks noChangeArrowheads="1"/>
          </p:cNvSpPr>
          <p:nvPr/>
        </p:nvSpPr>
        <p:spPr bwMode="auto">
          <a:xfrm>
            <a:off x="8610600" y="3352800"/>
            <a:ext cx="76200" cy="76200"/>
          </a:xfrm>
          <a:prstGeom prst="triangle">
            <a:avLst>
              <a:gd name="adj" fmla="val 50000"/>
            </a:avLst>
          </a:prstGeom>
          <a:solidFill>
            <a:srgbClr val="9966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77" name="Rectangle 46"/>
          <p:cNvSpPr>
            <a:spLocks noChangeArrowheads="1"/>
          </p:cNvSpPr>
          <p:nvPr/>
        </p:nvSpPr>
        <p:spPr bwMode="auto">
          <a:xfrm>
            <a:off x="8610600" y="3429000"/>
            <a:ext cx="76200" cy="76200"/>
          </a:xfrm>
          <a:prstGeom prst="rect">
            <a:avLst/>
          </a:prstGeom>
          <a:solidFill>
            <a:srgbClr val="9966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78" name="Text Box 47"/>
          <p:cNvSpPr txBox="1">
            <a:spLocks noChangeArrowheads="1"/>
          </p:cNvSpPr>
          <p:nvPr/>
        </p:nvSpPr>
        <p:spPr bwMode="auto">
          <a:xfrm>
            <a:off x="6172200" y="1981200"/>
            <a:ext cx="750888"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38" tIns="45668" rIns="91338" bIns="45668">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000"/>
              <a:t>State Line</a:t>
            </a:r>
          </a:p>
        </p:txBody>
      </p:sp>
      <p:sp>
        <p:nvSpPr>
          <p:cNvPr id="18479" name="Line 48"/>
          <p:cNvSpPr>
            <a:spLocks noChangeShapeType="1"/>
          </p:cNvSpPr>
          <p:nvPr/>
        </p:nvSpPr>
        <p:spPr bwMode="auto">
          <a:xfrm flipH="1">
            <a:off x="5943600" y="2133600"/>
            <a:ext cx="152400" cy="76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80" name="Line 49"/>
          <p:cNvSpPr>
            <a:spLocks noChangeShapeType="1"/>
          </p:cNvSpPr>
          <p:nvPr/>
        </p:nvSpPr>
        <p:spPr bwMode="auto">
          <a:xfrm flipH="1">
            <a:off x="6096000" y="2133600"/>
            <a:ext cx="152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81" name="Rectangle 50"/>
          <p:cNvSpPr>
            <a:spLocks noChangeArrowheads="1"/>
          </p:cNvSpPr>
          <p:nvPr/>
        </p:nvSpPr>
        <p:spPr bwMode="auto">
          <a:xfrm>
            <a:off x="2362200" y="2819400"/>
            <a:ext cx="55563" cy="539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82" name="Rectangle 51"/>
          <p:cNvSpPr>
            <a:spLocks noChangeArrowheads="1"/>
          </p:cNvSpPr>
          <p:nvPr/>
        </p:nvSpPr>
        <p:spPr bwMode="auto">
          <a:xfrm>
            <a:off x="4464050" y="3252788"/>
            <a:ext cx="55563" cy="539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83" name="Rectangle 52"/>
          <p:cNvSpPr>
            <a:spLocks noChangeArrowheads="1"/>
          </p:cNvSpPr>
          <p:nvPr/>
        </p:nvSpPr>
        <p:spPr bwMode="auto">
          <a:xfrm>
            <a:off x="4692650" y="3243263"/>
            <a:ext cx="55563" cy="539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84" name="Rectangle 53"/>
          <p:cNvSpPr>
            <a:spLocks noChangeArrowheads="1"/>
          </p:cNvSpPr>
          <p:nvPr/>
        </p:nvSpPr>
        <p:spPr bwMode="auto">
          <a:xfrm>
            <a:off x="4464050" y="2386013"/>
            <a:ext cx="55563" cy="539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85" name="Rectangle 54"/>
          <p:cNvSpPr>
            <a:spLocks noChangeArrowheads="1"/>
          </p:cNvSpPr>
          <p:nvPr/>
        </p:nvSpPr>
        <p:spPr bwMode="auto">
          <a:xfrm>
            <a:off x="5002213" y="3252788"/>
            <a:ext cx="55562" cy="539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86" name="Rectangle 55"/>
          <p:cNvSpPr>
            <a:spLocks noChangeArrowheads="1"/>
          </p:cNvSpPr>
          <p:nvPr/>
        </p:nvSpPr>
        <p:spPr bwMode="auto">
          <a:xfrm>
            <a:off x="6535738" y="3243263"/>
            <a:ext cx="55562" cy="539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87" name="Rectangle 56"/>
          <p:cNvSpPr>
            <a:spLocks noChangeArrowheads="1"/>
          </p:cNvSpPr>
          <p:nvPr/>
        </p:nvSpPr>
        <p:spPr bwMode="auto">
          <a:xfrm>
            <a:off x="7064375" y="3248025"/>
            <a:ext cx="55563" cy="539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88" name="Rectangle 57"/>
          <p:cNvSpPr>
            <a:spLocks noChangeArrowheads="1"/>
          </p:cNvSpPr>
          <p:nvPr/>
        </p:nvSpPr>
        <p:spPr bwMode="auto">
          <a:xfrm>
            <a:off x="7673975" y="3248025"/>
            <a:ext cx="55563" cy="539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89" name="Rectangle 58"/>
          <p:cNvSpPr>
            <a:spLocks noChangeArrowheads="1"/>
          </p:cNvSpPr>
          <p:nvPr/>
        </p:nvSpPr>
        <p:spPr bwMode="auto">
          <a:xfrm>
            <a:off x="2895600" y="3200400"/>
            <a:ext cx="55563" cy="539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90" name="Rectangle 59"/>
          <p:cNvSpPr>
            <a:spLocks noChangeArrowheads="1"/>
          </p:cNvSpPr>
          <p:nvPr/>
        </p:nvSpPr>
        <p:spPr bwMode="auto">
          <a:xfrm>
            <a:off x="3773488" y="3243263"/>
            <a:ext cx="55562" cy="539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91" name="Line 60"/>
          <p:cNvSpPr>
            <a:spLocks noChangeShapeType="1"/>
          </p:cNvSpPr>
          <p:nvPr/>
        </p:nvSpPr>
        <p:spPr bwMode="auto">
          <a:xfrm>
            <a:off x="2438400" y="1600200"/>
            <a:ext cx="0" cy="22860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92" name="Line 61"/>
          <p:cNvSpPr>
            <a:spLocks noChangeShapeType="1"/>
          </p:cNvSpPr>
          <p:nvPr/>
        </p:nvSpPr>
        <p:spPr bwMode="auto">
          <a:xfrm>
            <a:off x="4114800" y="1600200"/>
            <a:ext cx="0" cy="22860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93" name="Line 62"/>
          <p:cNvSpPr>
            <a:spLocks noChangeShapeType="1"/>
          </p:cNvSpPr>
          <p:nvPr/>
        </p:nvSpPr>
        <p:spPr bwMode="auto">
          <a:xfrm>
            <a:off x="5943600" y="1600200"/>
            <a:ext cx="0" cy="22860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94" name="Line 63"/>
          <p:cNvSpPr>
            <a:spLocks noChangeShapeType="1"/>
          </p:cNvSpPr>
          <p:nvPr/>
        </p:nvSpPr>
        <p:spPr bwMode="auto">
          <a:xfrm>
            <a:off x="7772400" y="1600200"/>
            <a:ext cx="0" cy="22860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95" name="Text Box 64"/>
          <p:cNvSpPr txBox="1">
            <a:spLocks noChangeArrowheads="1"/>
          </p:cNvSpPr>
          <p:nvPr/>
        </p:nvSpPr>
        <p:spPr bwMode="auto">
          <a:xfrm>
            <a:off x="490538" y="4495800"/>
            <a:ext cx="827246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spcBef>
                <a:spcPct val="50000"/>
              </a:spcBef>
            </a:pPr>
            <a:r>
              <a:rPr lang="en-US" sz="2400" b="1"/>
              <a:t>Physical value chain from wellhead to burner tip</a:t>
            </a:r>
          </a:p>
        </p:txBody>
      </p:sp>
      <p:sp>
        <p:nvSpPr>
          <p:cNvPr id="18496" name="Line 66"/>
          <p:cNvSpPr>
            <a:spLocks noChangeShapeType="1"/>
          </p:cNvSpPr>
          <p:nvPr/>
        </p:nvSpPr>
        <p:spPr bwMode="auto">
          <a:xfrm flipH="1" flipV="1">
            <a:off x="1404938" y="2543175"/>
            <a:ext cx="957262" cy="2762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97" name="Text Box 65"/>
          <p:cNvSpPr txBox="1">
            <a:spLocks noChangeArrowheads="1"/>
          </p:cNvSpPr>
          <p:nvPr/>
        </p:nvSpPr>
        <p:spPr bwMode="auto">
          <a:xfrm>
            <a:off x="1143000" y="1676400"/>
            <a:ext cx="906463" cy="254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38" tIns="45668" rIns="91338" bIns="45668">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000" b="1"/>
              <a:t>UPSTREAM</a:t>
            </a:r>
          </a:p>
        </p:txBody>
      </p:sp>
      <p:sp>
        <p:nvSpPr>
          <p:cNvPr id="18498" name="Line 6"/>
          <p:cNvSpPr>
            <a:spLocks noChangeShapeType="1"/>
          </p:cNvSpPr>
          <p:nvPr/>
        </p:nvSpPr>
        <p:spPr bwMode="auto">
          <a:xfrm>
            <a:off x="2362200" y="2819400"/>
            <a:ext cx="609600" cy="4572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8499" name="Group 67"/>
          <p:cNvGrpSpPr>
            <a:grpSpLocks/>
          </p:cNvGrpSpPr>
          <p:nvPr/>
        </p:nvGrpSpPr>
        <p:grpSpPr bwMode="auto">
          <a:xfrm>
            <a:off x="304800" y="1981200"/>
            <a:ext cx="1998663" cy="1692275"/>
            <a:chOff x="192" y="1248"/>
            <a:chExt cx="1259" cy="1066"/>
          </a:xfrm>
        </p:grpSpPr>
        <p:pic>
          <p:nvPicPr>
            <p:cNvPr id="18501" name="Picture 6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4" y="1462"/>
              <a:ext cx="1027" cy="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502" name="Oval 69"/>
            <p:cNvSpPr>
              <a:spLocks noChangeArrowheads="1"/>
            </p:cNvSpPr>
            <p:nvPr/>
          </p:nvSpPr>
          <p:spPr bwMode="auto">
            <a:xfrm>
              <a:off x="1068" y="1923"/>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03" name="Oval 70"/>
            <p:cNvSpPr>
              <a:spLocks noChangeArrowheads="1"/>
            </p:cNvSpPr>
            <p:nvPr/>
          </p:nvSpPr>
          <p:spPr bwMode="auto">
            <a:xfrm>
              <a:off x="1191" y="1452"/>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04" name="Oval 71"/>
            <p:cNvSpPr>
              <a:spLocks noChangeArrowheads="1"/>
            </p:cNvSpPr>
            <p:nvPr/>
          </p:nvSpPr>
          <p:spPr bwMode="auto">
            <a:xfrm flipV="1">
              <a:off x="990" y="1782"/>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05" name="Oval 72"/>
            <p:cNvSpPr>
              <a:spLocks noChangeArrowheads="1"/>
            </p:cNvSpPr>
            <p:nvPr/>
          </p:nvSpPr>
          <p:spPr bwMode="auto">
            <a:xfrm>
              <a:off x="480" y="1812"/>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06" name="Oval 73"/>
            <p:cNvSpPr>
              <a:spLocks noChangeArrowheads="1"/>
            </p:cNvSpPr>
            <p:nvPr/>
          </p:nvSpPr>
          <p:spPr bwMode="auto">
            <a:xfrm>
              <a:off x="666" y="1788"/>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07" name="Oval 74"/>
            <p:cNvSpPr>
              <a:spLocks noChangeArrowheads="1"/>
            </p:cNvSpPr>
            <p:nvPr/>
          </p:nvSpPr>
          <p:spPr bwMode="auto">
            <a:xfrm>
              <a:off x="729" y="1422"/>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08" name="Line 75"/>
            <p:cNvSpPr>
              <a:spLocks noChangeShapeType="1"/>
            </p:cNvSpPr>
            <p:nvPr/>
          </p:nvSpPr>
          <p:spPr bwMode="auto">
            <a:xfrm flipH="1">
              <a:off x="1029" y="1677"/>
              <a:ext cx="105" cy="11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509" name="Line 76"/>
            <p:cNvSpPr>
              <a:spLocks noChangeShapeType="1"/>
            </p:cNvSpPr>
            <p:nvPr/>
          </p:nvSpPr>
          <p:spPr bwMode="auto">
            <a:xfrm flipH="1">
              <a:off x="1095" y="1674"/>
              <a:ext cx="57" cy="2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510" name="Line 77"/>
            <p:cNvSpPr>
              <a:spLocks noChangeShapeType="1"/>
            </p:cNvSpPr>
            <p:nvPr/>
          </p:nvSpPr>
          <p:spPr bwMode="auto">
            <a:xfrm>
              <a:off x="774" y="1464"/>
              <a:ext cx="123" cy="14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511" name="Line 78"/>
            <p:cNvSpPr>
              <a:spLocks noChangeShapeType="1"/>
            </p:cNvSpPr>
            <p:nvPr/>
          </p:nvSpPr>
          <p:spPr bwMode="auto">
            <a:xfrm flipH="1">
              <a:off x="1176" y="1515"/>
              <a:ext cx="30" cy="17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512" name="Line 79"/>
            <p:cNvSpPr>
              <a:spLocks noChangeShapeType="1"/>
            </p:cNvSpPr>
            <p:nvPr/>
          </p:nvSpPr>
          <p:spPr bwMode="auto">
            <a:xfrm flipV="1">
              <a:off x="708" y="1635"/>
              <a:ext cx="273" cy="16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513" name="Line 80"/>
            <p:cNvSpPr>
              <a:spLocks noChangeShapeType="1"/>
            </p:cNvSpPr>
            <p:nvPr/>
          </p:nvSpPr>
          <p:spPr bwMode="auto">
            <a:xfrm flipV="1">
              <a:off x="516" y="1605"/>
              <a:ext cx="372" cy="2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514" name="Line 81"/>
            <p:cNvSpPr>
              <a:spLocks noChangeShapeType="1"/>
            </p:cNvSpPr>
            <p:nvPr/>
          </p:nvSpPr>
          <p:spPr bwMode="auto">
            <a:xfrm flipH="1">
              <a:off x="1200" y="2016"/>
              <a:ext cx="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515" name="Text Box 82"/>
            <p:cNvSpPr txBox="1">
              <a:spLocks noChangeArrowheads="1"/>
            </p:cNvSpPr>
            <p:nvPr/>
          </p:nvSpPr>
          <p:spPr bwMode="auto">
            <a:xfrm>
              <a:off x="192" y="1248"/>
              <a:ext cx="52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38" tIns="45668" rIns="91338" bIns="45668">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000"/>
                <a:t>Well Heads</a:t>
              </a:r>
            </a:p>
          </p:txBody>
        </p:sp>
        <p:sp>
          <p:nvSpPr>
            <p:cNvPr id="18516" name="Line 83"/>
            <p:cNvSpPr>
              <a:spLocks noChangeShapeType="1"/>
            </p:cNvSpPr>
            <p:nvPr/>
          </p:nvSpPr>
          <p:spPr bwMode="auto">
            <a:xfrm flipH="1">
              <a:off x="678" y="1320"/>
              <a:ext cx="144" cy="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517" name="Line 84"/>
            <p:cNvSpPr>
              <a:spLocks noChangeShapeType="1"/>
            </p:cNvSpPr>
            <p:nvPr/>
          </p:nvSpPr>
          <p:spPr bwMode="auto">
            <a:xfrm>
              <a:off x="696" y="1329"/>
              <a:ext cx="6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518" name="Line 85"/>
            <p:cNvSpPr>
              <a:spLocks noChangeShapeType="1"/>
            </p:cNvSpPr>
            <p:nvPr/>
          </p:nvSpPr>
          <p:spPr bwMode="auto">
            <a:xfrm>
              <a:off x="828" y="1320"/>
              <a:ext cx="375" cy="1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519" name="Line 86"/>
            <p:cNvSpPr>
              <a:spLocks noChangeShapeType="1"/>
            </p:cNvSpPr>
            <p:nvPr/>
          </p:nvSpPr>
          <p:spPr bwMode="auto">
            <a:xfrm flipV="1">
              <a:off x="786" y="1662"/>
              <a:ext cx="216" cy="48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520" name="Rectangle 87"/>
            <p:cNvSpPr>
              <a:spLocks noChangeArrowheads="1"/>
            </p:cNvSpPr>
            <p:nvPr/>
          </p:nvSpPr>
          <p:spPr bwMode="auto">
            <a:xfrm>
              <a:off x="1192" y="1500"/>
              <a:ext cx="35" cy="34"/>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21" name="Rectangle 88"/>
            <p:cNvSpPr>
              <a:spLocks noChangeArrowheads="1"/>
            </p:cNvSpPr>
            <p:nvPr/>
          </p:nvSpPr>
          <p:spPr bwMode="auto">
            <a:xfrm>
              <a:off x="721" y="1755"/>
              <a:ext cx="35" cy="34"/>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22" name="Rectangle 89"/>
            <p:cNvSpPr>
              <a:spLocks noChangeArrowheads="1"/>
            </p:cNvSpPr>
            <p:nvPr/>
          </p:nvSpPr>
          <p:spPr bwMode="auto">
            <a:xfrm>
              <a:off x="1090" y="1884"/>
              <a:ext cx="35" cy="34"/>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23" name="Rectangle 90"/>
            <p:cNvSpPr>
              <a:spLocks noChangeArrowheads="1"/>
            </p:cNvSpPr>
            <p:nvPr/>
          </p:nvSpPr>
          <p:spPr bwMode="auto">
            <a:xfrm>
              <a:off x="1033" y="1752"/>
              <a:ext cx="35" cy="34"/>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24" name="Rectangle 91"/>
            <p:cNvSpPr>
              <a:spLocks noChangeArrowheads="1"/>
            </p:cNvSpPr>
            <p:nvPr/>
          </p:nvSpPr>
          <p:spPr bwMode="auto">
            <a:xfrm>
              <a:off x="534" y="1785"/>
              <a:ext cx="35" cy="34"/>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25" name="Rectangle 92"/>
            <p:cNvSpPr>
              <a:spLocks noChangeArrowheads="1"/>
            </p:cNvSpPr>
            <p:nvPr/>
          </p:nvSpPr>
          <p:spPr bwMode="auto">
            <a:xfrm>
              <a:off x="778" y="1476"/>
              <a:ext cx="35" cy="34"/>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26" name="Line 93"/>
            <p:cNvSpPr>
              <a:spLocks noChangeShapeType="1"/>
            </p:cNvSpPr>
            <p:nvPr/>
          </p:nvSpPr>
          <p:spPr bwMode="auto">
            <a:xfrm flipH="1">
              <a:off x="723" y="2145"/>
              <a:ext cx="5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527" name="Line 94"/>
            <p:cNvSpPr>
              <a:spLocks noChangeShapeType="1"/>
            </p:cNvSpPr>
            <p:nvPr/>
          </p:nvSpPr>
          <p:spPr bwMode="auto">
            <a:xfrm>
              <a:off x="1089" y="1974"/>
              <a:ext cx="0" cy="171"/>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528" name="Line 95"/>
            <p:cNvSpPr>
              <a:spLocks noChangeShapeType="1"/>
            </p:cNvSpPr>
            <p:nvPr/>
          </p:nvSpPr>
          <p:spPr bwMode="auto">
            <a:xfrm>
              <a:off x="684" y="1839"/>
              <a:ext cx="0" cy="186"/>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529" name="Text Box 96"/>
            <p:cNvSpPr txBox="1">
              <a:spLocks noChangeArrowheads="1"/>
            </p:cNvSpPr>
            <p:nvPr/>
          </p:nvSpPr>
          <p:spPr bwMode="auto">
            <a:xfrm>
              <a:off x="309" y="2064"/>
              <a:ext cx="46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38" tIns="45668" rIns="91338" bIns="45668">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000"/>
                <a:t>Gathering</a:t>
              </a:r>
            </a:p>
            <a:p>
              <a:pPr eaLnBrk="1" hangingPunct="1"/>
              <a:r>
                <a:rPr lang="en-US" sz="1000"/>
                <a:t>Lines</a:t>
              </a:r>
            </a:p>
          </p:txBody>
        </p:sp>
      </p:grpSp>
      <p:sp>
        <p:nvSpPr>
          <p:cNvPr id="18500" name="Rectangle 97"/>
          <p:cNvSpPr>
            <a:spLocks noGrp="1" noChangeArrowheads="1"/>
          </p:cNvSpPr>
          <p:nvPr>
            <p:ph type="title"/>
          </p:nvPr>
        </p:nvSpPr>
        <p:spPr>
          <a:xfrm>
            <a:off x="1676400" y="76200"/>
            <a:ext cx="7391400" cy="685800"/>
          </a:xfrm>
          <a:noFill/>
        </p:spPr>
        <p:txBody>
          <a:bodyPr/>
          <a:lstStyle/>
          <a:p>
            <a:pPr defTabSz="965200" eaLnBrk="1" hangingPunct="1"/>
            <a:r>
              <a:rPr lang="en-US"/>
              <a:t>Business Case/Regulatory Environment</a:t>
            </a:r>
          </a:p>
        </p:txBody>
      </p:sp>
    </p:spTree>
    <p:extLst>
      <p:ext uri="{BB962C8B-B14F-4D97-AF65-F5344CB8AC3E}">
        <p14:creationId xmlns:p14="http://schemas.microsoft.com/office/powerpoint/2010/main" val="1836125857"/>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Line 2"/>
          <p:cNvSpPr>
            <a:spLocks noChangeShapeType="1"/>
          </p:cNvSpPr>
          <p:nvPr/>
        </p:nvSpPr>
        <p:spPr bwMode="auto">
          <a:xfrm>
            <a:off x="7772400" y="3276600"/>
            <a:ext cx="381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35" name="Line 3"/>
          <p:cNvSpPr>
            <a:spLocks noChangeShapeType="1"/>
          </p:cNvSpPr>
          <p:nvPr/>
        </p:nvSpPr>
        <p:spPr bwMode="auto">
          <a:xfrm>
            <a:off x="4114800" y="3276600"/>
            <a:ext cx="1828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36" name="Line 4"/>
          <p:cNvSpPr>
            <a:spLocks noChangeShapeType="1"/>
          </p:cNvSpPr>
          <p:nvPr/>
        </p:nvSpPr>
        <p:spPr bwMode="auto">
          <a:xfrm>
            <a:off x="5943600" y="3276600"/>
            <a:ext cx="1828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37" name="Line 5"/>
          <p:cNvSpPr>
            <a:spLocks noChangeShapeType="1"/>
          </p:cNvSpPr>
          <p:nvPr/>
        </p:nvSpPr>
        <p:spPr bwMode="auto">
          <a:xfrm>
            <a:off x="3733800" y="3276600"/>
            <a:ext cx="381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38" name="Rectangle 7"/>
          <p:cNvSpPr>
            <a:spLocks noChangeArrowheads="1"/>
          </p:cNvSpPr>
          <p:nvPr/>
        </p:nvSpPr>
        <p:spPr bwMode="auto">
          <a:xfrm>
            <a:off x="2971800" y="2819400"/>
            <a:ext cx="762000" cy="838200"/>
          </a:xfrm>
          <a:prstGeom prst="rect">
            <a:avLst/>
          </a:prstGeom>
          <a:solidFill>
            <a:schemeClr val="hlink"/>
          </a:solidFill>
          <a:ln>
            <a:noFill/>
          </a:ln>
          <a:effectLst>
            <a:outerShdw dist="17961" dir="2700000" algn="ctr" rotWithShape="0">
              <a:srgbClr val="808080"/>
            </a:outerShdw>
          </a:effectLst>
          <a:extLst>
            <a:ext uri="{91240B29-F687-4F45-9708-019B960494DF}">
              <a14:hiddenLine xmlns:a14="http://schemas.microsoft.com/office/drawing/2010/main" w="9525">
                <a:solidFill>
                  <a:schemeClr val="tx1"/>
                </a:solidFill>
                <a:miter lim="800000"/>
                <a:headEnd/>
                <a:tailEnd/>
              </a14:hiddenLine>
            </a:ext>
          </a:extLst>
        </p:spPr>
        <p:txBody>
          <a:bodyPr wrap="none" lIns="91338" tIns="45668" rIns="91338" bIns="45668" anchor="ctr"/>
          <a:lstStyle/>
          <a:p>
            <a:pPr algn="ctr" eaLnBrk="1" hangingPunct="1"/>
            <a:r>
              <a:rPr lang="en-US" sz="1000"/>
              <a:t>Processing </a:t>
            </a:r>
          </a:p>
          <a:p>
            <a:pPr algn="ctr" eaLnBrk="1" hangingPunct="1"/>
            <a:r>
              <a:rPr lang="en-US" sz="1000"/>
              <a:t>Plant/</a:t>
            </a:r>
          </a:p>
          <a:p>
            <a:pPr algn="ctr" eaLnBrk="1" hangingPunct="1"/>
            <a:r>
              <a:rPr lang="en-US" sz="1000"/>
              <a:t>Terminal</a:t>
            </a:r>
          </a:p>
        </p:txBody>
      </p:sp>
      <p:sp>
        <p:nvSpPr>
          <p:cNvPr id="18439" name="Line 8"/>
          <p:cNvSpPr>
            <a:spLocks noChangeShapeType="1"/>
          </p:cNvSpPr>
          <p:nvPr/>
        </p:nvSpPr>
        <p:spPr bwMode="auto">
          <a:xfrm flipH="1">
            <a:off x="6553200" y="2362200"/>
            <a:ext cx="228600" cy="9144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0" name="Line 9"/>
          <p:cNvSpPr>
            <a:spLocks noChangeShapeType="1"/>
          </p:cNvSpPr>
          <p:nvPr/>
        </p:nvSpPr>
        <p:spPr bwMode="auto">
          <a:xfrm>
            <a:off x="7010400" y="2895600"/>
            <a:ext cx="76200" cy="381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1" name="Line 10"/>
          <p:cNvSpPr>
            <a:spLocks noChangeShapeType="1"/>
          </p:cNvSpPr>
          <p:nvPr/>
        </p:nvSpPr>
        <p:spPr bwMode="auto">
          <a:xfrm flipV="1">
            <a:off x="7086600" y="2819400"/>
            <a:ext cx="304800" cy="4572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1499" name="Oval 11"/>
          <p:cNvSpPr>
            <a:spLocks noChangeArrowheads="1"/>
          </p:cNvSpPr>
          <p:nvPr/>
        </p:nvSpPr>
        <p:spPr bwMode="auto">
          <a:xfrm>
            <a:off x="6629400" y="2209800"/>
            <a:ext cx="381000" cy="381000"/>
          </a:xfrm>
          <a:prstGeom prst="ellipse">
            <a:avLst/>
          </a:prstGeom>
          <a:solidFill>
            <a:schemeClr val="accent1"/>
          </a:solidFill>
          <a:ln>
            <a:noFill/>
          </a:ln>
          <a:effectLst>
            <a:prstShdw prst="shdw17" dist="17961" dir="2700000">
              <a:schemeClr val="accent1">
                <a:gamma/>
                <a:shade val="60000"/>
                <a:invGamma/>
              </a:schemeClr>
            </a:prstShdw>
          </a:effectLst>
          <a:extLst>
            <a:ext uri="{91240B29-F687-4F45-9708-019B960494DF}">
              <a14:hiddenLine xmlns:a14="http://schemas.microsoft.com/office/drawing/2010/main" w="9525">
                <a:solidFill>
                  <a:schemeClr val="tx1"/>
                </a:solidFill>
                <a:round/>
                <a:headEnd/>
                <a:tailEnd/>
              </a14:hiddenLine>
            </a:ext>
          </a:extLst>
        </p:spPr>
        <p:txBody>
          <a:bodyPr wrap="none" anchor="ctr"/>
          <a:lstStyle/>
          <a:p>
            <a:pPr>
              <a:defRPr/>
            </a:pPr>
            <a:endParaRPr lang="en-US"/>
          </a:p>
        </p:txBody>
      </p:sp>
      <p:sp>
        <p:nvSpPr>
          <p:cNvPr id="191500" name="Oval 12"/>
          <p:cNvSpPr>
            <a:spLocks noChangeArrowheads="1"/>
          </p:cNvSpPr>
          <p:nvPr/>
        </p:nvSpPr>
        <p:spPr bwMode="auto">
          <a:xfrm>
            <a:off x="6934200" y="2743200"/>
            <a:ext cx="152400" cy="152400"/>
          </a:xfrm>
          <a:prstGeom prst="ellipse">
            <a:avLst/>
          </a:prstGeom>
          <a:solidFill>
            <a:schemeClr val="accent1"/>
          </a:solidFill>
          <a:ln>
            <a:noFill/>
          </a:ln>
          <a:effectLst>
            <a:prstShdw prst="shdw17" dist="17961" dir="2700000">
              <a:schemeClr val="accent1">
                <a:gamma/>
                <a:shade val="60000"/>
                <a:invGamma/>
              </a:schemeClr>
            </a:prstShdw>
          </a:effectLst>
          <a:extLst>
            <a:ext uri="{91240B29-F687-4F45-9708-019B960494DF}">
              <a14:hiddenLine xmlns:a14="http://schemas.microsoft.com/office/drawing/2010/main" w="9525">
                <a:solidFill>
                  <a:schemeClr val="tx1"/>
                </a:solidFill>
                <a:round/>
                <a:headEnd/>
                <a:tailEnd/>
              </a14:hiddenLine>
            </a:ext>
          </a:extLst>
        </p:spPr>
        <p:txBody>
          <a:bodyPr wrap="none" anchor="ctr"/>
          <a:lstStyle/>
          <a:p>
            <a:pPr>
              <a:defRPr/>
            </a:pPr>
            <a:endParaRPr lang="en-US"/>
          </a:p>
        </p:txBody>
      </p:sp>
      <p:sp>
        <p:nvSpPr>
          <p:cNvPr id="191501" name="Oval 13"/>
          <p:cNvSpPr>
            <a:spLocks noChangeArrowheads="1"/>
          </p:cNvSpPr>
          <p:nvPr/>
        </p:nvSpPr>
        <p:spPr bwMode="auto">
          <a:xfrm>
            <a:off x="7315200" y="2590800"/>
            <a:ext cx="304800" cy="304800"/>
          </a:xfrm>
          <a:prstGeom prst="ellipse">
            <a:avLst/>
          </a:prstGeom>
          <a:solidFill>
            <a:schemeClr val="accent1"/>
          </a:solidFill>
          <a:ln>
            <a:noFill/>
          </a:ln>
          <a:effectLst>
            <a:prstShdw prst="shdw17" dist="17961" dir="2700000">
              <a:schemeClr val="accent1">
                <a:gamma/>
                <a:shade val="60000"/>
                <a:invGamma/>
              </a:schemeClr>
            </a:prstShdw>
          </a:effectLst>
          <a:extLst>
            <a:ext uri="{91240B29-F687-4F45-9708-019B960494DF}">
              <a14:hiddenLine xmlns:a14="http://schemas.microsoft.com/office/drawing/2010/main" w="9525">
                <a:solidFill>
                  <a:schemeClr val="tx1"/>
                </a:solidFill>
                <a:round/>
                <a:headEnd/>
                <a:tailEnd/>
              </a14:hiddenLine>
            </a:ext>
          </a:extLst>
        </p:spPr>
        <p:txBody>
          <a:bodyPr wrap="none" anchor="ctr"/>
          <a:lstStyle/>
          <a:p>
            <a:pPr>
              <a:defRPr/>
            </a:pPr>
            <a:endParaRPr lang="en-US"/>
          </a:p>
        </p:txBody>
      </p:sp>
      <p:sp>
        <p:nvSpPr>
          <p:cNvPr id="18445" name="Rectangle 14"/>
          <p:cNvSpPr>
            <a:spLocks noChangeArrowheads="1"/>
          </p:cNvSpPr>
          <p:nvPr/>
        </p:nvSpPr>
        <p:spPr bwMode="auto">
          <a:xfrm>
            <a:off x="7924800" y="3048000"/>
            <a:ext cx="381000" cy="457200"/>
          </a:xfrm>
          <a:prstGeom prst="rect">
            <a:avLst/>
          </a:prstGeom>
          <a:solidFill>
            <a:schemeClr val="hlink"/>
          </a:solidFill>
          <a:ln>
            <a:noFill/>
          </a:ln>
          <a:effectLst>
            <a:outerShdw dist="17961" dir="2700000" algn="ctr" rotWithShape="0">
              <a:srgbClr val="808080"/>
            </a:outerShdw>
          </a:effectLst>
          <a:extLst>
            <a:ext uri="{91240B29-F687-4F45-9708-019B960494DF}">
              <a14:hiddenLine xmlns:a14="http://schemas.microsoft.com/office/drawing/2010/main" w="9525">
                <a:solidFill>
                  <a:schemeClr val="tx1"/>
                </a:solidFill>
                <a:miter lim="800000"/>
                <a:headEnd/>
                <a:tailEnd/>
              </a14:hiddenLine>
            </a:ext>
          </a:extLst>
        </p:spPr>
        <p:txBody>
          <a:bodyPr wrap="none" lIns="91338" tIns="45668" rIns="91338" bIns="45668" anchor="ctr"/>
          <a:lstStyle/>
          <a:p>
            <a:pPr algn="ctr" eaLnBrk="1" hangingPunct="1"/>
            <a:r>
              <a:rPr lang="en-US" sz="1000"/>
              <a:t>LDC</a:t>
            </a:r>
          </a:p>
        </p:txBody>
      </p:sp>
      <p:sp>
        <p:nvSpPr>
          <p:cNvPr id="18446" name="Text Box 15"/>
          <p:cNvSpPr txBox="1">
            <a:spLocks noChangeArrowheads="1"/>
          </p:cNvSpPr>
          <p:nvPr/>
        </p:nvSpPr>
        <p:spPr bwMode="auto">
          <a:xfrm>
            <a:off x="7162800" y="2057400"/>
            <a:ext cx="701675"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338" tIns="45668" rIns="91338" bIns="45668">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000"/>
              <a:t>Storage</a:t>
            </a:r>
          </a:p>
        </p:txBody>
      </p:sp>
      <p:sp>
        <p:nvSpPr>
          <p:cNvPr id="18447" name="Line 16"/>
          <p:cNvSpPr>
            <a:spLocks noChangeShapeType="1"/>
          </p:cNvSpPr>
          <p:nvPr/>
        </p:nvSpPr>
        <p:spPr bwMode="auto">
          <a:xfrm>
            <a:off x="4419600" y="2133600"/>
            <a:ext cx="304800" cy="1143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8" name="Line 17"/>
          <p:cNvSpPr>
            <a:spLocks noChangeShapeType="1"/>
          </p:cNvSpPr>
          <p:nvPr/>
        </p:nvSpPr>
        <p:spPr bwMode="auto">
          <a:xfrm flipV="1">
            <a:off x="4419600" y="3276600"/>
            <a:ext cx="76200" cy="381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9" name="Line 18"/>
          <p:cNvSpPr>
            <a:spLocks noChangeShapeType="1"/>
          </p:cNvSpPr>
          <p:nvPr/>
        </p:nvSpPr>
        <p:spPr bwMode="auto">
          <a:xfrm flipV="1">
            <a:off x="4495800" y="1981200"/>
            <a:ext cx="457200" cy="381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50" name="Line 19"/>
          <p:cNvSpPr>
            <a:spLocks noChangeShapeType="1"/>
          </p:cNvSpPr>
          <p:nvPr/>
        </p:nvSpPr>
        <p:spPr bwMode="auto">
          <a:xfrm flipH="1">
            <a:off x="4953000" y="3276600"/>
            <a:ext cx="76200" cy="381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51" name="Text Box 20"/>
          <p:cNvSpPr txBox="1">
            <a:spLocks noChangeArrowheads="1"/>
          </p:cNvSpPr>
          <p:nvPr/>
        </p:nvSpPr>
        <p:spPr bwMode="auto">
          <a:xfrm>
            <a:off x="2819400" y="1676400"/>
            <a:ext cx="963613" cy="254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38" tIns="45668" rIns="91338" bIns="45668">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000" b="1"/>
              <a:t>MIDSTREAM</a:t>
            </a:r>
          </a:p>
        </p:txBody>
      </p:sp>
      <p:sp>
        <p:nvSpPr>
          <p:cNvPr id="18452" name="Text Box 21"/>
          <p:cNvSpPr txBox="1">
            <a:spLocks noChangeArrowheads="1"/>
          </p:cNvSpPr>
          <p:nvPr/>
        </p:nvSpPr>
        <p:spPr bwMode="auto">
          <a:xfrm>
            <a:off x="4191000" y="1676400"/>
            <a:ext cx="1609725" cy="254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38" tIns="45668" rIns="91338" bIns="45668">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000" b="1"/>
              <a:t>INTRASTATE PIPELINE</a:t>
            </a:r>
          </a:p>
        </p:txBody>
      </p:sp>
      <p:sp>
        <p:nvSpPr>
          <p:cNvPr id="18453" name="Text Box 22"/>
          <p:cNvSpPr txBox="1">
            <a:spLocks noChangeArrowheads="1"/>
          </p:cNvSpPr>
          <p:nvPr/>
        </p:nvSpPr>
        <p:spPr bwMode="auto">
          <a:xfrm>
            <a:off x="6096000" y="1676400"/>
            <a:ext cx="1601788" cy="254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38" tIns="45668" rIns="91338" bIns="45668">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000" b="1"/>
              <a:t>INTERSTATE PIPELINE</a:t>
            </a:r>
          </a:p>
        </p:txBody>
      </p:sp>
      <p:sp>
        <p:nvSpPr>
          <p:cNvPr id="18454" name="Text Box 23"/>
          <p:cNvSpPr txBox="1">
            <a:spLocks noChangeArrowheads="1"/>
          </p:cNvSpPr>
          <p:nvPr/>
        </p:nvSpPr>
        <p:spPr bwMode="auto">
          <a:xfrm>
            <a:off x="7848600" y="1676400"/>
            <a:ext cx="1143000" cy="55389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338" tIns="45668" rIns="91338" bIns="45668">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sz="1000" b="1"/>
              <a:t>LOCAL</a:t>
            </a:r>
          </a:p>
          <a:p>
            <a:pPr algn="ctr" eaLnBrk="1" hangingPunct="1"/>
            <a:r>
              <a:rPr lang="en-US" sz="1000" b="1"/>
              <a:t>DISTRIBUTION</a:t>
            </a:r>
          </a:p>
          <a:p>
            <a:pPr algn="ctr" eaLnBrk="1" hangingPunct="1"/>
            <a:r>
              <a:rPr lang="en-US" sz="1000" b="1"/>
              <a:t>COMPANY</a:t>
            </a:r>
          </a:p>
        </p:txBody>
      </p:sp>
      <p:sp>
        <p:nvSpPr>
          <p:cNvPr id="18455" name="Line 24"/>
          <p:cNvSpPr>
            <a:spLocks noChangeShapeType="1"/>
          </p:cNvSpPr>
          <p:nvPr/>
        </p:nvSpPr>
        <p:spPr bwMode="auto">
          <a:xfrm flipV="1">
            <a:off x="8305800" y="2819400"/>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56" name="Line 25"/>
          <p:cNvSpPr>
            <a:spLocks noChangeShapeType="1"/>
          </p:cNvSpPr>
          <p:nvPr/>
        </p:nvSpPr>
        <p:spPr bwMode="auto">
          <a:xfrm>
            <a:off x="8305800" y="3276600"/>
            <a:ext cx="304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57" name="Line 26"/>
          <p:cNvSpPr>
            <a:spLocks noChangeShapeType="1"/>
          </p:cNvSpPr>
          <p:nvPr/>
        </p:nvSpPr>
        <p:spPr bwMode="auto">
          <a:xfrm>
            <a:off x="8305800" y="3276600"/>
            <a:ext cx="3048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58" name="Line 27"/>
          <p:cNvSpPr>
            <a:spLocks noChangeShapeType="1"/>
          </p:cNvSpPr>
          <p:nvPr/>
        </p:nvSpPr>
        <p:spPr bwMode="auto">
          <a:xfrm flipV="1">
            <a:off x="8305800" y="3124200"/>
            <a:ext cx="30480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59" name="Line 28"/>
          <p:cNvSpPr>
            <a:spLocks noChangeShapeType="1"/>
          </p:cNvSpPr>
          <p:nvPr/>
        </p:nvSpPr>
        <p:spPr bwMode="auto">
          <a:xfrm>
            <a:off x="8305800" y="3276600"/>
            <a:ext cx="30480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60" name="Line 29"/>
          <p:cNvSpPr>
            <a:spLocks noChangeShapeType="1"/>
          </p:cNvSpPr>
          <p:nvPr/>
        </p:nvSpPr>
        <p:spPr bwMode="auto">
          <a:xfrm flipV="1">
            <a:off x="8305800" y="2971800"/>
            <a:ext cx="3048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61" name="Text Box 30"/>
          <p:cNvSpPr txBox="1">
            <a:spLocks noChangeArrowheads="1"/>
          </p:cNvSpPr>
          <p:nvPr/>
        </p:nvSpPr>
        <p:spPr bwMode="auto">
          <a:xfrm>
            <a:off x="4953000" y="2438400"/>
            <a:ext cx="5715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38" tIns="45668" rIns="91338" bIns="45668">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000"/>
              <a:t>Meters</a:t>
            </a:r>
          </a:p>
        </p:txBody>
      </p:sp>
      <p:sp>
        <p:nvSpPr>
          <p:cNvPr id="18462" name="Line 31"/>
          <p:cNvSpPr>
            <a:spLocks noChangeShapeType="1"/>
          </p:cNvSpPr>
          <p:nvPr/>
        </p:nvSpPr>
        <p:spPr bwMode="auto">
          <a:xfrm flipH="1" flipV="1">
            <a:off x="4876800" y="2590800"/>
            <a:ext cx="152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63" name="Line 32"/>
          <p:cNvSpPr>
            <a:spLocks noChangeShapeType="1"/>
          </p:cNvSpPr>
          <p:nvPr/>
        </p:nvSpPr>
        <p:spPr bwMode="auto">
          <a:xfrm flipH="1">
            <a:off x="4724400" y="2590800"/>
            <a:ext cx="152400" cy="609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64" name="Line 33"/>
          <p:cNvSpPr>
            <a:spLocks noChangeShapeType="1"/>
          </p:cNvSpPr>
          <p:nvPr/>
        </p:nvSpPr>
        <p:spPr bwMode="auto">
          <a:xfrm flipH="1" flipV="1">
            <a:off x="4495800" y="2438400"/>
            <a:ext cx="38100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65" name="Line 34"/>
          <p:cNvSpPr>
            <a:spLocks noChangeShapeType="1"/>
          </p:cNvSpPr>
          <p:nvPr/>
        </p:nvSpPr>
        <p:spPr bwMode="auto">
          <a:xfrm flipH="1">
            <a:off x="7010400" y="2209800"/>
            <a:ext cx="22860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66" name="AutoShape 35"/>
          <p:cNvSpPr>
            <a:spLocks noChangeArrowheads="1"/>
          </p:cNvSpPr>
          <p:nvPr/>
        </p:nvSpPr>
        <p:spPr bwMode="auto">
          <a:xfrm>
            <a:off x="8610600" y="2743200"/>
            <a:ext cx="76200" cy="76200"/>
          </a:xfrm>
          <a:prstGeom prst="triangle">
            <a:avLst>
              <a:gd name="adj" fmla="val 50000"/>
            </a:avLst>
          </a:prstGeom>
          <a:solidFill>
            <a:srgbClr val="9966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67" name="Rectangle 36"/>
          <p:cNvSpPr>
            <a:spLocks noChangeArrowheads="1"/>
          </p:cNvSpPr>
          <p:nvPr/>
        </p:nvSpPr>
        <p:spPr bwMode="auto">
          <a:xfrm>
            <a:off x="8610600" y="2819400"/>
            <a:ext cx="76200" cy="76200"/>
          </a:xfrm>
          <a:prstGeom prst="rect">
            <a:avLst/>
          </a:prstGeom>
          <a:solidFill>
            <a:srgbClr val="9966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68" name="AutoShape 37"/>
          <p:cNvSpPr>
            <a:spLocks noChangeArrowheads="1"/>
          </p:cNvSpPr>
          <p:nvPr/>
        </p:nvSpPr>
        <p:spPr bwMode="auto">
          <a:xfrm>
            <a:off x="8610600" y="2895600"/>
            <a:ext cx="76200" cy="76200"/>
          </a:xfrm>
          <a:prstGeom prst="triangle">
            <a:avLst>
              <a:gd name="adj" fmla="val 50000"/>
            </a:avLst>
          </a:prstGeom>
          <a:solidFill>
            <a:srgbClr val="9966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69" name="Rectangle 38"/>
          <p:cNvSpPr>
            <a:spLocks noChangeArrowheads="1"/>
          </p:cNvSpPr>
          <p:nvPr/>
        </p:nvSpPr>
        <p:spPr bwMode="auto">
          <a:xfrm>
            <a:off x="8610600" y="2971800"/>
            <a:ext cx="76200" cy="76200"/>
          </a:xfrm>
          <a:prstGeom prst="rect">
            <a:avLst/>
          </a:prstGeom>
          <a:solidFill>
            <a:srgbClr val="9966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70" name="AutoShape 39"/>
          <p:cNvSpPr>
            <a:spLocks noChangeArrowheads="1"/>
          </p:cNvSpPr>
          <p:nvPr/>
        </p:nvSpPr>
        <p:spPr bwMode="auto">
          <a:xfrm>
            <a:off x="8610600" y="3048000"/>
            <a:ext cx="76200" cy="76200"/>
          </a:xfrm>
          <a:prstGeom prst="triangle">
            <a:avLst>
              <a:gd name="adj" fmla="val 50000"/>
            </a:avLst>
          </a:prstGeom>
          <a:solidFill>
            <a:srgbClr val="9966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71" name="Rectangle 40"/>
          <p:cNvSpPr>
            <a:spLocks noChangeArrowheads="1"/>
          </p:cNvSpPr>
          <p:nvPr/>
        </p:nvSpPr>
        <p:spPr bwMode="auto">
          <a:xfrm>
            <a:off x="8610600" y="3124200"/>
            <a:ext cx="76200" cy="76200"/>
          </a:xfrm>
          <a:prstGeom prst="rect">
            <a:avLst/>
          </a:prstGeom>
          <a:solidFill>
            <a:srgbClr val="9966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72" name="AutoShape 41"/>
          <p:cNvSpPr>
            <a:spLocks noChangeArrowheads="1"/>
          </p:cNvSpPr>
          <p:nvPr/>
        </p:nvSpPr>
        <p:spPr bwMode="auto">
          <a:xfrm>
            <a:off x="8610600" y="3200400"/>
            <a:ext cx="76200" cy="76200"/>
          </a:xfrm>
          <a:prstGeom prst="triangle">
            <a:avLst>
              <a:gd name="adj" fmla="val 50000"/>
            </a:avLst>
          </a:prstGeom>
          <a:solidFill>
            <a:srgbClr val="9966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73" name="Rectangle 42"/>
          <p:cNvSpPr>
            <a:spLocks noChangeArrowheads="1"/>
          </p:cNvSpPr>
          <p:nvPr/>
        </p:nvSpPr>
        <p:spPr bwMode="auto">
          <a:xfrm>
            <a:off x="8610600" y="3276600"/>
            <a:ext cx="76200" cy="76200"/>
          </a:xfrm>
          <a:prstGeom prst="rect">
            <a:avLst/>
          </a:prstGeom>
          <a:solidFill>
            <a:srgbClr val="9966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74" name="AutoShape 43"/>
          <p:cNvSpPr>
            <a:spLocks noChangeArrowheads="1"/>
          </p:cNvSpPr>
          <p:nvPr/>
        </p:nvSpPr>
        <p:spPr bwMode="auto">
          <a:xfrm>
            <a:off x="8610600" y="3505200"/>
            <a:ext cx="76200" cy="76200"/>
          </a:xfrm>
          <a:prstGeom prst="triangle">
            <a:avLst>
              <a:gd name="adj" fmla="val 50000"/>
            </a:avLst>
          </a:prstGeom>
          <a:solidFill>
            <a:srgbClr val="9966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75" name="Rectangle 44"/>
          <p:cNvSpPr>
            <a:spLocks noChangeArrowheads="1"/>
          </p:cNvSpPr>
          <p:nvPr/>
        </p:nvSpPr>
        <p:spPr bwMode="auto">
          <a:xfrm>
            <a:off x="8610600" y="3581400"/>
            <a:ext cx="76200" cy="76200"/>
          </a:xfrm>
          <a:prstGeom prst="rect">
            <a:avLst/>
          </a:prstGeom>
          <a:solidFill>
            <a:srgbClr val="9966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76" name="AutoShape 45"/>
          <p:cNvSpPr>
            <a:spLocks noChangeArrowheads="1"/>
          </p:cNvSpPr>
          <p:nvPr/>
        </p:nvSpPr>
        <p:spPr bwMode="auto">
          <a:xfrm>
            <a:off x="8610600" y="3352800"/>
            <a:ext cx="76200" cy="76200"/>
          </a:xfrm>
          <a:prstGeom prst="triangle">
            <a:avLst>
              <a:gd name="adj" fmla="val 50000"/>
            </a:avLst>
          </a:prstGeom>
          <a:solidFill>
            <a:srgbClr val="9966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77" name="Rectangle 46"/>
          <p:cNvSpPr>
            <a:spLocks noChangeArrowheads="1"/>
          </p:cNvSpPr>
          <p:nvPr/>
        </p:nvSpPr>
        <p:spPr bwMode="auto">
          <a:xfrm>
            <a:off x="8610600" y="3429000"/>
            <a:ext cx="76200" cy="76200"/>
          </a:xfrm>
          <a:prstGeom prst="rect">
            <a:avLst/>
          </a:prstGeom>
          <a:solidFill>
            <a:srgbClr val="9966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78" name="Text Box 47"/>
          <p:cNvSpPr txBox="1">
            <a:spLocks noChangeArrowheads="1"/>
          </p:cNvSpPr>
          <p:nvPr/>
        </p:nvSpPr>
        <p:spPr bwMode="auto">
          <a:xfrm>
            <a:off x="6172200" y="1981200"/>
            <a:ext cx="750888"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38" tIns="45668" rIns="91338" bIns="45668">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000"/>
              <a:t>State Line</a:t>
            </a:r>
          </a:p>
        </p:txBody>
      </p:sp>
      <p:sp>
        <p:nvSpPr>
          <p:cNvPr id="18479" name="Line 48"/>
          <p:cNvSpPr>
            <a:spLocks noChangeShapeType="1"/>
          </p:cNvSpPr>
          <p:nvPr/>
        </p:nvSpPr>
        <p:spPr bwMode="auto">
          <a:xfrm flipH="1">
            <a:off x="5943600" y="2133600"/>
            <a:ext cx="152400" cy="76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80" name="Line 49"/>
          <p:cNvSpPr>
            <a:spLocks noChangeShapeType="1"/>
          </p:cNvSpPr>
          <p:nvPr/>
        </p:nvSpPr>
        <p:spPr bwMode="auto">
          <a:xfrm flipH="1">
            <a:off x="6096000" y="2133600"/>
            <a:ext cx="152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81" name="Rectangle 50"/>
          <p:cNvSpPr>
            <a:spLocks noChangeArrowheads="1"/>
          </p:cNvSpPr>
          <p:nvPr/>
        </p:nvSpPr>
        <p:spPr bwMode="auto">
          <a:xfrm>
            <a:off x="2362200" y="2819400"/>
            <a:ext cx="55563" cy="539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82" name="Rectangle 51"/>
          <p:cNvSpPr>
            <a:spLocks noChangeArrowheads="1"/>
          </p:cNvSpPr>
          <p:nvPr/>
        </p:nvSpPr>
        <p:spPr bwMode="auto">
          <a:xfrm>
            <a:off x="4464050" y="3252788"/>
            <a:ext cx="55563" cy="539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83" name="Rectangle 52"/>
          <p:cNvSpPr>
            <a:spLocks noChangeArrowheads="1"/>
          </p:cNvSpPr>
          <p:nvPr/>
        </p:nvSpPr>
        <p:spPr bwMode="auto">
          <a:xfrm>
            <a:off x="4692650" y="3243263"/>
            <a:ext cx="55563" cy="539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84" name="Rectangle 53"/>
          <p:cNvSpPr>
            <a:spLocks noChangeArrowheads="1"/>
          </p:cNvSpPr>
          <p:nvPr/>
        </p:nvSpPr>
        <p:spPr bwMode="auto">
          <a:xfrm>
            <a:off x="4464050" y="2386013"/>
            <a:ext cx="55563" cy="539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85" name="Rectangle 54"/>
          <p:cNvSpPr>
            <a:spLocks noChangeArrowheads="1"/>
          </p:cNvSpPr>
          <p:nvPr/>
        </p:nvSpPr>
        <p:spPr bwMode="auto">
          <a:xfrm>
            <a:off x="5002213" y="3252788"/>
            <a:ext cx="55562" cy="539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86" name="Rectangle 55"/>
          <p:cNvSpPr>
            <a:spLocks noChangeArrowheads="1"/>
          </p:cNvSpPr>
          <p:nvPr/>
        </p:nvSpPr>
        <p:spPr bwMode="auto">
          <a:xfrm>
            <a:off x="6535738" y="3243263"/>
            <a:ext cx="55562" cy="539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87" name="Rectangle 56"/>
          <p:cNvSpPr>
            <a:spLocks noChangeArrowheads="1"/>
          </p:cNvSpPr>
          <p:nvPr/>
        </p:nvSpPr>
        <p:spPr bwMode="auto">
          <a:xfrm>
            <a:off x="7064375" y="3248025"/>
            <a:ext cx="55563" cy="539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88" name="Rectangle 57"/>
          <p:cNvSpPr>
            <a:spLocks noChangeArrowheads="1"/>
          </p:cNvSpPr>
          <p:nvPr/>
        </p:nvSpPr>
        <p:spPr bwMode="auto">
          <a:xfrm>
            <a:off x="7673975" y="3248025"/>
            <a:ext cx="55563" cy="539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89" name="Rectangle 58"/>
          <p:cNvSpPr>
            <a:spLocks noChangeArrowheads="1"/>
          </p:cNvSpPr>
          <p:nvPr/>
        </p:nvSpPr>
        <p:spPr bwMode="auto">
          <a:xfrm>
            <a:off x="2895600" y="3200400"/>
            <a:ext cx="55563" cy="539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90" name="Rectangle 59"/>
          <p:cNvSpPr>
            <a:spLocks noChangeArrowheads="1"/>
          </p:cNvSpPr>
          <p:nvPr/>
        </p:nvSpPr>
        <p:spPr bwMode="auto">
          <a:xfrm>
            <a:off x="3773488" y="3243263"/>
            <a:ext cx="55562" cy="539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91" name="Line 60"/>
          <p:cNvSpPr>
            <a:spLocks noChangeShapeType="1"/>
          </p:cNvSpPr>
          <p:nvPr/>
        </p:nvSpPr>
        <p:spPr bwMode="auto">
          <a:xfrm>
            <a:off x="2438400" y="1600200"/>
            <a:ext cx="0" cy="22860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92" name="Line 61"/>
          <p:cNvSpPr>
            <a:spLocks noChangeShapeType="1"/>
          </p:cNvSpPr>
          <p:nvPr/>
        </p:nvSpPr>
        <p:spPr bwMode="auto">
          <a:xfrm>
            <a:off x="4114800" y="1600200"/>
            <a:ext cx="0" cy="22860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93" name="Line 62"/>
          <p:cNvSpPr>
            <a:spLocks noChangeShapeType="1"/>
          </p:cNvSpPr>
          <p:nvPr/>
        </p:nvSpPr>
        <p:spPr bwMode="auto">
          <a:xfrm>
            <a:off x="5943600" y="1600200"/>
            <a:ext cx="0" cy="22860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94" name="Line 63"/>
          <p:cNvSpPr>
            <a:spLocks noChangeShapeType="1"/>
          </p:cNvSpPr>
          <p:nvPr/>
        </p:nvSpPr>
        <p:spPr bwMode="auto">
          <a:xfrm>
            <a:off x="7772400" y="1600200"/>
            <a:ext cx="0" cy="22860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95" name="Text Box 64"/>
          <p:cNvSpPr txBox="1">
            <a:spLocks noChangeArrowheads="1"/>
          </p:cNvSpPr>
          <p:nvPr/>
        </p:nvSpPr>
        <p:spPr bwMode="auto">
          <a:xfrm>
            <a:off x="490538" y="4495800"/>
            <a:ext cx="827246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spcBef>
                <a:spcPct val="50000"/>
              </a:spcBef>
            </a:pPr>
            <a:r>
              <a:rPr lang="en-US" sz="2400" b="1"/>
              <a:t>Physical value chain from wellhead to burner tip</a:t>
            </a:r>
          </a:p>
        </p:txBody>
      </p:sp>
      <p:sp>
        <p:nvSpPr>
          <p:cNvPr id="18496" name="Line 66"/>
          <p:cNvSpPr>
            <a:spLocks noChangeShapeType="1"/>
          </p:cNvSpPr>
          <p:nvPr/>
        </p:nvSpPr>
        <p:spPr bwMode="auto">
          <a:xfrm flipH="1" flipV="1">
            <a:off x="1404938" y="2543175"/>
            <a:ext cx="957262" cy="2762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97" name="Text Box 65"/>
          <p:cNvSpPr txBox="1">
            <a:spLocks noChangeArrowheads="1"/>
          </p:cNvSpPr>
          <p:nvPr/>
        </p:nvSpPr>
        <p:spPr bwMode="auto">
          <a:xfrm>
            <a:off x="1143000" y="1676400"/>
            <a:ext cx="906463" cy="254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38" tIns="45668" rIns="91338" bIns="45668">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000" b="1"/>
              <a:t>UPSTREAM</a:t>
            </a:r>
          </a:p>
        </p:txBody>
      </p:sp>
      <p:sp>
        <p:nvSpPr>
          <p:cNvPr id="18498" name="Line 6"/>
          <p:cNvSpPr>
            <a:spLocks noChangeShapeType="1"/>
          </p:cNvSpPr>
          <p:nvPr/>
        </p:nvSpPr>
        <p:spPr bwMode="auto">
          <a:xfrm>
            <a:off x="2362200" y="2819400"/>
            <a:ext cx="609600" cy="4572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8499" name="Group 67"/>
          <p:cNvGrpSpPr>
            <a:grpSpLocks/>
          </p:cNvGrpSpPr>
          <p:nvPr/>
        </p:nvGrpSpPr>
        <p:grpSpPr bwMode="auto">
          <a:xfrm>
            <a:off x="304800" y="1981200"/>
            <a:ext cx="1998663" cy="1692275"/>
            <a:chOff x="192" y="1248"/>
            <a:chExt cx="1259" cy="1066"/>
          </a:xfrm>
        </p:grpSpPr>
        <p:pic>
          <p:nvPicPr>
            <p:cNvPr id="18501" name="Picture 6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4" y="1462"/>
              <a:ext cx="1027" cy="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502" name="Oval 69"/>
            <p:cNvSpPr>
              <a:spLocks noChangeArrowheads="1"/>
            </p:cNvSpPr>
            <p:nvPr/>
          </p:nvSpPr>
          <p:spPr bwMode="auto">
            <a:xfrm>
              <a:off x="1068" y="1923"/>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03" name="Oval 70"/>
            <p:cNvSpPr>
              <a:spLocks noChangeArrowheads="1"/>
            </p:cNvSpPr>
            <p:nvPr/>
          </p:nvSpPr>
          <p:spPr bwMode="auto">
            <a:xfrm>
              <a:off x="1191" y="1452"/>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04" name="Oval 71"/>
            <p:cNvSpPr>
              <a:spLocks noChangeArrowheads="1"/>
            </p:cNvSpPr>
            <p:nvPr/>
          </p:nvSpPr>
          <p:spPr bwMode="auto">
            <a:xfrm flipV="1">
              <a:off x="990" y="1782"/>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05" name="Oval 72"/>
            <p:cNvSpPr>
              <a:spLocks noChangeArrowheads="1"/>
            </p:cNvSpPr>
            <p:nvPr/>
          </p:nvSpPr>
          <p:spPr bwMode="auto">
            <a:xfrm>
              <a:off x="480" y="1812"/>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06" name="Oval 73"/>
            <p:cNvSpPr>
              <a:spLocks noChangeArrowheads="1"/>
            </p:cNvSpPr>
            <p:nvPr/>
          </p:nvSpPr>
          <p:spPr bwMode="auto">
            <a:xfrm>
              <a:off x="666" y="1788"/>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07" name="Oval 74"/>
            <p:cNvSpPr>
              <a:spLocks noChangeArrowheads="1"/>
            </p:cNvSpPr>
            <p:nvPr/>
          </p:nvSpPr>
          <p:spPr bwMode="auto">
            <a:xfrm>
              <a:off x="729" y="1422"/>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08" name="Line 75"/>
            <p:cNvSpPr>
              <a:spLocks noChangeShapeType="1"/>
            </p:cNvSpPr>
            <p:nvPr/>
          </p:nvSpPr>
          <p:spPr bwMode="auto">
            <a:xfrm flipH="1">
              <a:off x="1029" y="1677"/>
              <a:ext cx="105" cy="11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509" name="Line 76"/>
            <p:cNvSpPr>
              <a:spLocks noChangeShapeType="1"/>
            </p:cNvSpPr>
            <p:nvPr/>
          </p:nvSpPr>
          <p:spPr bwMode="auto">
            <a:xfrm flipH="1">
              <a:off x="1095" y="1674"/>
              <a:ext cx="57" cy="2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510" name="Line 77"/>
            <p:cNvSpPr>
              <a:spLocks noChangeShapeType="1"/>
            </p:cNvSpPr>
            <p:nvPr/>
          </p:nvSpPr>
          <p:spPr bwMode="auto">
            <a:xfrm>
              <a:off x="774" y="1464"/>
              <a:ext cx="123" cy="14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511" name="Line 78"/>
            <p:cNvSpPr>
              <a:spLocks noChangeShapeType="1"/>
            </p:cNvSpPr>
            <p:nvPr/>
          </p:nvSpPr>
          <p:spPr bwMode="auto">
            <a:xfrm flipH="1">
              <a:off x="1176" y="1515"/>
              <a:ext cx="30" cy="17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512" name="Line 79"/>
            <p:cNvSpPr>
              <a:spLocks noChangeShapeType="1"/>
            </p:cNvSpPr>
            <p:nvPr/>
          </p:nvSpPr>
          <p:spPr bwMode="auto">
            <a:xfrm flipV="1">
              <a:off x="708" y="1635"/>
              <a:ext cx="273" cy="16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513" name="Line 80"/>
            <p:cNvSpPr>
              <a:spLocks noChangeShapeType="1"/>
            </p:cNvSpPr>
            <p:nvPr/>
          </p:nvSpPr>
          <p:spPr bwMode="auto">
            <a:xfrm flipV="1">
              <a:off x="516" y="1605"/>
              <a:ext cx="372" cy="2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514" name="Line 81"/>
            <p:cNvSpPr>
              <a:spLocks noChangeShapeType="1"/>
            </p:cNvSpPr>
            <p:nvPr/>
          </p:nvSpPr>
          <p:spPr bwMode="auto">
            <a:xfrm flipH="1">
              <a:off x="1200" y="2016"/>
              <a:ext cx="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515" name="Text Box 82"/>
            <p:cNvSpPr txBox="1">
              <a:spLocks noChangeArrowheads="1"/>
            </p:cNvSpPr>
            <p:nvPr/>
          </p:nvSpPr>
          <p:spPr bwMode="auto">
            <a:xfrm>
              <a:off x="192" y="1248"/>
              <a:ext cx="52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38" tIns="45668" rIns="91338" bIns="45668">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000"/>
                <a:t>Well Heads</a:t>
              </a:r>
            </a:p>
          </p:txBody>
        </p:sp>
        <p:sp>
          <p:nvSpPr>
            <p:cNvPr id="18516" name="Line 83"/>
            <p:cNvSpPr>
              <a:spLocks noChangeShapeType="1"/>
            </p:cNvSpPr>
            <p:nvPr/>
          </p:nvSpPr>
          <p:spPr bwMode="auto">
            <a:xfrm flipH="1">
              <a:off x="678" y="1320"/>
              <a:ext cx="144" cy="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517" name="Line 84"/>
            <p:cNvSpPr>
              <a:spLocks noChangeShapeType="1"/>
            </p:cNvSpPr>
            <p:nvPr/>
          </p:nvSpPr>
          <p:spPr bwMode="auto">
            <a:xfrm>
              <a:off x="696" y="1329"/>
              <a:ext cx="6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518" name="Line 85"/>
            <p:cNvSpPr>
              <a:spLocks noChangeShapeType="1"/>
            </p:cNvSpPr>
            <p:nvPr/>
          </p:nvSpPr>
          <p:spPr bwMode="auto">
            <a:xfrm>
              <a:off x="828" y="1320"/>
              <a:ext cx="375" cy="1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519" name="Line 86"/>
            <p:cNvSpPr>
              <a:spLocks noChangeShapeType="1"/>
            </p:cNvSpPr>
            <p:nvPr/>
          </p:nvSpPr>
          <p:spPr bwMode="auto">
            <a:xfrm flipV="1">
              <a:off x="786" y="1662"/>
              <a:ext cx="216" cy="48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520" name="Rectangle 87"/>
            <p:cNvSpPr>
              <a:spLocks noChangeArrowheads="1"/>
            </p:cNvSpPr>
            <p:nvPr/>
          </p:nvSpPr>
          <p:spPr bwMode="auto">
            <a:xfrm>
              <a:off x="1192" y="1500"/>
              <a:ext cx="35" cy="34"/>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21" name="Rectangle 88"/>
            <p:cNvSpPr>
              <a:spLocks noChangeArrowheads="1"/>
            </p:cNvSpPr>
            <p:nvPr/>
          </p:nvSpPr>
          <p:spPr bwMode="auto">
            <a:xfrm>
              <a:off x="721" y="1755"/>
              <a:ext cx="35" cy="34"/>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22" name="Rectangle 89"/>
            <p:cNvSpPr>
              <a:spLocks noChangeArrowheads="1"/>
            </p:cNvSpPr>
            <p:nvPr/>
          </p:nvSpPr>
          <p:spPr bwMode="auto">
            <a:xfrm>
              <a:off x="1090" y="1884"/>
              <a:ext cx="35" cy="34"/>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23" name="Rectangle 90"/>
            <p:cNvSpPr>
              <a:spLocks noChangeArrowheads="1"/>
            </p:cNvSpPr>
            <p:nvPr/>
          </p:nvSpPr>
          <p:spPr bwMode="auto">
            <a:xfrm>
              <a:off x="1033" y="1752"/>
              <a:ext cx="35" cy="34"/>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24" name="Rectangle 91"/>
            <p:cNvSpPr>
              <a:spLocks noChangeArrowheads="1"/>
            </p:cNvSpPr>
            <p:nvPr/>
          </p:nvSpPr>
          <p:spPr bwMode="auto">
            <a:xfrm>
              <a:off x="534" y="1785"/>
              <a:ext cx="35" cy="34"/>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25" name="Rectangle 92"/>
            <p:cNvSpPr>
              <a:spLocks noChangeArrowheads="1"/>
            </p:cNvSpPr>
            <p:nvPr/>
          </p:nvSpPr>
          <p:spPr bwMode="auto">
            <a:xfrm>
              <a:off x="778" y="1476"/>
              <a:ext cx="35" cy="34"/>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26" name="Line 93"/>
            <p:cNvSpPr>
              <a:spLocks noChangeShapeType="1"/>
            </p:cNvSpPr>
            <p:nvPr/>
          </p:nvSpPr>
          <p:spPr bwMode="auto">
            <a:xfrm flipH="1">
              <a:off x="723" y="2145"/>
              <a:ext cx="5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527" name="Line 94"/>
            <p:cNvSpPr>
              <a:spLocks noChangeShapeType="1"/>
            </p:cNvSpPr>
            <p:nvPr/>
          </p:nvSpPr>
          <p:spPr bwMode="auto">
            <a:xfrm>
              <a:off x="1089" y="1974"/>
              <a:ext cx="0" cy="171"/>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528" name="Line 95"/>
            <p:cNvSpPr>
              <a:spLocks noChangeShapeType="1"/>
            </p:cNvSpPr>
            <p:nvPr/>
          </p:nvSpPr>
          <p:spPr bwMode="auto">
            <a:xfrm>
              <a:off x="684" y="1839"/>
              <a:ext cx="0" cy="186"/>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529" name="Text Box 96"/>
            <p:cNvSpPr txBox="1">
              <a:spLocks noChangeArrowheads="1"/>
            </p:cNvSpPr>
            <p:nvPr/>
          </p:nvSpPr>
          <p:spPr bwMode="auto">
            <a:xfrm>
              <a:off x="309" y="2064"/>
              <a:ext cx="46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38" tIns="45668" rIns="91338" bIns="45668">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000"/>
                <a:t>Gathering</a:t>
              </a:r>
            </a:p>
            <a:p>
              <a:pPr eaLnBrk="1" hangingPunct="1"/>
              <a:r>
                <a:rPr lang="en-US" sz="1000"/>
                <a:t>Lines</a:t>
              </a:r>
            </a:p>
          </p:txBody>
        </p:sp>
      </p:grpSp>
      <p:sp>
        <p:nvSpPr>
          <p:cNvPr id="18500" name="Rectangle 97"/>
          <p:cNvSpPr>
            <a:spLocks noGrp="1" noChangeArrowheads="1"/>
          </p:cNvSpPr>
          <p:nvPr>
            <p:ph type="title"/>
          </p:nvPr>
        </p:nvSpPr>
        <p:spPr>
          <a:xfrm>
            <a:off x="1676400" y="76200"/>
            <a:ext cx="7391400" cy="685800"/>
          </a:xfrm>
          <a:noFill/>
        </p:spPr>
        <p:txBody>
          <a:bodyPr/>
          <a:lstStyle/>
          <a:p>
            <a:pPr defTabSz="965200" eaLnBrk="1" hangingPunct="1"/>
            <a:r>
              <a:rPr lang="en-US"/>
              <a:t>Business Case/Regulatory Environment</a:t>
            </a:r>
          </a:p>
        </p:txBody>
      </p:sp>
      <p:sp>
        <p:nvSpPr>
          <p:cNvPr id="3" name="Rectangle 2"/>
          <p:cNvSpPr/>
          <p:nvPr/>
        </p:nvSpPr>
        <p:spPr bwMode="auto">
          <a:xfrm>
            <a:off x="4038600" y="1447800"/>
            <a:ext cx="5029200" cy="2590800"/>
          </a:xfrm>
          <a:prstGeom prst="rect">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00" name="Text Box 14"/>
          <p:cNvSpPr txBox="1">
            <a:spLocks noChangeArrowheads="1"/>
          </p:cNvSpPr>
          <p:nvPr/>
        </p:nvSpPr>
        <p:spPr bwMode="auto">
          <a:xfrm>
            <a:off x="4910847" y="1090204"/>
            <a:ext cx="3496553" cy="323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358" tIns="45678" rIns="91358" bIns="45678">
            <a:spAutoFit/>
          </a:bodyPr>
          <a:lstStyle/>
          <a:p>
            <a:pPr algn="ctr" eaLnBrk="1" hangingPunct="1">
              <a:spcBef>
                <a:spcPct val="50000"/>
              </a:spcBef>
            </a:pPr>
            <a:r>
              <a:rPr lang="en-US" sz="1500" b="1">
                <a:solidFill>
                  <a:srgbClr val="FF0000"/>
                </a:solidFill>
                <a:effectLst>
                  <a:outerShdw blurRad="38100" dist="38100" dir="2700000" algn="tl">
                    <a:srgbClr val="C0C0C0"/>
                  </a:outerShdw>
                </a:effectLst>
              </a:rPr>
              <a:t>QPTM</a:t>
            </a:r>
          </a:p>
        </p:txBody>
      </p:sp>
    </p:spTree>
    <p:extLst>
      <p:ext uri="{BB962C8B-B14F-4D97-AF65-F5344CB8AC3E}">
        <p14:creationId xmlns:p14="http://schemas.microsoft.com/office/powerpoint/2010/main" val="3055230484"/>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76200"/>
            <a:ext cx="7467600" cy="685800"/>
          </a:xfrm>
        </p:spPr>
        <p:txBody>
          <a:bodyPr/>
          <a:lstStyle/>
          <a:p>
            <a:r>
              <a:rPr lang="en-US"/>
              <a:t>Business Case/Regulatory Environment</a:t>
            </a:r>
          </a:p>
        </p:txBody>
      </p:sp>
      <p:sp>
        <p:nvSpPr>
          <p:cNvPr id="5" name="Freeform 4"/>
          <p:cNvSpPr/>
          <p:nvPr/>
        </p:nvSpPr>
        <p:spPr bwMode="auto">
          <a:xfrm>
            <a:off x="241300" y="2590800"/>
            <a:ext cx="1219200" cy="1143000"/>
          </a:xfrm>
          <a:custGeom>
            <a:avLst/>
            <a:gdLst>
              <a:gd name="connsiteX0" fmla="*/ 292100 w 1854200"/>
              <a:gd name="connsiteY0" fmla="*/ 0 h 1549400"/>
              <a:gd name="connsiteX1" fmla="*/ 177800 w 1854200"/>
              <a:gd name="connsiteY1" fmla="*/ 266700 h 1549400"/>
              <a:gd name="connsiteX2" fmla="*/ 431800 w 1854200"/>
              <a:gd name="connsiteY2" fmla="*/ 520700 h 1549400"/>
              <a:gd name="connsiteX3" fmla="*/ 0 w 1854200"/>
              <a:gd name="connsiteY3" fmla="*/ 1130300 h 1549400"/>
              <a:gd name="connsiteX4" fmla="*/ 381000 w 1854200"/>
              <a:gd name="connsiteY4" fmla="*/ 1549400 h 1549400"/>
              <a:gd name="connsiteX5" fmla="*/ 609600 w 1854200"/>
              <a:gd name="connsiteY5" fmla="*/ 774700 h 1549400"/>
              <a:gd name="connsiteX6" fmla="*/ 901700 w 1854200"/>
              <a:gd name="connsiteY6" fmla="*/ 711200 h 1549400"/>
              <a:gd name="connsiteX7" fmla="*/ 914400 w 1854200"/>
              <a:gd name="connsiteY7" fmla="*/ 1498600 h 1549400"/>
              <a:gd name="connsiteX8" fmla="*/ 1689100 w 1854200"/>
              <a:gd name="connsiteY8" fmla="*/ 1524000 h 1549400"/>
              <a:gd name="connsiteX9" fmla="*/ 1854200 w 1854200"/>
              <a:gd name="connsiteY9" fmla="*/ 622300 h 1549400"/>
              <a:gd name="connsiteX10" fmla="*/ 1320800 w 1854200"/>
              <a:gd name="connsiteY10" fmla="*/ 355600 h 1549400"/>
              <a:gd name="connsiteX11" fmla="*/ 609600 w 1854200"/>
              <a:gd name="connsiteY11" fmla="*/ 203200 h 1549400"/>
              <a:gd name="connsiteX12" fmla="*/ 292100 w 1854200"/>
              <a:gd name="connsiteY12" fmla="*/ 0 h 154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54200" h="1549400">
                <a:moveTo>
                  <a:pt x="292100" y="0"/>
                </a:moveTo>
                <a:lnTo>
                  <a:pt x="177800" y="266700"/>
                </a:lnTo>
                <a:lnTo>
                  <a:pt x="431800" y="520700"/>
                </a:lnTo>
                <a:lnTo>
                  <a:pt x="0" y="1130300"/>
                </a:lnTo>
                <a:lnTo>
                  <a:pt x="381000" y="1549400"/>
                </a:lnTo>
                <a:lnTo>
                  <a:pt x="609600" y="774700"/>
                </a:lnTo>
                <a:lnTo>
                  <a:pt x="901700" y="711200"/>
                </a:lnTo>
                <a:lnTo>
                  <a:pt x="914400" y="1498600"/>
                </a:lnTo>
                <a:lnTo>
                  <a:pt x="1689100" y="1524000"/>
                </a:lnTo>
                <a:lnTo>
                  <a:pt x="1854200" y="622300"/>
                </a:lnTo>
                <a:lnTo>
                  <a:pt x="1320800" y="355600"/>
                </a:lnTo>
                <a:lnTo>
                  <a:pt x="609600" y="203200"/>
                </a:lnTo>
                <a:lnTo>
                  <a:pt x="292100" y="0"/>
                </a:lnTo>
                <a:close/>
              </a:path>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6" name="Freeform 5"/>
          <p:cNvSpPr/>
          <p:nvPr/>
        </p:nvSpPr>
        <p:spPr bwMode="auto">
          <a:xfrm>
            <a:off x="1689100" y="3409950"/>
            <a:ext cx="609600" cy="762000"/>
          </a:xfrm>
          <a:custGeom>
            <a:avLst/>
            <a:gdLst>
              <a:gd name="connsiteX0" fmla="*/ 0 w 787400"/>
              <a:gd name="connsiteY0" fmla="*/ 0 h 914400"/>
              <a:gd name="connsiteX1" fmla="*/ 787400 w 787400"/>
              <a:gd name="connsiteY1" fmla="*/ 165100 h 914400"/>
              <a:gd name="connsiteX2" fmla="*/ 355600 w 787400"/>
              <a:gd name="connsiteY2" fmla="*/ 863600 h 914400"/>
              <a:gd name="connsiteX3" fmla="*/ 12700 w 787400"/>
              <a:gd name="connsiteY3" fmla="*/ 914400 h 914400"/>
              <a:gd name="connsiteX4" fmla="*/ 0 w 787400"/>
              <a:gd name="connsiteY4" fmla="*/ 0 h 914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7400" h="914400">
                <a:moveTo>
                  <a:pt x="0" y="0"/>
                </a:moveTo>
                <a:lnTo>
                  <a:pt x="787400" y="165100"/>
                </a:lnTo>
                <a:lnTo>
                  <a:pt x="355600" y="863600"/>
                </a:lnTo>
                <a:lnTo>
                  <a:pt x="12700" y="914400"/>
                </a:lnTo>
                <a:lnTo>
                  <a:pt x="0" y="0"/>
                </a:lnTo>
                <a:close/>
              </a:path>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7" name="Freeform 6"/>
          <p:cNvSpPr/>
          <p:nvPr/>
        </p:nvSpPr>
        <p:spPr bwMode="auto">
          <a:xfrm>
            <a:off x="5276850" y="3962400"/>
            <a:ext cx="800100" cy="1257300"/>
          </a:xfrm>
          <a:custGeom>
            <a:avLst/>
            <a:gdLst>
              <a:gd name="connsiteX0" fmla="*/ 203200 w 800100"/>
              <a:gd name="connsiteY0" fmla="*/ 0 h 1257300"/>
              <a:gd name="connsiteX1" fmla="*/ 381000 w 800100"/>
              <a:gd name="connsiteY1" fmla="*/ 0 h 1257300"/>
              <a:gd name="connsiteX2" fmla="*/ 800100 w 800100"/>
              <a:gd name="connsiteY2" fmla="*/ 838200 h 1257300"/>
              <a:gd name="connsiteX3" fmla="*/ 698500 w 800100"/>
              <a:gd name="connsiteY3" fmla="*/ 1231900 h 1257300"/>
              <a:gd name="connsiteX4" fmla="*/ 355600 w 800100"/>
              <a:gd name="connsiteY4" fmla="*/ 1257300 h 1257300"/>
              <a:gd name="connsiteX5" fmla="*/ 38100 w 800100"/>
              <a:gd name="connsiteY5" fmla="*/ 1054100 h 1257300"/>
              <a:gd name="connsiteX6" fmla="*/ 0 w 800100"/>
              <a:gd name="connsiteY6" fmla="*/ 876300 h 1257300"/>
              <a:gd name="connsiteX7" fmla="*/ 165100 w 800100"/>
              <a:gd name="connsiteY7" fmla="*/ 736600 h 1257300"/>
              <a:gd name="connsiteX8" fmla="*/ 203200 w 800100"/>
              <a:gd name="connsiteY8" fmla="*/ 0 h 1257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0100" h="1257300">
                <a:moveTo>
                  <a:pt x="203200" y="0"/>
                </a:moveTo>
                <a:lnTo>
                  <a:pt x="381000" y="0"/>
                </a:lnTo>
                <a:lnTo>
                  <a:pt x="800100" y="838200"/>
                </a:lnTo>
                <a:lnTo>
                  <a:pt x="698500" y="1231900"/>
                </a:lnTo>
                <a:lnTo>
                  <a:pt x="355600" y="1257300"/>
                </a:lnTo>
                <a:lnTo>
                  <a:pt x="38100" y="1054100"/>
                </a:lnTo>
                <a:lnTo>
                  <a:pt x="0" y="876300"/>
                </a:lnTo>
                <a:lnTo>
                  <a:pt x="165100" y="736600"/>
                </a:lnTo>
                <a:lnTo>
                  <a:pt x="203200" y="0"/>
                </a:lnTo>
                <a:close/>
              </a:path>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8" name="Freeform 7"/>
          <p:cNvSpPr/>
          <p:nvPr/>
        </p:nvSpPr>
        <p:spPr bwMode="auto">
          <a:xfrm>
            <a:off x="6642100" y="2057400"/>
            <a:ext cx="2362200" cy="2235200"/>
          </a:xfrm>
          <a:custGeom>
            <a:avLst/>
            <a:gdLst>
              <a:gd name="connsiteX0" fmla="*/ 1854200 w 2362200"/>
              <a:gd name="connsiteY0" fmla="*/ 38100 h 2235200"/>
              <a:gd name="connsiteX1" fmla="*/ 876300 w 2362200"/>
              <a:gd name="connsiteY1" fmla="*/ 190500 h 2235200"/>
              <a:gd name="connsiteX2" fmla="*/ 825500 w 2362200"/>
              <a:gd name="connsiteY2" fmla="*/ 393700 h 2235200"/>
              <a:gd name="connsiteX3" fmla="*/ 228600 w 2362200"/>
              <a:gd name="connsiteY3" fmla="*/ 508000 h 2235200"/>
              <a:gd name="connsiteX4" fmla="*/ 0 w 2362200"/>
              <a:gd name="connsiteY4" fmla="*/ 1828800 h 2235200"/>
              <a:gd name="connsiteX5" fmla="*/ 0 w 2362200"/>
              <a:gd name="connsiteY5" fmla="*/ 2235200 h 2235200"/>
              <a:gd name="connsiteX6" fmla="*/ 939800 w 2362200"/>
              <a:gd name="connsiteY6" fmla="*/ 2197100 h 2235200"/>
              <a:gd name="connsiteX7" fmla="*/ 1447800 w 2362200"/>
              <a:gd name="connsiteY7" fmla="*/ 660400 h 2235200"/>
              <a:gd name="connsiteX8" fmla="*/ 1765300 w 2362200"/>
              <a:gd name="connsiteY8" fmla="*/ 609600 h 2235200"/>
              <a:gd name="connsiteX9" fmla="*/ 1828800 w 2362200"/>
              <a:gd name="connsiteY9" fmla="*/ 889000 h 2235200"/>
              <a:gd name="connsiteX10" fmla="*/ 2286000 w 2362200"/>
              <a:gd name="connsiteY10" fmla="*/ 1028700 h 2235200"/>
              <a:gd name="connsiteX11" fmla="*/ 2362200 w 2362200"/>
              <a:gd name="connsiteY11" fmla="*/ 0 h 2235200"/>
              <a:gd name="connsiteX12" fmla="*/ 1854200 w 2362200"/>
              <a:gd name="connsiteY12" fmla="*/ 38100 h 223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62200" h="2235200">
                <a:moveTo>
                  <a:pt x="1854200" y="38100"/>
                </a:moveTo>
                <a:lnTo>
                  <a:pt x="876300" y="190500"/>
                </a:lnTo>
                <a:lnTo>
                  <a:pt x="825500" y="393700"/>
                </a:lnTo>
                <a:lnTo>
                  <a:pt x="228600" y="508000"/>
                </a:lnTo>
                <a:lnTo>
                  <a:pt x="0" y="1828800"/>
                </a:lnTo>
                <a:lnTo>
                  <a:pt x="0" y="2235200"/>
                </a:lnTo>
                <a:lnTo>
                  <a:pt x="939800" y="2197100"/>
                </a:lnTo>
                <a:lnTo>
                  <a:pt x="1447800" y="660400"/>
                </a:lnTo>
                <a:lnTo>
                  <a:pt x="1765300" y="609600"/>
                </a:lnTo>
                <a:lnTo>
                  <a:pt x="1828800" y="889000"/>
                </a:lnTo>
                <a:lnTo>
                  <a:pt x="2286000" y="1028700"/>
                </a:lnTo>
                <a:lnTo>
                  <a:pt x="2362200" y="0"/>
                </a:lnTo>
                <a:lnTo>
                  <a:pt x="1854200" y="38100"/>
                </a:lnTo>
                <a:close/>
              </a:path>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9" name="Oval 8"/>
          <p:cNvSpPr/>
          <p:nvPr/>
        </p:nvSpPr>
        <p:spPr bwMode="auto">
          <a:xfrm>
            <a:off x="1308100" y="3022600"/>
            <a:ext cx="152400" cy="152400"/>
          </a:xfrm>
          <a:prstGeom prst="ellipse">
            <a:avLst/>
          </a:prstGeom>
          <a:solidFill>
            <a:srgbClr val="FFFF00"/>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0" name="Oval 9"/>
          <p:cNvSpPr/>
          <p:nvPr/>
        </p:nvSpPr>
        <p:spPr bwMode="auto">
          <a:xfrm>
            <a:off x="1841500" y="3505200"/>
            <a:ext cx="152400" cy="152400"/>
          </a:xfrm>
          <a:prstGeom prst="ellipse">
            <a:avLst/>
          </a:prstGeom>
          <a:solidFill>
            <a:srgbClr val="FFFF00"/>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1" name="Oval 10"/>
          <p:cNvSpPr/>
          <p:nvPr/>
        </p:nvSpPr>
        <p:spPr bwMode="auto">
          <a:xfrm>
            <a:off x="2863851" y="3733800"/>
            <a:ext cx="152400" cy="152400"/>
          </a:xfrm>
          <a:prstGeom prst="ellipse">
            <a:avLst/>
          </a:prstGeom>
          <a:solidFill>
            <a:srgbClr val="FFFF00"/>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2" name="Oval 11"/>
          <p:cNvSpPr/>
          <p:nvPr/>
        </p:nvSpPr>
        <p:spPr bwMode="auto">
          <a:xfrm>
            <a:off x="3200400" y="3810000"/>
            <a:ext cx="152400" cy="152400"/>
          </a:xfrm>
          <a:prstGeom prst="ellipse">
            <a:avLst/>
          </a:prstGeom>
          <a:solidFill>
            <a:srgbClr val="FFFF00"/>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3" name="Oval 12"/>
          <p:cNvSpPr/>
          <p:nvPr/>
        </p:nvSpPr>
        <p:spPr bwMode="auto">
          <a:xfrm>
            <a:off x="3505201" y="3886200"/>
            <a:ext cx="152400" cy="152400"/>
          </a:xfrm>
          <a:prstGeom prst="ellipse">
            <a:avLst/>
          </a:prstGeom>
          <a:solidFill>
            <a:srgbClr val="FFFF00"/>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4" name="Oval 13"/>
          <p:cNvSpPr/>
          <p:nvPr/>
        </p:nvSpPr>
        <p:spPr bwMode="auto">
          <a:xfrm>
            <a:off x="3902076" y="3943350"/>
            <a:ext cx="152400" cy="152400"/>
          </a:xfrm>
          <a:prstGeom prst="ellipse">
            <a:avLst/>
          </a:prstGeom>
          <a:solidFill>
            <a:srgbClr val="FFFF00"/>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5" name="Oval 14"/>
          <p:cNvSpPr/>
          <p:nvPr/>
        </p:nvSpPr>
        <p:spPr bwMode="auto">
          <a:xfrm>
            <a:off x="4600576" y="4013200"/>
            <a:ext cx="152400" cy="152400"/>
          </a:xfrm>
          <a:prstGeom prst="ellipse">
            <a:avLst/>
          </a:prstGeom>
          <a:solidFill>
            <a:srgbClr val="FFFF00"/>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6" name="Oval 15"/>
          <p:cNvSpPr/>
          <p:nvPr/>
        </p:nvSpPr>
        <p:spPr bwMode="auto">
          <a:xfrm>
            <a:off x="5054599" y="3898900"/>
            <a:ext cx="152400" cy="152400"/>
          </a:xfrm>
          <a:prstGeom prst="ellipse">
            <a:avLst/>
          </a:prstGeom>
          <a:solidFill>
            <a:srgbClr val="FFFF00"/>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7" name="Oval 16"/>
          <p:cNvSpPr/>
          <p:nvPr/>
        </p:nvSpPr>
        <p:spPr bwMode="auto">
          <a:xfrm>
            <a:off x="5311774" y="3854450"/>
            <a:ext cx="152400" cy="152400"/>
          </a:xfrm>
          <a:prstGeom prst="ellipse">
            <a:avLst/>
          </a:prstGeom>
          <a:solidFill>
            <a:srgbClr val="FFFF00"/>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8" name="Oval 17"/>
          <p:cNvSpPr/>
          <p:nvPr/>
        </p:nvSpPr>
        <p:spPr bwMode="auto">
          <a:xfrm>
            <a:off x="5540375" y="3829050"/>
            <a:ext cx="152400" cy="152400"/>
          </a:xfrm>
          <a:prstGeom prst="ellipse">
            <a:avLst/>
          </a:prstGeom>
          <a:solidFill>
            <a:srgbClr val="FFFF00"/>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9" name="Oval 18"/>
          <p:cNvSpPr/>
          <p:nvPr/>
        </p:nvSpPr>
        <p:spPr bwMode="auto">
          <a:xfrm>
            <a:off x="5962651" y="3835400"/>
            <a:ext cx="152400" cy="152400"/>
          </a:xfrm>
          <a:prstGeom prst="ellipse">
            <a:avLst/>
          </a:prstGeom>
          <a:solidFill>
            <a:srgbClr val="FFFF00"/>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20" name="Oval 19"/>
          <p:cNvSpPr/>
          <p:nvPr/>
        </p:nvSpPr>
        <p:spPr bwMode="auto">
          <a:xfrm>
            <a:off x="5181600" y="3886200"/>
            <a:ext cx="152400" cy="152400"/>
          </a:xfrm>
          <a:prstGeom prst="ellipse">
            <a:avLst/>
          </a:prstGeom>
          <a:solidFill>
            <a:srgbClr val="FFFF00"/>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21" name="Oval 20"/>
          <p:cNvSpPr/>
          <p:nvPr/>
        </p:nvSpPr>
        <p:spPr bwMode="auto">
          <a:xfrm>
            <a:off x="5387975" y="3778250"/>
            <a:ext cx="152400" cy="152400"/>
          </a:xfrm>
          <a:prstGeom prst="ellipse">
            <a:avLst/>
          </a:prstGeom>
          <a:solidFill>
            <a:srgbClr val="FFFF00"/>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22" name="Oval 21"/>
          <p:cNvSpPr/>
          <p:nvPr/>
        </p:nvSpPr>
        <p:spPr bwMode="auto">
          <a:xfrm>
            <a:off x="6337300" y="3505200"/>
            <a:ext cx="152400" cy="152400"/>
          </a:xfrm>
          <a:prstGeom prst="ellipse">
            <a:avLst/>
          </a:prstGeom>
          <a:solidFill>
            <a:srgbClr val="FFFF00"/>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23" name="Oval 22"/>
          <p:cNvSpPr/>
          <p:nvPr/>
        </p:nvSpPr>
        <p:spPr bwMode="auto">
          <a:xfrm>
            <a:off x="6642100" y="3409950"/>
            <a:ext cx="152400" cy="152400"/>
          </a:xfrm>
          <a:prstGeom prst="ellipse">
            <a:avLst/>
          </a:prstGeom>
          <a:solidFill>
            <a:srgbClr val="FFFF00"/>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24" name="Oval 23"/>
          <p:cNvSpPr/>
          <p:nvPr/>
        </p:nvSpPr>
        <p:spPr bwMode="auto">
          <a:xfrm>
            <a:off x="6902450" y="3441700"/>
            <a:ext cx="152400" cy="152400"/>
          </a:xfrm>
          <a:prstGeom prst="ellipse">
            <a:avLst/>
          </a:prstGeom>
          <a:solidFill>
            <a:srgbClr val="FFFF00"/>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25" name="Text Box 14"/>
          <p:cNvSpPr txBox="1">
            <a:spLocks noChangeArrowheads="1"/>
          </p:cNvSpPr>
          <p:nvPr/>
        </p:nvSpPr>
        <p:spPr bwMode="auto">
          <a:xfrm>
            <a:off x="405523" y="1496579"/>
            <a:ext cx="3937877" cy="646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358" tIns="45678" rIns="91358" bIns="45678">
            <a:spAutoFit/>
          </a:bodyPr>
          <a:lstStyle/>
          <a:p>
            <a:pPr algn="ctr" eaLnBrk="1" hangingPunct="1">
              <a:spcBef>
                <a:spcPct val="50000"/>
              </a:spcBef>
            </a:pPr>
            <a:r>
              <a:rPr lang="en-US" sz="3600" b="1">
                <a:solidFill>
                  <a:schemeClr val="accent2"/>
                </a:solidFill>
                <a:effectLst>
                  <a:outerShdw blurRad="38100" dist="38100" dir="2700000" algn="tl">
                    <a:srgbClr val="C0C0C0"/>
                  </a:outerShdw>
                </a:effectLst>
              </a:rPr>
              <a:t>Supply</a:t>
            </a:r>
            <a:endParaRPr lang="en-US" sz="1500" b="1">
              <a:solidFill>
                <a:schemeClr val="accent2"/>
              </a:solidFill>
              <a:effectLst>
                <a:outerShdw blurRad="38100" dist="38100" dir="2700000" algn="tl">
                  <a:srgbClr val="C0C0C0"/>
                </a:outerShdw>
              </a:effectLst>
            </a:endParaRPr>
          </a:p>
        </p:txBody>
      </p:sp>
      <p:sp>
        <p:nvSpPr>
          <p:cNvPr id="27" name="Text Box 14"/>
          <p:cNvSpPr txBox="1">
            <a:spLocks noChangeArrowheads="1"/>
          </p:cNvSpPr>
          <p:nvPr/>
        </p:nvSpPr>
        <p:spPr bwMode="auto">
          <a:xfrm>
            <a:off x="1841500" y="2019743"/>
            <a:ext cx="3937877" cy="646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358" tIns="45678" rIns="91358" bIns="45678">
            <a:spAutoFit/>
          </a:bodyPr>
          <a:lstStyle/>
          <a:p>
            <a:pPr algn="ctr" eaLnBrk="1" hangingPunct="1">
              <a:spcBef>
                <a:spcPct val="50000"/>
              </a:spcBef>
            </a:pPr>
            <a:r>
              <a:rPr lang="en-US" sz="3600" b="1">
                <a:effectLst>
                  <a:outerShdw blurRad="38100" dist="38100" dir="2700000" algn="tl">
                    <a:srgbClr val="C0C0C0"/>
                  </a:outerShdw>
                </a:effectLst>
              </a:rPr>
              <a:t>And</a:t>
            </a:r>
            <a:endParaRPr lang="en-US" sz="1500" b="1">
              <a:effectLst>
                <a:outerShdw blurRad="38100" dist="38100" dir="2700000" algn="tl">
                  <a:srgbClr val="C0C0C0"/>
                </a:outerShdw>
              </a:effectLst>
            </a:endParaRPr>
          </a:p>
        </p:txBody>
      </p:sp>
      <p:sp>
        <p:nvSpPr>
          <p:cNvPr id="28" name="Text Box 14"/>
          <p:cNvSpPr txBox="1">
            <a:spLocks noChangeArrowheads="1"/>
          </p:cNvSpPr>
          <p:nvPr/>
        </p:nvSpPr>
        <p:spPr bwMode="auto">
          <a:xfrm>
            <a:off x="3419035" y="2603500"/>
            <a:ext cx="3937877" cy="646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358" tIns="45678" rIns="91358" bIns="45678">
            <a:spAutoFit/>
          </a:bodyPr>
          <a:lstStyle/>
          <a:p>
            <a:pPr algn="ctr" eaLnBrk="1" hangingPunct="1">
              <a:spcBef>
                <a:spcPct val="50000"/>
              </a:spcBef>
            </a:pPr>
            <a:r>
              <a:rPr lang="en-US" sz="3600" b="1">
                <a:ln>
                  <a:solidFill>
                    <a:srgbClr val="FFC000"/>
                  </a:solidFill>
                </a:ln>
                <a:solidFill>
                  <a:srgbClr val="FFFF00"/>
                </a:solidFill>
                <a:effectLst>
                  <a:outerShdw blurRad="38100" dist="38100" dir="2700000" algn="tl">
                    <a:srgbClr val="C0C0C0"/>
                  </a:outerShdw>
                </a:effectLst>
              </a:rPr>
              <a:t>Demand</a:t>
            </a:r>
            <a:endParaRPr lang="en-US" sz="1500" b="1">
              <a:ln>
                <a:solidFill>
                  <a:srgbClr val="FFC000"/>
                </a:solidFill>
              </a:ln>
              <a:solidFill>
                <a:srgbClr val="FFFF00"/>
              </a:solidFill>
              <a:effectLst>
                <a:outerShdw blurRad="38100" dist="38100" dir="2700000" algn="tl">
                  <a:srgbClr val="C0C0C0"/>
                </a:outerShdw>
              </a:effectLst>
            </a:endParaRPr>
          </a:p>
        </p:txBody>
      </p:sp>
    </p:spTree>
    <p:extLst>
      <p:ext uri="{BB962C8B-B14F-4D97-AF65-F5344CB8AC3E}">
        <p14:creationId xmlns:p14="http://schemas.microsoft.com/office/powerpoint/2010/main" val="15226425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76200"/>
            <a:ext cx="7467600" cy="685800"/>
          </a:xfrm>
        </p:spPr>
        <p:txBody>
          <a:bodyPr/>
          <a:lstStyle/>
          <a:p>
            <a:r>
              <a:rPr lang="en-US"/>
              <a:t>Business Case/Regulatory Environment</a:t>
            </a:r>
          </a:p>
        </p:txBody>
      </p:sp>
      <p:sp>
        <p:nvSpPr>
          <p:cNvPr id="5" name="Freeform 4"/>
          <p:cNvSpPr/>
          <p:nvPr/>
        </p:nvSpPr>
        <p:spPr bwMode="auto">
          <a:xfrm>
            <a:off x="241300" y="2590800"/>
            <a:ext cx="1219200" cy="1143000"/>
          </a:xfrm>
          <a:custGeom>
            <a:avLst/>
            <a:gdLst>
              <a:gd name="connsiteX0" fmla="*/ 292100 w 1854200"/>
              <a:gd name="connsiteY0" fmla="*/ 0 h 1549400"/>
              <a:gd name="connsiteX1" fmla="*/ 177800 w 1854200"/>
              <a:gd name="connsiteY1" fmla="*/ 266700 h 1549400"/>
              <a:gd name="connsiteX2" fmla="*/ 431800 w 1854200"/>
              <a:gd name="connsiteY2" fmla="*/ 520700 h 1549400"/>
              <a:gd name="connsiteX3" fmla="*/ 0 w 1854200"/>
              <a:gd name="connsiteY3" fmla="*/ 1130300 h 1549400"/>
              <a:gd name="connsiteX4" fmla="*/ 381000 w 1854200"/>
              <a:gd name="connsiteY4" fmla="*/ 1549400 h 1549400"/>
              <a:gd name="connsiteX5" fmla="*/ 609600 w 1854200"/>
              <a:gd name="connsiteY5" fmla="*/ 774700 h 1549400"/>
              <a:gd name="connsiteX6" fmla="*/ 901700 w 1854200"/>
              <a:gd name="connsiteY6" fmla="*/ 711200 h 1549400"/>
              <a:gd name="connsiteX7" fmla="*/ 914400 w 1854200"/>
              <a:gd name="connsiteY7" fmla="*/ 1498600 h 1549400"/>
              <a:gd name="connsiteX8" fmla="*/ 1689100 w 1854200"/>
              <a:gd name="connsiteY8" fmla="*/ 1524000 h 1549400"/>
              <a:gd name="connsiteX9" fmla="*/ 1854200 w 1854200"/>
              <a:gd name="connsiteY9" fmla="*/ 622300 h 1549400"/>
              <a:gd name="connsiteX10" fmla="*/ 1320800 w 1854200"/>
              <a:gd name="connsiteY10" fmla="*/ 355600 h 1549400"/>
              <a:gd name="connsiteX11" fmla="*/ 609600 w 1854200"/>
              <a:gd name="connsiteY11" fmla="*/ 203200 h 1549400"/>
              <a:gd name="connsiteX12" fmla="*/ 292100 w 1854200"/>
              <a:gd name="connsiteY12" fmla="*/ 0 h 154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54200" h="1549400">
                <a:moveTo>
                  <a:pt x="292100" y="0"/>
                </a:moveTo>
                <a:lnTo>
                  <a:pt x="177800" y="266700"/>
                </a:lnTo>
                <a:lnTo>
                  <a:pt x="431800" y="520700"/>
                </a:lnTo>
                <a:lnTo>
                  <a:pt x="0" y="1130300"/>
                </a:lnTo>
                <a:lnTo>
                  <a:pt x="381000" y="1549400"/>
                </a:lnTo>
                <a:lnTo>
                  <a:pt x="609600" y="774700"/>
                </a:lnTo>
                <a:lnTo>
                  <a:pt x="901700" y="711200"/>
                </a:lnTo>
                <a:lnTo>
                  <a:pt x="914400" y="1498600"/>
                </a:lnTo>
                <a:lnTo>
                  <a:pt x="1689100" y="1524000"/>
                </a:lnTo>
                <a:lnTo>
                  <a:pt x="1854200" y="622300"/>
                </a:lnTo>
                <a:lnTo>
                  <a:pt x="1320800" y="355600"/>
                </a:lnTo>
                <a:lnTo>
                  <a:pt x="609600" y="203200"/>
                </a:lnTo>
                <a:lnTo>
                  <a:pt x="292100" y="0"/>
                </a:lnTo>
                <a:close/>
              </a:path>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6" name="Freeform 5"/>
          <p:cNvSpPr/>
          <p:nvPr/>
        </p:nvSpPr>
        <p:spPr bwMode="auto">
          <a:xfrm>
            <a:off x="1689100" y="3409950"/>
            <a:ext cx="609600" cy="762000"/>
          </a:xfrm>
          <a:custGeom>
            <a:avLst/>
            <a:gdLst>
              <a:gd name="connsiteX0" fmla="*/ 0 w 787400"/>
              <a:gd name="connsiteY0" fmla="*/ 0 h 914400"/>
              <a:gd name="connsiteX1" fmla="*/ 787400 w 787400"/>
              <a:gd name="connsiteY1" fmla="*/ 165100 h 914400"/>
              <a:gd name="connsiteX2" fmla="*/ 355600 w 787400"/>
              <a:gd name="connsiteY2" fmla="*/ 863600 h 914400"/>
              <a:gd name="connsiteX3" fmla="*/ 12700 w 787400"/>
              <a:gd name="connsiteY3" fmla="*/ 914400 h 914400"/>
              <a:gd name="connsiteX4" fmla="*/ 0 w 787400"/>
              <a:gd name="connsiteY4" fmla="*/ 0 h 914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7400" h="914400">
                <a:moveTo>
                  <a:pt x="0" y="0"/>
                </a:moveTo>
                <a:lnTo>
                  <a:pt x="787400" y="165100"/>
                </a:lnTo>
                <a:lnTo>
                  <a:pt x="355600" y="863600"/>
                </a:lnTo>
                <a:lnTo>
                  <a:pt x="12700" y="914400"/>
                </a:lnTo>
                <a:lnTo>
                  <a:pt x="0" y="0"/>
                </a:lnTo>
                <a:close/>
              </a:path>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7" name="Freeform 6"/>
          <p:cNvSpPr/>
          <p:nvPr/>
        </p:nvSpPr>
        <p:spPr bwMode="auto">
          <a:xfrm>
            <a:off x="5276850" y="3962400"/>
            <a:ext cx="800100" cy="1257300"/>
          </a:xfrm>
          <a:custGeom>
            <a:avLst/>
            <a:gdLst>
              <a:gd name="connsiteX0" fmla="*/ 203200 w 800100"/>
              <a:gd name="connsiteY0" fmla="*/ 0 h 1257300"/>
              <a:gd name="connsiteX1" fmla="*/ 381000 w 800100"/>
              <a:gd name="connsiteY1" fmla="*/ 0 h 1257300"/>
              <a:gd name="connsiteX2" fmla="*/ 800100 w 800100"/>
              <a:gd name="connsiteY2" fmla="*/ 838200 h 1257300"/>
              <a:gd name="connsiteX3" fmla="*/ 698500 w 800100"/>
              <a:gd name="connsiteY3" fmla="*/ 1231900 h 1257300"/>
              <a:gd name="connsiteX4" fmla="*/ 355600 w 800100"/>
              <a:gd name="connsiteY4" fmla="*/ 1257300 h 1257300"/>
              <a:gd name="connsiteX5" fmla="*/ 38100 w 800100"/>
              <a:gd name="connsiteY5" fmla="*/ 1054100 h 1257300"/>
              <a:gd name="connsiteX6" fmla="*/ 0 w 800100"/>
              <a:gd name="connsiteY6" fmla="*/ 876300 h 1257300"/>
              <a:gd name="connsiteX7" fmla="*/ 165100 w 800100"/>
              <a:gd name="connsiteY7" fmla="*/ 736600 h 1257300"/>
              <a:gd name="connsiteX8" fmla="*/ 203200 w 800100"/>
              <a:gd name="connsiteY8" fmla="*/ 0 h 1257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0100" h="1257300">
                <a:moveTo>
                  <a:pt x="203200" y="0"/>
                </a:moveTo>
                <a:lnTo>
                  <a:pt x="381000" y="0"/>
                </a:lnTo>
                <a:lnTo>
                  <a:pt x="800100" y="838200"/>
                </a:lnTo>
                <a:lnTo>
                  <a:pt x="698500" y="1231900"/>
                </a:lnTo>
                <a:lnTo>
                  <a:pt x="355600" y="1257300"/>
                </a:lnTo>
                <a:lnTo>
                  <a:pt x="38100" y="1054100"/>
                </a:lnTo>
                <a:lnTo>
                  <a:pt x="0" y="876300"/>
                </a:lnTo>
                <a:lnTo>
                  <a:pt x="165100" y="736600"/>
                </a:lnTo>
                <a:lnTo>
                  <a:pt x="203200" y="0"/>
                </a:lnTo>
                <a:close/>
              </a:path>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8" name="Freeform 7"/>
          <p:cNvSpPr/>
          <p:nvPr/>
        </p:nvSpPr>
        <p:spPr bwMode="auto">
          <a:xfrm>
            <a:off x="6642100" y="2057400"/>
            <a:ext cx="2362200" cy="2235200"/>
          </a:xfrm>
          <a:custGeom>
            <a:avLst/>
            <a:gdLst>
              <a:gd name="connsiteX0" fmla="*/ 1854200 w 2362200"/>
              <a:gd name="connsiteY0" fmla="*/ 38100 h 2235200"/>
              <a:gd name="connsiteX1" fmla="*/ 876300 w 2362200"/>
              <a:gd name="connsiteY1" fmla="*/ 190500 h 2235200"/>
              <a:gd name="connsiteX2" fmla="*/ 825500 w 2362200"/>
              <a:gd name="connsiteY2" fmla="*/ 393700 h 2235200"/>
              <a:gd name="connsiteX3" fmla="*/ 228600 w 2362200"/>
              <a:gd name="connsiteY3" fmla="*/ 508000 h 2235200"/>
              <a:gd name="connsiteX4" fmla="*/ 0 w 2362200"/>
              <a:gd name="connsiteY4" fmla="*/ 1828800 h 2235200"/>
              <a:gd name="connsiteX5" fmla="*/ 0 w 2362200"/>
              <a:gd name="connsiteY5" fmla="*/ 2235200 h 2235200"/>
              <a:gd name="connsiteX6" fmla="*/ 939800 w 2362200"/>
              <a:gd name="connsiteY6" fmla="*/ 2197100 h 2235200"/>
              <a:gd name="connsiteX7" fmla="*/ 1447800 w 2362200"/>
              <a:gd name="connsiteY7" fmla="*/ 660400 h 2235200"/>
              <a:gd name="connsiteX8" fmla="*/ 1765300 w 2362200"/>
              <a:gd name="connsiteY8" fmla="*/ 609600 h 2235200"/>
              <a:gd name="connsiteX9" fmla="*/ 1828800 w 2362200"/>
              <a:gd name="connsiteY9" fmla="*/ 889000 h 2235200"/>
              <a:gd name="connsiteX10" fmla="*/ 2286000 w 2362200"/>
              <a:gd name="connsiteY10" fmla="*/ 1028700 h 2235200"/>
              <a:gd name="connsiteX11" fmla="*/ 2362200 w 2362200"/>
              <a:gd name="connsiteY11" fmla="*/ 0 h 2235200"/>
              <a:gd name="connsiteX12" fmla="*/ 1854200 w 2362200"/>
              <a:gd name="connsiteY12" fmla="*/ 38100 h 223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62200" h="2235200">
                <a:moveTo>
                  <a:pt x="1854200" y="38100"/>
                </a:moveTo>
                <a:lnTo>
                  <a:pt x="876300" y="190500"/>
                </a:lnTo>
                <a:lnTo>
                  <a:pt x="825500" y="393700"/>
                </a:lnTo>
                <a:lnTo>
                  <a:pt x="228600" y="508000"/>
                </a:lnTo>
                <a:lnTo>
                  <a:pt x="0" y="1828800"/>
                </a:lnTo>
                <a:lnTo>
                  <a:pt x="0" y="2235200"/>
                </a:lnTo>
                <a:lnTo>
                  <a:pt x="939800" y="2197100"/>
                </a:lnTo>
                <a:lnTo>
                  <a:pt x="1447800" y="660400"/>
                </a:lnTo>
                <a:lnTo>
                  <a:pt x="1765300" y="609600"/>
                </a:lnTo>
                <a:lnTo>
                  <a:pt x="1828800" y="889000"/>
                </a:lnTo>
                <a:lnTo>
                  <a:pt x="2286000" y="1028700"/>
                </a:lnTo>
                <a:lnTo>
                  <a:pt x="2362200" y="0"/>
                </a:lnTo>
                <a:lnTo>
                  <a:pt x="1854200" y="38100"/>
                </a:lnTo>
                <a:close/>
              </a:path>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9" name="Oval 8"/>
          <p:cNvSpPr/>
          <p:nvPr/>
        </p:nvSpPr>
        <p:spPr bwMode="auto">
          <a:xfrm>
            <a:off x="1308100" y="3022600"/>
            <a:ext cx="152400" cy="152400"/>
          </a:xfrm>
          <a:prstGeom prst="ellipse">
            <a:avLst/>
          </a:prstGeom>
          <a:solidFill>
            <a:srgbClr val="FFFF00"/>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0" name="Oval 9"/>
          <p:cNvSpPr/>
          <p:nvPr/>
        </p:nvSpPr>
        <p:spPr bwMode="auto">
          <a:xfrm>
            <a:off x="1841500" y="3505200"/>
            <a:ext cx="152400" cy="152400"/>
          </a:xfrm>
          <a:prstGeom prst="ellipse">
            <a:avLst/>
          </a:prstGeom>
          <a:solidFill>
            <a:srgbClr val="FFFF00"/>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1" name="Oval 10"/>
          <p:cNvSpPr/>
          <p:nvPr/>
        </p:nvSpPr>
        <p:spPr bwMode="auto">
          <a:xfrm>
            <a:off x="2863851" y="3733800"/>
            <a:ext cx="152400" cy="152400"/>
          </a:xfrm>
          <a:prstGeom prst="ellipse">
            <a:avLst/>
          </a:prstGeom>
          <a:solidFill>
            <a:srgbClr val="FFFF00"/>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2" name="Oval 11"/>
          <p:cNvSpPr/>
          <p:nvPr/>
        </p:nvSpPr>
        <p:spPr bwMode="auto">
          <a:xfrm>
            <a:off x="3200400" y="3810000"/>
            <a:ext cx="152400" cy="152400"/>
          </a:xfrm>
          <a:prstGeom prst="ellipse">
            <a:avLst/>
          </a:prstGeom>
          <a:solidFill>
            <a:srgbClr val="FFFF00"/>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3" name="Oval 12"/>
          <p:cNvSpPr/>
          <p:nvPr/>
        </p:nvSpPr>
        <p:spPr bwMode="auto">
          <a:xfrm>
            <a:off x="3505201" y="3886200"/>
            <a:ext cx="152400" cy="152400"/>
          </a:xfrm>
          <a:prstGeom prst="ellipse">
            <a:avLst/>
          </a:prstGeom>
          <a:solidFill>
            <a:srgbClr val="FFFF00"/>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4" name="Oval 13"/>
          <p:cNvSpPr/>
          <p:nvPr/>
        </p:nvSpPr>
        <p:spPr bwMode="auto">
          <a:xfrm>
            <a:off x="3902076" y="3943350"/>
            <a:ext cx="152400" cy="152400"/>
          </a:xfrm>
          <a:prstGeom prst="ellipse">
            <a:avLst/>
          </a:prstGeom>
          <a:solidFill>
            <a:srgbClr val="FFFF00"/>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5" name="Oval 14"/>
          <p:cNvSpPr/>
          <p:nvPr/>
        </p:nvSpPr>
        <p:spPr bwMode="auto">
          <a:xfrm>
            <a:off x="4600576" y="4013200"/>
            <a:ext cx="152400" cy="152400"/>
          </a:xfrm>
          <a:prstGeom prst="ellipse">
            <a:avLst/>
          </a:prstGeom>
          <a:solidFill>
            <a:srgbClr val="FFFF00"/>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6" name="Oval 15"/>
          <p:cNvSpPr/>
          <p:nvPr/>
        </p:nvSpPr>
        <p:spPr bwMode="auto">
          <a:xfrm>
            <a:off x="5054599" y="3898900"/>
            <a:ext cx="152400" cy="152400"/>
          </a:xfrm>
          <a:prstGeom prst="ellipse">
            <a:avLst/>
          </a:prstGeom>
          <a:solidFill>
            <a:srgbClr val="FFFF00"/>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7" name="Oval 16"/>
          <p:cNvSpPr/>
          <p:nvPr/>
        </p:nvSpPr>
        <p:spPr bwMode="auto">
          <a:xfrm>
            <a:off x="5311774" y="3854450"/>
            <a:ext cx="152400" cy="152400"/>
          </a:xfrm>
          <a:prstGeom prst="ellipse">
            <a:avLst/>
          </a:prstGeom>
          <a:solidFill>
            <a:srgbClr val="FFFF00"/>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8" name="Oval 17"/>
          <p:cNvSpPr/>
          <p:nvPr/>
        </p:nvSpPr>
        <p:spPr bwMode="auto">
          <a:xfrm>
            <a:off x="5540375" y="3829050"/>
            <a:ext cx="152400" cy="152400"/>
          </a:xfrm>
          <a:prstGeom prst="ellipse">
            <a:avLst/>
          </a:prstGeom>
          <a:solidFill>
            <a:srgbClr val="FFFF00"/>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9" name="Oval 18"/>
          <p:cNvSpPr/>
          <p:nvPr/>
        </p:nvSpPr>
        <p:spPr bwMode="auto">
          <a:xfrm>
            <a:off x="5962651" y="3835400"/>
            <a:ext cx="152400" cy="152400"/>
          </a:xfrm>
          <a:prstGeom prst="ellipse">
            <a:avLst/>
          </a:prstGeom>
          <a:solidFill>
            <a:srgbClr val="FFFF00"/>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20" name="Oval 19"/>
          <p:cNvSpPr/>
          <p:nvPr/>
        </p:nvSpPr>
        <p:spPr bwMode="auto">
          <a:xfrm>
            <a:off x="5181600" y="3886200"/>
            <a:ext cx="152400" cy="152400"/>
          </a:xfrm>
          <a:prstGeom prst="ellipse">
            <a:avLst/>
          </a:prstGeom>
          <a:solidFill>
            <a:srgbClr val="FFFF00"/>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21" name="Oval 20"/>
          <p:cNvSpPr/>
          <p:nvPr/>
        </p:nvSpPr>
        <p:spPr bwMode="auto">
          <a:xfrm>
            <a:off x="5387975" y="3778250"/>
            <a:ext cx="152400" cy="152400"/>
          </a:xfrm>
          <a:prstGeom prst="ellipse">
            <a:avLst/>
          </a:prstGeom>
          <a:solidFill>
            <a:srgbClr val="FFFF00"/>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22" name="Oval 21"/>
          <p:cNvSpPr/>
          <p:nvPr/>
        </p:nvSpPr>
        <p:spPr bwMode="auto">
          <a:xfrm>
            <a:off x="6337300" y="3505200"/>
            <a:ext cx="152400" cy="152400"/>
          </a:xfrm>
          <a:prstGeom prst="ellipse">
            <a:avLst/>
          </a:prstGeom>
          <a:solidFill>
            <a:srgbClr val="FFFF00"/>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23" name="Oval 22"/>
          <p:cNvSpPr/>
          <p:nvPr/>
        </p:nvSpPr>
        <p:spPr bwMode="auto">
          <a:xfrm>
            <a:off x="6642100" y="3409950"/>
            <a:ext cx="152400" cy="152400"/>
          </a:xfrm>
          <a:prstGeom prst="ellipse">
            <a:avLst/>
          </a:prstGeom>
          <a:solidFill>
            <a:srgbClr val="FFFF00"/>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24" name="Oval 23"/>
          <p:cNvSpPr/>
          <p:nvPr/>
        </p:nvSpPr>
        <p:spPr bwMode="auto">
          <a:xfrm>
            <a:off x="6902450" y="3441700"/>
            <a:ext cx="152400" cy="152400"/>
          </a:xfrm>
          <a:prstGeom prst="ellipse">
            <a:avLst/>
          </a:prstGeom>
          <a:solidFill>
            <a:srgbClr val="FFFF00"/>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25" name="Text Box 14"/>
          <p:cNvSpPr txBox="1">
            <a:spLocks noChangeArrowheads="1"/>
          </p:cNvSpPr>
          <p:nvPr/>
        </p:nvSpPr>
        <p:spPr bwMode="auto">
          <a:xfrm>
            <a:off x="405523" y="1496579"/>
            <a:ext cx="3937877" cy="646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358" tIns="45678" rIns="91358" bIns="45678">
            <a:spAutoFit/>
          </a:bodyPr>
          <a:lstStyle/>
          <a:p>
            <a:pPr algn="ctr" eaLnBrk="1" hangingPunct="1">
              <a:spcBef>
                <a:spcPct val="50000"/>
              </a:spcBef>
            </a:pPr>
            <a:r>
              <a:rPr lang="en-US" sz="3600" b="1">
                <a:solidFill>
                  <a:schemeClr val="accent2"/>
                </a:solidFill>
                <a:effectLst>
                  <a:outerShdw blurRad="38100" dist="38100" dir="2700000" algn="tl">
                    <a:srgbClr val="C0C0C0"/>
                  </a:outerShdw>
                </a:effectLst>
              </a:rPr>
              <a:t>Supply</a:t>
            </a:r>
            <a:endParaRPr lang="en-US" sz="1500" b="1">
              <a:solidFill>
                <a:schemeClr val="accent2"/>
              </a:solidFill>
              <a:effectLst>
                <a:outerShdw blurRad="38100" dist="38100" dir="2700000" algn="tl">
                  <a:srgbClr val="C0C0C0"/>
                </a:outerShdw>
              </a:effectLst>
            </a:endParaRPr>
          </a:p>
        </p:txBody>
      </p:sp>
      <p:sp>
        <p:nvSpPr>
          <p:cNvPr id="27" name="Text Box 14"/>
          <p:cNvSpPr txBox="1">
            <a:spLocks noChangeArrowheads="1"/>
          </p:cNvSpPr>
          <p:nvPr/>
        </p:nvSpPr>
        <p:spPr bwMode="auto">
          <a:xfrm>
            <a:off x="1841500" y="2019743"/>
            <a:ext cx="3937877" cy="646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358" tIns="45678" rIns="91358" bIns="45678">
            <a:spAutoFit/>
          </a:bodyPr>
          <a:lstStyle/>
          <a:p>
            <a:pPr algn="ctr" eaLnBrk="1" hangingPunct="1">
              <a:spcBef>
                <a:spcPct val="50000"/>
              </a:spcBef>
            </a:pPr>
            <a:r>
              <a:rPr lang="en-US" sz="3600" b="1">
                <a:effectLst>
                  <a:outerShdw blurRad="38100" dist="38100" dir="2700000" algn="tl">
                    <a:srgbClr val="C0C0C0"/>
                  </a:outerShdw>
                </a:effectLst>
              </a:rPr>
              <a:t>And</a:t>
            </a:r>
            <a:endParaRPr lang="en-US" sz="1500" b="1">
              <a:effectLst>
                <a:outerShdw blurRad="38100" dist="38100" dir="2700000" algn="tl">
                  <a:srgbClr val="C0C0C0"/>
                </a:outerShdw>
              </a:effectLst>
            </a:endParaRPr>
          </a:p>
        </p:txBody>
      </p:sp>
      <p:sp>
        <p:nvSpPr>
          <p:cNvPr id="28" name="Text Box 14"/>
          <p:cNvSpPr txBox="1">
            <a:spLocks noChangeArrowheads="1"/>
          </p:cNvSpPr>
          <p:nvPr/>
        </p:nvSpPr>
        <p:spPr bwMode="auto">
          <a:xfrm>
            <a:off x="3419035" y="2603500"/>
            <a:ext cx="3937877" cy="646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358" tIns="45678" rIns="91358" bIns="45678">
            <a:spAutoFit/>
          </a:bodyPr>
          <a:lstStyle/>
          <a:p>
            <a:pPr algn="ctr" eaLnBrk="1" hangingPunct="1">
              <a:spcBef>
                <a:spcPct val="50000"/>
              </a:spcBef>
            </a:pPr>
            <a:r>
              <a:rPr lang="en-US" sz="3600" b="1">
                <a:ln>
                  <a:solidFill>
                    <a:srgbClr val="FFC000"/>
                  </a:solidFill>
                </a:ln>
                <a:solidFill>
                  <a:srgbClr val="FFFF00"/>
                </a:solidFill>
                <a:effectLst>
                  <a:outerShdw blurRad="38100" dist="38100" dir="2700000" algn="tl">
                    <a:srgbClr val="C0C0C0"/>
                  </a:outerShdw>
                </a:effectLst>
              </a:rPr>
              <a:t>Demand</a:t>
            </a:r>
            <a:endParaRPr lang="en-US" sz="1500" b="1">
              <a:ln>
                <a:solidFill>
                  <a:srgbClr val="FFC000"/>
                </a:solidFill>
              </a:ln>
              <a:solidFill>
                <a:srgbClr val="FFFF00"/>
              </a:solidFill>
              <a:effectLst>
                <a:outerShdw blurRad="38100" dist="38100" dir="2700000" algn="tl">
                  <a:srgbClr val="C0C0C0"/>
                </a:outerShdw>
              </a:effectLst>
            </a:endParaRPr>
          </a:p>
        </p:txBody>
      </p:sp>
      <p:sp>
        <p:nvSpPr>
          <p:cNvPr id="29" name="Freeform 28"/>
          <p:cNvSpPr/>
          <p:nvPr/>
        </p:nvSpPr>
        <p:spPr bwMode="auto">
          <a:xfrm>
            <a:off x="1384300" y="3098800"/>
            <a:ext cx="5649038" cy="999079"/>
          </a:xfrm>
          <a:custGeom>
            <a:avLst/>
            <a:gdLst>
              <a:gd name="connsiteX0" fmla="*/ 0 w 5649038"/>
              <a:gd name="connsiteY0" fmla="*/ 0 h 999079"/>
              <a:gd name="connsiteX1" fmla="*/ 546100 w 5649038"/>
              <a:gd name="connsiteY1" fmla="*/ 495300 h 999079"/>
              <a:gd name="connsiteX2" fmla="*/ 1587500 w 5649038"/>
              <a:gd name="connsiteY2" fmla="*/ 698500 h 999079"/>
              <a:gd name="connsiteX3" fmla="*/ 2578100 w 5649038"/>
              <a:gd name="connsiteY3" fmla="*/ 952500 h 999079"/>
              <a:gd name="connsiteX4" fmla="*/ 3327400 w 5649038"/>
              <a:gd name="connsiteY4" fmla="*/ 990600 h 999079"/>
              <a:gd name="connsiteX5" fmla="*/ 3962400 w 5649038"/>
              <a:gd name="connsiteY5" fmla="*/ 850900 h 999079"/>
              <a:gd name="connsiteX6" fmla="*/ 4076700 w 5649038"/>
              <a:gd name="connsiteY6" fmla="*/ 736600 h 999079"/>
              <a:gd name="connsiteX7" fmla="*/ 4203700 w 5649038"/>
              <a:gd name="connsiteY7" fmla="*/ 800100 h 999079"/>
              <a:gd name="connsiteX8" fmla="*/ 4673600 w 5649038"/>
              <a:gd name="connsiteY8" fmla="*/ 825500 h 999079"/>
              <a:gd name="connsiteX9" fmla="*/ 5003800 w 5649038"/>
              <a:gd name="connsiteY9" fmla="*/ 444500 h 999079"/>
              <a:gd name="connsiteX10" fmla="*/ 5613400 w 5649038"/>
              <a:gd name="connsiteY10" fmla="*/ 381000 h 999079"/>
              <a:gd name="connsiteX11" fmla="*/ 5575300 w 5649038"/>
              <a:gd name="connsiteY11" fmla="*/ 381000 h 999079"/>
              <a:gd name="connsiteX12" fmla="*/ 5562600 w 5649038"/>
              <a:gd name="connsiteY12" fmla="*/ 368300 h 999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49038" h="999079">
                <a:moveTo>
                  <a:pt x="0" y="0"/>
                </a:moveTo>
                <a:cubicBezTo>
                  <a:pt x="140758" y="189441"/>
                  <a:pt x="281517" y="378883"/>
                  <a:pt x="546100" y="495300"/>
                </a:cubicBezTo>
                <a:cubicBezTo>
                  <a:pt x="810683" y="611717"/>
                  <a:pt x="1248833" y="622300"/>
                  <a:pt x="1587500" y="698500"/>
                </a:cubicBezTo>
                <a:cubicBezTo>
                  <a:pt x="1926167" y="774700"/>
                  <a:pt x="2288117" y="903817"/>
                  <a:pt x="2578100" y="952500"/>
                </a:cubicBezTo>
                <a:cubicBezTo>
                  <a:pt x="2868083" y="1001183"/>
                  <a:pt x="3096683" y="1007533"/>
                  <a:pt x="3327400" y="990600"/>
                </a:cubicBezTo>
                <a:cubicBezTo>
                  <a:pt x="3558117" y="973667"/>
                  <a:pt x="3837517" y="893233"/>
                  <a:pt x="3962400" y="850900"/>
                </a:cubicBezTo>
                <a:cubicBezTo>
                  <a:pt x="4087283" y="808567"/>
                  <a:pt x="4036484" y="745067"/>
                  <a:pt x="4076700" y="736600"/>
                </a:cubicBezTo>
                <a:cubicBezTo>
                  <a:pt x="4116916" y="728133"/>
                  <a:pt x="4104217" y="785283"/>
                  <a:pt x="4203700" y="800100"/>
                </a:cubicBezTo>
                <a:cubicBezTo>
                  <a:pt x="4303183" y="814917"/>
                  <a:pt x="4540250" y="884767"/>
                  <a:pt x="4673600" y="825500"/>
                </a:cubicBezTo>
                <a:cubicBezTo>
                  <a:pt x="4806950" y="766233"/>
                  <a:pt x="4847167" y="518583"/>
                  <a:pt x="5003800" y="444500"/>
                </a:cubicBezTo>
                <a:cubicBezTo>
                  <a:pt x="5160433" y="370417"/>
                  <a:pt x="5518150" y="391583"/>
                  <a:pt x="5613400" y="381000"/>
                </a:cubicBezTo>
                <a:cubicBezTo>
                  <a:pt x="5708650" y="370417"/>
                  <a:pt x="5583767" y="383117"/>
                  <a:pt x="5575300" y="381000"/>
                </a:cubicBezTo>
                <a:cubicBezTo>
                  <a:pt x="5566833" y="378883"/>
                  <a:pt x="5564716" y="373591"/>
                  <a:pt x="5562600" y="368300"/>
                </a:cubicBezTo>
              </a:path>
            </a:pathLst>
          </a:custGeom>
          <a:noFill/>
          <a:ln w="254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5993526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76200"/>
            <a:ext cx="7467600" cy="685800"/>
          </a:xfrm>
        </p:spPr>
        <p:txBody>
          <a:bodyPr/>
          <a:lstStyle/>
          <a:p>
            <a:r>
              <a:rPr lang="en-US"/>
              <a:t>Business Case/Regulatory Environment</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066800"/>
            <a:ext cx="7772400" cy="5264034"/>
          </a:xfrm>
          <a:prstGeom prst="rect">
            <a:avLst/>
          </a:prstGeom>
        </p:spPr>
      </p:pic>
    </p:spTree>
    <p:extLst>
      <p:ext uri="{BB962C8B-B14F-4D97-AF65-F5344CB8AC3E}">
        <p14:creationId xmlns:p14="http://schemas.microsoft.com/office/powerpoint/2010/main" val="7065955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76200"/>
            <a:ext cx="7467600" cy="685800"/>
          </a:xfrm>
        </p:spPr>
        <p:txBody>
          <a:bodyPr/>
          <a:lstStyle/>
          <a:p>
            <a:r>
              <a:rPr lang="en-US"/>
              <a:t>Business Case/Regulatory Environment</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066800"/>
            <a:ext cx="7772400" cy="5264034"/>
          </a:xfrm>
          <a:prstGeom prst="rect">
            <a:avLst/>
          </a:prstGeom>
        </p:spPr>
      </p:pic>
      <p:sp>
        <p:nvSpPr>
          <p:cNvPr id="4" name="Text Box 14"/>
          <p:cNvSpPr txBox="1">
            <a:spLocks noChangeArrowheads="1"/>
          </p:cNvSpPr>
          <p:nvPr/>
        </p:nvSpPr>
        <p:spPr bwMode="auto">
          <a:xfrm>
            <a:off x="2057400" y="1828800"/>
            <a:ext cx="4267200" cy="1200244"/>
          </a:xfrm>
          <a:prstGeom prst="rect">
            <a:avLst/>
          </a:prstGeom>
          <a:solidFill>
            <a:schemeClr val="accent1">
              <a:lumMod val="40000"/>
              <a:lumOff val="60000"/>
              <a:alpha val="40000"/>
            </a:schemeClr>
          </a:solidFill>
          <a:ln>
            <a:noFill/>
          </a:ln>
          <a:effectLst>
            <a:softEdge rad="127000"/>
          </a:effectLst>
        </p:spPr>
        <p:txBody>
          <a:bodyPr wrap="square" lIns="91358" tIns="45678" rIns="91358" bIns="45678">
            <a:spAutoFit/>
          </a:bodyPr>
          <a:lstStyle/>
          <a:p>
            <a:pPr algn="ctr" eaLnBrk="1" hangingPunct="1">
              <a:spcBef>
                <a:spcPct val="50000"/>
              </a:spcBef>
            </a:pPr>
            <a:r>
              <a:rPr lang="en-US" sz="3600" b="1">
                <a:solidFill>
                  <a:schemeClr val="accent2"/>
                </a:solidFill>
                <a:effectLst>
                  <a:outerShdw blurRad="38100" dist="38100" dir="2700000" algn="tl">
                    <a:srgbClr val="C0C0C0"/>
                  </a:outerShdw>
                </a:effectLst>
              </a:rPr>
              <a:t>5.6 Billion Dollar Construction Cost</a:t>
            </a:r>
            <a:endParaRPr lang="en-US" sz="1500" b="1">
              <a:solidFill>
                <a:schemeClr val="accent2"/>
              </a:solidFill>
              <a:effectLst>
                <a:outerShdw blurRad="38100" dist="38100" dir="2700000" algn="tl">
                  <a:srgbClr val="C0C0C0"/>
                </a:outerShdw>
              </a:effectLst>
            </a:endParaRPr>
          </a:p>
        </p:txBody>
      </p:sp>
    </p:spTree>
    <p:extLst>
      <p:ext uri="{BB962C8B-B14F-4D97-AF65-F5344CB8AC3E}">
        <p14:creationId xmlns:p14="http://schemas.microsoft.com/office/powerpoint/2010/main" val="31430420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76200"/>
            <a:ext cx="7467600" cy="685800"/>
          </a:xfrm>
        </p:spPr>
        <p:txBody>
          <a:bodyPr/>
          <a:lstStyle/>
          <a:p>
            <a:r>
              <a:rPr lang="en-US"/>
              <a:t>Business Case/Regulatory Environment</a:t>
            </a:r>
          </a:p>
        </p:txBody>
      </p:sp>
      <p:sp>
        <p:nvSpPr>
          <p:cNvPr id="5" name="Content Placeholder 2"/>
          <p:cNvSpPr>
            <a:spLocks noGrp="1"/>
          </p:cNvSpPr>
          <p:nvPr>
            <p:ph idx="1"/>
          </p:nvPr>
        </p:nvSpPr>
        <p:spPr>
          <a:xfrm>
            <a:off x="381000" y="1143000"/>
            <a:ext cx="8610600" cy="5105400"/>
          </a:xfrm>
        </p:spPr>
        <p:txBody>
          <a:bodyPr/>
          <a:lstStyle/>
          <a:p>
            <a:r>
              <a:rPr lang="en-US" sz="2400"/>
              <a:t>Unique economic situation and high barriers to entry make natural market competition all but impossible</a:t>
            </a:r>
          </a:p>
          <a:p>
            <a:endParaRPr lang="en-US" sz="2400"/>
          </a:p>
          <a:p>
            <a:r>
              <a:rPr lang="en-US" sz="2400"/>
              <a:t>Pipelines are thus highly regulated due to their essential monopoly</a:t>
            </a:r>
          </a:p>
          <a:p>
            <a:endParaRPr lang="en-US" sz="2400"/>
          </a:p>
          <a:p>
            <a:r>
              <a:rPr lang="en-US" sz="2400"/>
              <a:t>Regulatory friends:</a:t>
            </a:r>
          </a:p>
          <a:p>
            <a:pPr lvl="1"/>
            <a:r>
              <a:rPr lang="en-US" sz="2000"/>
              <a:t>Interstate:</a:t>
            </a:r>
          </a:p>
          <a:p>
            <a:pPr lvl="2"/>
            <a:r>
              <a:rPr lang="en-US" sz="1600"/>
              <a:t> </a:t>
            </a:r>
            <a:r>
              <a:rPr lang="en-US" sz="1600">
                <a:solidFill>
                  <a:srgbClr val="FFC000"/>
                </a:solidFill>
              </a:rPr>
              <a:t>NAESB</a:t>
            </a:r>
            <a:r>
              <a:rPr lang="en-US" sz="1600"/>
              <a:t> – North American Energy Standards Board</a:t>
            </a:r>
          </a:p>
          <a:p>
            <a:pPr lvl="2"/>
            <a:r>
              <a:rPr lang="en-US" sz="1600"/>
              <a:t> </a:t>
            </a:r>
            <a:r>
              <a:rPr lang="en-US" sz="1600">
                <a:solidFill>
                  <a:srgbClr val="FFC000"/>
                </a:solidFill>
              </a:rPr>
              <a:t>FERC</a:t>
            </a:r>
            <a:r>
              <a:rPr lang="en-US" sz="1600"/>
              <a:t> – Federal Energy Regulation Commission</a:t>
            </a:r>
          </a:p>
          <a:p>
            <a:pPr lvl="1"/>
            <a:r>
              <a:rPr lang="en-US" sz="2000"/>
              <a:t>Intrastate:</a:t>
            </a:r>
          </a:p>
          <a:p>
            <a:pPr lvl="2"/>
            <a:r>
              <a:rPr lang="en-US" sz="1600"/>
              <a:t>State level regulatory bodies (i.e. RRC in Texas)</a:t>
            </a:r>
          </a:p>
          <a:p>
            <a:endParaRPr lang="en-US" sz="2400"/>
          </a:p>
        </p:txBody>
      </p:sp>
    </p:spTree>
    <p:extLst>
      <p:ext uri="{BB962C8B-B14F-4D97-AF65-F5344CB8AC3E}">
        <p14:creationId xmlns:p14="http://schemas.microsoft.com/office/powerpoint/2010/main" val="23577138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76200"/>
            <a:ext cx="7467600" cy="685800"/>
          </a:xfrm>
        </p:spPr>
        <p:txBody>
          <a:bodyPr/>
          <a:lstStyle/>
          <a:p>
            <a:r>
              <a:rPr lang="en-US"/>
              <a:t>Business Case/Regulatory Environment</a:t>
            </a:r>
          </a:p>
        </p:txBody>
      </p:sp>
      <p:sp>
        <p:nvSpPr>
          <p:cNvPr id="5" name="Content Placeholder 2"/>
          <p:cNvSpPr>
            <a:spLocks noGrp="1"/>
          </p:cNvSpPr>
          <p:nvPr>
            <p:ph idx="1"/>
          </p:nvPr>
        </p:nvSpPr>
        <p:spPr>
          <a:xfrm>
            <a:off x="381000" y="1143000"/>
            <a:ext cx="8610600" cy="5105400"/>
          </a:xfrm>
        </p:spPr>
        <p:txBody>
          <a:bodyPr/>
          <a:lstStyle/>
          <a:p>
            <a:r>
              <a:rPr lang="en-US" sz="2400"/>
              <a:t>A Tariff is drafted to dictate VERY specifically how all business is to be transacted across the pipeline</a:t>
            </a:r>
          </a:p>
          <a:p>
            <a:endParaRPr lang="en-US" sz="2400"/>
          </a:p>
          <a:p>
            <a:r>
              <a:rPr lang="en-US" sz="2400"/>
              <a:t>Unique to each pipeline</a:t>
            </a:r>
          </a:p>
          <a:p>
            <a:endParaRPr lang="en-US" sz="2400"/>
          </a:p>
          <a:p>
            <a:r>
              <a:rPr lang="en-US" sz="2400"/>
              <a:t>Approved by the applicable regulatory body</a:t>
            </a:r>
          </a:p>
          <a:p>
            <a:endParaRPr lang="en-US" sz="2400"/>
          </a:p>
          <a:p>
            <a:r>
              <a:rPr lang="en-US" sz="2400"/>
              <a:t>Example!</a:t>
            </a:r>
            <a:endParaRPr lang="en-US" sz="1600"/>
          </a:p>
        </p:txBody>
      </p:sp>
    </p:spTree>
    <p:extLst>
      <p:ext uri="{BB962C8B-B14F-4D97-AF65-F5344CB8AC3E}">
        <p14:creationId xmlns:p14="http://schemas.microsoft.com/office/powerpoint/2010/main" val="29496036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External Accessibility</a:t>
            </a:r>
          </a:p>
        </p:txBody>
      </p:sp>
      <p:sp>
        <p:nvSpPr>
          <p:cNvPr id="3" name="Content Placeholder 2"/>
          <p:cNvSpPr>
            <a:spLocks noGrp="1"/>
          </p:cNvSpPr>
          <p:nvPr>
            <p:ph idx="1"/>
          </p:nvPr>
        </p:nvSpPr>
        <p:spPr/>
        <p:txBody>
          <a:bodyPr/>
          <a:lstStyle/>
          <a:p>
            <a:r>
              <a:rPr lang="en-US"/>
              <a:t>Clients</a:t>
            </a:r>
          </a:p>
          <a:p>
            <a:pPr lvl="1"/>
            <a:r>
              <a:rPr lang="en-US"/>
              <a:t>Our clients are the pipeline operators </a:t>
            </a:r>
          </a:p>
          <a:p>
            <a:pPr lvl="1"/>
            <a:r>
              <a:rPr lang="en-US" b="1" i="1"/>
              <a:t>Their</a:t>
            </a:r>
            <a:r>
              <a:rPr lang="en-US"/>
              <a:t> clients are the shippers</a:t>
            </a:r>
          </a:p>
          <a:p>
            <a:pPr lvl="4"/>
            <a:endParaRPr lang="en-US"/>
          </a:p>
          <a:p>
            <a:r>
              <a:rPr lang="en-US"/>
              <a:t>Customer Activities Website (</a:t>
            </a:r>
            <a:r>
              <a:rPr lang="en-US">
                <a:solidFill>
                  <a:srgbClr val="FFC000"/>
                </a:solidFill>
              </a:rPr>
              <a:t>CAW</a:t>
            </a:r>
            <a:r>
              <a:rPr lang="en-US"/>
              <a:t>) app is a portal for the external users to do their business on the pipeline</a:t>
            </a:r>
          </a:p>
          <a:p>
            <a:pPr lvl="1"/>
            <a:r>
              <a:rPr lang="en-US"/>
              <a:t>Currently separate executable available on Citrix (or the Web in v16!)</a:t>
            </a:r>
          </a:p>
          <a:p>
            <a:pPr lvl="3"/>
            <a:endParaRPr lang="en-US"/>
          </a:p>
        </p:txBody>
      </p:sp>
    </p:spTree>
    <p:extLst>
      <p:ext uri="{BB962C8B-B14F-4D97-AF65-F5344CB8AC3E}">
        <p14:creationId xmlns:p14="http://schemas.microsoft.com/office/powerpoint/2010/main" val="33408842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Text Box 2"/>
          <p:cNvSpPr txBox="1">
            <a:spLocks noChangeArrowheads="1"/>
          </p:cNvSpPr>
          <p:nvPr/>
        </p:nvSpPr>
        <p:spPr bwMode="auto">
          <a:xfrm>
            <a:off x="6994526" y="5548312"/>
            <a:ext cx="2530475" cy="627700"/>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358" tIns="45678" rIns="91358" bIns="45678">
            <a:spAutoFit/>
          </a:bodyPr>
          <a:lstStyle/>
          <a:p>
            <a:pPr algn="ctr" eaLnBrk="1" hangingPunct="1"/>
            <a:endParaRPr lang="en-US" sz="3400"/>
          </a:p>
        </p:txBody>
      </p:sp>
      <p:sp>
        <p:nvSpPr>
          <p:cNvPr id="357461" name="Rectangle 85"/>
          <p:cNvSpPr>
            <a:spLocks noGrp="1" noChangeArrowheads="1"/>
          </p:cNvSpPr>
          <p:nvPr>
            <p:ph type="title"/>
          </p:nvPr>
        </p:nvSpPr>
        <p:spPr>
          <a:noFill/>
          <a:ln/>
        </p:spPr>
        <p:txBody>
          <a:bodyPr/>
          <a:lstStyle/>
          <a:p>
            <a:r>
              <a:rPr lang="en-US"/>
              <a:t>QPTM System Flow</a:t>
            </a:r>
          </a:p>
        </p:txBody>
      </p:sp>
      <p:sp>
        <p:nvSpPr>
          <p:cNvPr id="54" name="Text Box 14"/>
          <p:cNvSpPr txBox="1">
            <a:spLocks noChangeArrowheads="1"/>
          </p:cNvSpPr>
          <p:nvPr/>
        </p:nvSpPr>
        <p:spPr bwMode="auto">
          <a:xfrm>
            <a:off x="457381" y="1337735"/>
            <a:ext cx="8229420" cy="646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358" tIns="45678" rIns="91358" bIns="45678">
            <a:spAutoFit/>
          </a:bodyPr>
          <a:lstStyle/>
          <a:p>
            <a:pPr algn="ctr" eaLnBrk="1" hangingPunct="1">
              <a:spcBef>
                <a:spcPct val="50000"/>
              </a:spcBef>
            </a:pPr>
            <a:r>
              <a:rPr lang="en-US" sz="1500" b="1">
                <a:effectLst>
                  <a:outerShdw blurRad="38100" dist="38100" dir="2700000" algn="tl">
                    <a:srgbClr val="C0C0C0"/>
                  </a:outerShdw>
                </a:effectLst>
              </a:rPr>
              <a:t>Master Data</a:t>
            </a:r>
          </a:p>
          <a:p>
            <a:pPr algn="ctr" eaLnBrk="1" hangingPunct="1">
              <a:spcBef>
                <a:spcPct val="50000"/>
              </a:spcBef>
            </a:pPr>
            <a:r>
              <a:rPr lang="en-US" sz="1400"/>
              <a:t>Contracts, Rates, Business Associates, Locations</a:t>
            </a:r>
          </a:p>
        </p:txBody>
      </p:sp>
      <p:sp>
        <p:nvSpPr>
          <p:cNvPr id="57" name="AutoShape 21"/>
          <p:cNvSpPr>
            <a:spLocks noChangeArrowheads="1"/>
          </p:cNvSpPr>
          <p:nvPr/>
        </p:nvSpPr>
        <p:spPr bwMode="auto">
          <a:xfrm>
            <a:off x="457380" y="1337736"/>
            <a:ext cx="8229420" cy="646246"/>
          </a:xfrm>
          <a:prstGeom prst="roundRect">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3" tIns="45717" rIns="91433" bIns="45717" anchor="ctr"/>
          <a:lstStyle/>
          <a:p>
            <a:endParaRPr lang="en-US"/>
          </a:p>
        </p:txBody>
      </p:sp>
      <p:cxnSp>
        <p:nvCxnSpPr>
          <p:cNvPr id="5" name="Straight Connector 4"/>
          <p:cNvCxnSpPr/>
          <p:nvPr/>
        </p:nvCxnSpPr>
        <p:spPr>
          <a:xfrm flipH="1">
            <a:off x="4530452" y="2149607"/>
            <a:ext cx="420" cy="4217326"/>
          </a:xfrm>
          <a:prstGeom prst="line">
            <a:avLst/>
          </a:prstGeom>
        </p:spPr>
        <p:style>
          <a:lnRef idx="1">
            <a:schemeClr val="accent1"/>
          </a:lnRef>
          <a:fillRef idx="0">
            <a:schemeClr val="accent1"/>
          </a:fillRef>
          <a:effectRef idx="0">
            <a:schemeClr val="accent1"/>
          </a:effectRef>
          <a:fontRef idx="minor">
            <a:schemeClr val="tx1"/>
          </a:fontRef>
        </p:style>
      </p:cxnSp>
      <p:sp>
        <p:nvSpPr>
          <p:cNvPr id="65" name="Text Box 14"/>
          <p:cNvSpPr txBox="1">
            <a:spLocks noChangeArrowheads="1"/>
          </p:cNvSpPr>
          <p:nvPr/>
        </p:nvSpPr>
        <p:spPr bwMode="auto">
          <a:xfrm>
            <a:off x="770649" y="2233852"/>
            <a:ext cx="3496553" cy="323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358" tIns="45678" rIns="91358" bIns="45678">
            <a:spAutoFit/>
          </a:bodyPr>
          <a:lstStyle/>
          <a:p>
            <a:pPr algn="ctr" eaLnBrk="1" hangingPunct="1">
              <a:spcBef>
                <a:spcPct val="50000"/>
              </a:spcBef>
            </a:pPr>
            <a:r>
              <a:rPr lang="en-US" sz="1500" b="1">
                <a:effectLst>
                  <a:outerShdw blurRad="38100" dist="38100" dir="2700000" algn="tl">
                    <a:srgbClr val="C0C0C0"/>
                  </a:outerShdw>
                </a:effectLst>
              </a:rPr>
              <a:t>Pre-Flow</a:t>
            </a:r>
          </a:p>
        </p:txBody>
      </p:sp>
      <p:sp>
        <p:nvSpPr>
          <p:cNvPr id="66" name="Text Box 14"/>
          <p:cNvSpPr txBox="1">
            <a:spLocks noChangeArrowheads="1"/>
          </p:cNvSpPr>
          <p:nvPr/>
        </p:nvSpPr>
        <p:spPr bwMode="auto">
          <a:xfrm>
            <a:off x="5843564" y="2239886"/>
            <a:ext cx="1415437" cy="323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358" tIns="45678" rIns="91358" bIns="45678">
            <a:spAutoFit/>
          </a:bodyPr>
          <a:lstStyle/>
          <a:p>
            <a:pPr algn="ctr" eaLnBrk="1" hangingPunct="1">
              <a:spcBef>
                <a:spcPct val="50000"/>
              </a:spcBef>
            </a:pPr>
            <a:r>
              <a:rPr lang="en-US" sz="1500" b="1">
                <a:effectLst>
                  <a:outerShdw blurRad="38100" dist="38100" dir="2700000" algn="tl">
                    <a:srgbClr val="C0C0C0"/>
                  </a:outerShdw>
                </a:effectLst>
              </a:rPr>
              <a:t>Post-Flow</a:t>
            </a:r>
          </a:p>
        </p:txBody>
      </p:sp>
      <p:sp>
        <p:nvSpPr>
          <p:cNvPr id="67" name="AutoShape 32"/>
          <p:cNvSpPr>
            <a:spLocks noChangeArrowheads="1"/>
          </p:cNvSpPr>
          <p:nvPr/>
        </p:nvSpPr>
        <p:spPr bwMode="auto">
          <a:xfrm>
            <a:off x="770649" y="2715817"/>
            <a:ext cx="3496553" cy="705241"/>
          </a:xfrm>
          <a:prstGeom prst="roundRect">
            <a:avLst>
              <a:gd name="adj" fmla="val 16667"/>
            </a:avLst>
          </a:prstGeom>
          <a:gradFill rotWithShape="1">
            <a:gsLst>
              <a:gs pos="0">
                <a:srgbClr val="33CC33"/>
              </a:gs>
              <a:gs pos="50000">
                <a:srgbClr val="33CC33">
                  <a:gamma/>
                  <a:shade val="76078"/>
                  <a:invGamma/>
                </a:srgbClr>
              </a:gs>
              <a:gs pos="100000">
                <a:srgbClr val="33CC33"/>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p>
            <a:pPr algn="ctr"/>
            <a:r>
              <a:rPr lang="en-US" sz="1200" b="1">
                <a:solidFill>
                  <a:schemeClr val="bg1"/>
                </a:solidFill>
              </a:rPr>
              <a:t>Nominations</a:t>
            </a:r>
          </a:p>
          <a:p>
            <a:pPr algn="ctr"/>
            <a:r>
              <a:rPr lang="en-US" sz="1200">
                <a:solidFill>
                  <a:schemeClr val="bg1"/>
                </a:solidFill>
              </a:rPr>
              <a:t>Shipper (external) requesting when, where and how much gas they want to move</a:t>
            </a:r>
          </a:p>
        </p:txBody>
      </p:sp>
      <p:sp>
        <p:nvSpPr>
          <p:cNvPr id="68" name="AutoShape 25"/>
          <p:cNvSpPr>
            <a:spLocks noChangeArrowheads="1"/>
          </p:cNvSpPr>
          <p:nvPr/>
        </p:nvSpPr>
        <p:spPr bwMode="auto">
          <a:xfrm>
            <a:off x="770649" y="3740371"/>
            <a:ext cx="3496553" cy="705241"/>
          </a:xfrm>
          <a:prstGeom prst="roundRect">
            <a:avLst>
              <a:gd name="adj" fmla="val 16667"/>
            </a:avLst>
          </a:prstGeom>
          <a:gradFill rotWithShape="1">
            <a:gsLst>
              <a:gs pos="0">
                <a:srgbClr val="33CC33"/>
              </a:gs>
              <a:gs pos="50000">
                <a:srgbClr val="33CC33">
                  <a:gamma/>
                  <a:shade val="76078"/>
                  <a:invGamma/>
                </a:srgbClr>
              </a:gs>
              <a:gs pos="100000">
                <a:srgbClr val="33CC33"/>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p>
            <a:pPr algn="ctr"/>
            <a:r>
              <a:rPr lang="en-US" sz="1200" b="1">
                <a:solidFill>
                  <a:schemeClr val="bg1"/>
                </a:solidFill>
              </a:rPr>
              <a:t>Confirmations</a:t>
            </a:r>
          </a:p>
          <a:p>
            <a:pPr algn="ctr"/>
            <a:r>
              <a:rPr lang="en-US" sz="1200">
                <a:solidFill>
                  <a:schemeClr val="bg1"/>
                </a:solidFill>
              </a:rPr>
              <a:t>Interconnect operator (external) reconciling requests from both pipelines</a:t>
            </a:r>
          </a:p>
        </p:txBody>
      </p:sp>
      <p:sp>
        <p:nvSpPr>
          <p:cNvPr id="69" name="AutoShape 35"/>
          <p:cNvSpPr>
            <a:spLocks noChangeArrowheads="1"/>
          </p:cNvSpPr>
          <p:nvPr/>
        </p:nvSpPr>
        <p:spPr bwMode="auto">
          <a:xfrm>
            <a:off x="770648" y="4764925"/>
            <a:ext cx="3496553" cy="709577"/>
          </a:xfrm>
          <a:prstGeom prst="roundRect">
            <a:avLst>
              <a:gd name="adj" fmla="val 16667"/>
            </a:avLst>
          </a:prstGeom>
          <a:gradFill rotWithShape="1">
            <a:gsLst>
              <a:gs pos="0">
                <a:srgbClr val="33CC33"/>
              </a:gs>
              <a:gs pos="50000">
                <a:srgbClr val="33CC33">
                  <a:gamma/>
                  <a:shade val="76078"/>
                  <a:invGamma/>
                </a:srgbClr>
              </a:gs>
              <a:gs pos="100000">
                <a:srgbClr val="33CC33"/>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p>
            <a:pPr algn="ctr"/>
            <a:r>
              <a:rPr lang="en-US" sz="1200" b="1">
                <a:solidFill>
                  <a:schemeClr val="bg1"/>
                </a:solidFill>
              </a:rPr>
              <a:t>Capacity Allocations</a:t>
            </a:r>
          </a:p>
          <a:p>
            <a:pPr algn="ctr"/>
            <a:r>
              <a:rPr lang="en-US" sz="1200">
                <a:solidFill>
                  <a:schemeClr val="bg1"/>
                </a:solidFill>
              </a:rPr>
              <a:t>Pipeline operator making sure there is enough capacity and making cuts</a:t>
            </a:r>
          </a:p>
        </p:txBody>
      </p:sp>
      <p:sp>
        <p:nvSpPr>
          <p:cNvPr id="70" name="AutoShape 28"/>
          <p:cNvSpPr>
            <a:spLocks noChangeArrowheads="1"/>
          </p:cNvSpPr>
          <p:nvPr/>
        </p:nvSpPr>
        <p:spPr bwMode="auto">
          <a:xfrm>
            <a:off x="5885847" y="3530698"/>
            <a:ext cx="1329197" cy="559537"/>
          </a:xfrm>
          <a:prstGeom prst="roundRect">
            <a:avLst>
              <a:gd name="adj" fmla="val 16667"/>
            </a:avLst>
          </a:prstGeom>
          <a:gradFill rotWithShape="1">
            <a:gsLst>
              <a:gs pos="0">
                <a:srgbClr val="0000FF">
                  <a:gamma/>
                  <a:shade val="76078"/>
                  <a:invGamma/>
                </a:srgbClr>
              </a:gs>
              <a:gs pos="50000">
                <a:srgbClr val="0000FF"/>
              </a:gs>
              <a:gs pos="100000">
                <a:srgbClr val="0000FF">
                  <a:gamma/>
                  <a:shade val="76078"/>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200" b="1">
                <a:solidFill>
                  <a:schemeClr val="bg1"/>
                </a:solidFill>
              </a:rPr>
              <a:t>Allocations</a:t>
            </a:r>
          </a:p>
        </p:txBody>
      </p:sp>
      <p:sp>
        <p:nvSpPr>
          <p:cNvPr id="71" name="AutoShape 53"/>
          <p:cNvSpPr>
            <a:spLocks noChangeArrowheads="1"/>
          </p:cNvSpPr>
          <p:nvPr/>
        </p:nvSpPr>
        <p:spPr bwMode="auto">
          <a:xfrm>
            <a:off x="5885847" y="4281779"/>
            <a:ext cx="1330871" cy="559536"/>
          </a:xfrm>
          <a:prstGeom prst="roundRect">
            <a:avLst>
              <a:gd name="adj" fmla="val 16667"/>
            </a:avLst>
          </a:prstGeom>
          <a:gradFill rotWithShape="1">
            <a:gsLst>
              <a:gs pos="0">
                <a:srgbClr val="0000FF">
                  <a:gamma/>
                  <a:shade val="76078"/>
                  <a:invGamma/>
                </a:srgbClr>
              </a:gs>
              <a:gs pos="50000">
                <a:srgbClr val="0000FF"/>
              </a:gs>
              <a:gs pos="100000">
                <a:srgbClr val="0000FF">
                  <a:gamma/>
                  <a:shade val="76078"/>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200" b="1">
                <a:solidFill>
                  <a:schemeClr val="bg1"/>
                </a:solidFill>
              </a:rPr>
              <a:t>Inventory</a:t>
            </a:r>
          </a:p>
        </p:txBody>
      </p:sp>
      <p:sp>
        <p:nvSpPr>
          <p:cNvPr id="72" name="AutoShape 50"/>
          <p:cNvSpPr>
            <a:spLocks noChangeArrowheads="1"/>
          </p:cNvSpPr>
          <p:nvPr/>
        </p:nvSpPr>
        <p:spPr bwMode="auto">
          <a:xfrm>
            <a:off x="5885847" y="5057966"/>
            <a:ext cx="1330871" cy="571441"/>
          </a:xfrm>
          <a:prstGeom prst="roundRect">
            <a:avLst>
              <a:gd name="adj" fmla="val 16667"/>
            </a:avLst>
          </a:prstGeom>
          <a:gradFill rotWithShape="1">
            <a:gsLst>
              <a:gs pos="0">
                <a:srgbClr val="0000FF">
                  <a:gamma/>
                  <a:shade val="76078"/>
                  <a:invGamma/>
                </a:srgbClr>
              </a:gs>
              <a:gs pos="50000">
                <a:srgbClr val="0000FF"/>
              </a:gs>
              <a:gs pos="100000">
                <a:srgbClr val="0000FF">
                  <a:gamma/>
                  <a:shade val="76078"/>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200" b="1">
                <a:solidFill>
                  <a:schemeClr val="bg1"/>
                </a:solidFill>
              </a:rPr>
              <a:t>Invoicing</a:t>
            </a:r>
          </a:p>
        </p:txBody>
      </p:sp>
      <p:cxnSp>
        <p:nvCxnSpPr>
          <p:cNvPr id="10" name="Straight Arrow Connector 9"/>
          <p:cNvCxnSpPr>
            <a:stCxn id="67" idx="2"/>
            <a:endCxn id="68" idx="0"/>
          </p:cNvCxnSpPr>
          <p:nvPr/>
        </p:nvCxnSpPr>
        <p:spPr>
          <a:xfrm>
            <a:off x="2518926" y="3421058"/>
            <a:ext cx="0" cy="3193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stCxn id="68" idx="2"/>
            <a:endCxn id="69" idx="0"/>
          </p:cNvCxnSpPr>
          <p:nvPr/>
        </p:nvCxnSpPr>
        <p:spPr>
          <a:xfrm flipH="1">
            <a:off x="2518925" y="4445612"/>
            <a:ext cx="1" cy="3193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2" name="AutoShape 50"/>
          <p:cNvSpPr>
            <a:spLocks noChangeArrowheads="1"/>
          </p:cNvSpPr>
          <p:nvPr/>
        </p:nvSpPr>
        <p:spPr bwMode="auto">
          <a:xfrm>
            <a:off x="5885847" y="2725988"/>
            <a:ext cx="1330871" cy="559537"/>
          </a:xfrm>
          <a:prstGeom prst="roundRect">
            <a:avLst>
              <a:gd name="adj" fmla="val 16667"/>
            </a:avLst>
          </a:prstGeom>
          <a:gradFill rotWithShape="1">
            <a:gsLst>
              <a:gs pos="0">
                <a:srgbClr val="FF9933">
                  <a:gamma/>
                  <a:shade val="66275"/>
                  <a:invGamma/>
                </a:srgbClr>
              </a:gs>
              <a:gs pos="50000">
                <a:srgbClr val="FF9933"/>
              </a:gs>
              <a:gs pos="100000">
                <a:srgbClr val="FF9933">
                  <a:gamma/>
                  <a:shade val="6627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p>
            <a:pPr algn="ctr"/>
            <a:r>
              <a:rPr lang="en-US" sz="1200" b="1">
                <a:solidFill>
                  <a:schemeClr val="bg1"/>
                </a:solidFill>
              </a:rPr>
              <a:t>Measurement Interface</a:t>
            </a:r>
          </a:p>
        </p:txBody>
      </p:sp>
      <p:cxnSp>
        <p:nvCxnSpPr>
          <p:cNvPr id="83" name="Straight Arrow Connector 82"/>
          <p:cNvCxnSpPr>
            <a:stCxn id="82" idx="2"/>
            <a:endCxn id="70" idx="0"/>
          </p:cNvCxnSpPr>
          <p:nvPr/>
        </p:nvCxnSpPr>
        <p:spPr>
          <a:xfrm flipH="1">
            <a:off x="6550446" y="3285525"/>
            <a:ext cx="837" cy="2451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a:stCxn id="70" idx="2"/>
            <a:endCxn id="71" idx="0"/>
          </p:cNvCxnSpPr>
          <p:nvPr/>
        </p:nvCxnSpPr>
        <p:spPr>
          <a:xfrm>
            <a:off x="6550446" y="4090235"/>
            <a:ext cx="837" cy="1915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p:cNvCxnSpPr>
            <a:stCxn id="71" idx="2"/>
            <a:endCxn id="72" idx="0"/>
          </p:cNvCxnSpPr>
          <p:nvPr/>
        </p:nvCxnSpPr>
        <p:spPr>
          <a:xfrm>
            <a:off x="6551283" y="4841315"/>
            <a:ext cx="0" cy="2166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3" name="Text Box 14"/>
          <p:cNvSpPr txBox="1">
            <a:spLocks noChangeArrowheads="1"/>
          </p:cNvSpPr>
          <p:nvPr/>
        </p:nvSpPr>
        <p:spPr bwMode="auto">
          <a:xfrm>
            <a:off x="770647" y="5789479"/>
            <a:ext cx="3496553" cy="323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358" tIns="45678" rIns="91358" bIns="45678">
            <a:spAutoFit/>
          </a:bodyPr>
          <a:lstStyle/>
          <a:p>
            <a:pPr algn="ctr" eaLnBrk="1" hangingPunct="1">
              <a:spcBef>
                <a:spcPct val="50000"/>
              </a:spcBef>
            </a:pPr>
            <a:r>
              <a:rPr lang="en-US" sz="1500" i="1"/>
              <a:t>All of this happens 5x / day</a:t>
            </a:r>
          </a:p>
        </p:txBody>
      </p:sp>
    </p:spTree>
    <p:extLst>
      <p:ext uri="{BB962C8B-B14F-4D97-AF65-F5344CB8AC3E}">
        <p14:creationId xmlns:p14="http://schemas.microsoft.com/office/powerpoint/2010/main" val="2309562675"/>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Text Box 2"/>
          <p:cNvSpPr txBox="1">
            <a:spLocks noChangeArrowheads="1"/>
          </p:cNvSpPr>
          <p:nvPr/>
        </p:nvSpPr>
        <p:spPr bwMode="auto">
          <a:xfrm>
            <a:off x="6994526" y="5548312"/>
            <a:ext cx="2530475" cy="627700"/>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358" tIns="45678" rIns="91358" bIns="45678">
            <a:spAutoFit/>
          </a:bodyPr>
          <a:lstStyle/>
          <a:p>
            <a:pPr algn="ctr" eaLnBrk="1" hangingPunct="1"/>
            <a:endParaRPr lang="en-US" sz="3400"/>
          </a:p>
        </p:txBody>
      </p:sp>
      <p:sp>
        <p:nvSpPr>
          <p:cNvPr id="357461" name="Rectangle 85"/>
          <p:cNvSpPr>
            <a:spLocks noGrp="1" noChangeArrowheads="1"/>
          </p:cNvSpPr>
          <p:nvPr>
            <p:ph type="title"/>
          </p:nvPr>
        </p:nvSpPr>
        <p:spPr>
          <a:noFill/>
          <a:ln/>
        </p:spPr>
        <p:txBody>
          <a:bodyPr/>
          <a:lstStyle/>
          <a:p>
            <a:r>
              <a:rPr lang="en-US"/>
              <a:t>QPTM System Flow</a:t>
            </a:r>
          </a:p>
        </p:txBody>
      </p:sp>
      <p:sp>
        <p:nvSpPr>
          <p:cNvPr id="54" name="Text Box 14"/>
          <p:cNvSpPr txBox="1">
            <a:spLocks noChangeArrowheads="1"/>
          </p:cNvSpPr>
          <p:nvPr/>
        </p:nvSpPr>
        <p:spPr bwMode="auto">
          <a:xfrm>
            <a:off x="457381" y="1337735"/>
            <a:ext cx="8229420" cy="646246"/>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358" tIns="45678" rIns="91358" bIns="45678">
            <a:spAutoFit/>
          </a:bodyPr>
          <a:lstStyle/>
          <a:p>
            <a:pPr algn="ctr" eaLnBrk="1" hangingPunct="1">
              <a:spcBef>
                <a:spcPct val="50000"/>
              </a:spcBef>
            </a:pPr>
            <a:r>
              <a:rPr lang="en-US" sz="1500" b="1">
                <a:effectLst>
                  <a:outerShdw blurRad="38100" dist="38100" dir="2700000" algn="tl">
                    <a:srgbClr val="C0C0C0"/>
                  </a:outerShdw>
                </a:effectLst>
              </a:rPr>
              <a:t>Master Data</a:t>
            </a:r>
          </a:p>
          <a:p>
            <a:pPr algn="ctr" eaLnBrk="1" hangingPunct="1">
              <a:spcBef>
                <a:spcPct val="50000"/>
              </a:spcBef>
            </a:pPr>
            <a:r>
              <a:rPr lang="en-US" sz="1400"/>
              <a:t>Contracts, Rates, Business Associates, Locations</a:t>
            </a:r>
          </a:p>
        </p:txBody>
      </p:sp>
      <p:sp>
        <p:nvSpPr>
          <p:cNvPr id="57" name="AutoShape 21"/>
          <p:cNvSpPr>
            <a:spLocks noChangeArrowheads="1"/>
          </p:cNvSpPr>
          <p:nvPr/>
        </p:nvSpPr>
        <p:spPr bwMode="auto">
          <a:xfrm>
            <a:off x="457380" y="1337736"/>
            <a:ext cx="8229420" cy="646246"/>
          </a:xfrm>
          <a:prstGeom prst="roundRect">
            <a:avLst>
              <a:gd name="adj" fmla="val 16667"/>
            </a:avLst>
          </a:prstGeom>
          <a:noFill/>
          <a:ln w="762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3" tIns="45717" rIns="91433" bIns="45717" anchor="ctr"/>
          <a:lstStyle/>
          <a:p>
            <a:endParaRPr lang="en-US"/>
          </a:p>
        </p:txBody>
      </p:sp>
      <p:cxnSp>
        <p:nvCxnSpPr>
          <p:cNvPr id="5" name="Straight Connector 4"/>
          <p:cNvCxnSpPr/>
          <p:nvPr/>
        </p:nvCxnSpPr>
        <p:spPr>
          <a:xfrm flipH="1">
            <a:off x="4530452" y="2149607"/>
            <a:ext cx="420" cy="4217326"/>
          </a:xfrm>
          <a:prstGeom prst="line">
            <a:avLst/>
          </a:prstGeom>
        </p:spPr>
        <p:style>
          <a:lnRef idx="1">
            <a:schemeClr val="accent1"/>
          </a:lnRef>
          <a:fillRef idx="0">
            <a:schemeClr val="accent1"/>
          </a:fillRef>
          <a:effectRef idx="0">
            <a:schemeClr val="accent1"/>
          </a:effectRef>
          <a:fontRef idx="minor">
            <a:schemeClr val="tx1"/>
          </a:fontRef>
        </p:style>
      </p:cxnSp>
      <p:sp>
        <p:nvSpPr>
          <p:cNvPr id="65" name="Text Box 14"/>
          <p:cNvSpPr txBox="1">
            <a:spLocks noChangeArrowheads="1"/>
          </p:cNvSpPr>
          <p:nvPr/>
        </p:nvSpPr>
        <p:spPr bwMode="auto">
          <a:xfrm>
            <a:off x="770649" y="2233852"/>
            <a:ext cx="3496553" cy="323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358" tIns="45678" rIns="91358" bIns="45678">
            <a:spAutoFit/>
          </a:bodyPr>
          <a:lstStyle/>
          <a:p>
            <a:pPr algn="ctr" eaLnBrk="1" hangingPunct="1">
              <a:spcBef>
                <a:spcPct val="50000"/>
              </a:spcBef>
            </a:pPr>
            <a:r>
              <a:rPr lang="en-US" sz="1500" b="1">
                <a:effectLst>
                  <a:outerShdw blurRad="38100" dist="38100" dir="2700000" algn="tl">
                    <a:srgbClr val="C0C0C0"/>
                  </a:outerShdw>
                </a:effectLst>
              </a:rPr>
              <a:t>Pre-Flow</a:t>
            </a:r>
          </a:p>
        </p:txBody>
      </p:sp>
      <p:sp>
        <p:nvSpPr>
          <p:cNvPr id="66" name="Text Box 14"/>
          <p:cNvSpPr txBox="1">
            <a:spLocks noChangeArrowheads="1"/>
          </p:cNvSpPr>
          <p:nvPr/>
        </p:nvSpPr>
        <p:spPr bwMode="auto">
          <a:xfrm>
            <a:off x="5843564" y="2239886"/>
            <a:ext cx="1415437" cy="323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358" tIns="45678" rIns="91358" bIns="45678">
            <a:spAutoFit/>
          </a:bodyPr>
          <a:lstStyle/>
          <a:p>
            <a:pPr algn="ctr" eaLnBrk="1" hangingPunct="1">
              <a:spcBef>
                <a:spcPct val="50000"/>
              </a:spcBef>
            </a:pPr>
            <a:r>
              <a:rPr lang="en-US" sz="1500" b="1">
                <a:effectLst>
                  <a:outerShdw blurRad="38100" dist="38100" dir="2700000" algn="tl">
                    <a:srgbClr val="C0C0C0"/>
                  </a:outerShdw>
                </a:effectLst>
              </a:rPr>
              <a:t>Post-Flow</a:t>
            </a:r>
          </a:p>
        </p:txBody>
      </p:sp>
      <p:sp>
        <p:nvSpPr>
          <p:cNvPr id="67" name="AutoShape 32"/>
          <p:cNvSpPr>
            <a:spLocks noChangeArrowheads="1"/>
          </p:cNvSpPr>
          <p:nvPr/>
        </p:nvSpPr>
        <p:spPr bwMode="auto">
          <a:xfrm>
            <a:off x="770649" y="2715817"/>
            <a:ext cx="3496553" cy="705241"/>
          </a:xfrm>
          <a:prstGeom prst="roundRect">
            <a:avLst>
              <a:gd name="adj" fmla="val 16667"/>
            </a:avLst>
          </a:prstGeom>
          <a:gradFill rotWithShape="1">
            <a:gsLst>
              <a:gs pos="0">
                <a:srgbClr val="33CC33"/>
              </a:gs>
              <a:gs pos="50000">
                <a:srgbClr val="33CC33">
                  <a:gamma/>
                  <a:shade val="76078"/>
                  <a:invGamma/>
                </a:srgbClr>
              </a:gs>
              <a:gs pos="100000">
                <a:srgbClr val="33CC33"/>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p>
            <a:pPr algn="ctr"/>
            <a:r>
              <a:rPr lang="en-US" sz="1200" b="1">
                <a:solidFill>
                  <a:schemeClr val="bg1"/>
                </a:solidFill>
              </a:rPr>
              <a:t>Nominations</a:t>
            </a:r>
          </a:p>
          <a:p>
            <a:pPr algn="ctr"/>
            <a:r>
              <a:rPr lang="en-US" sz="1200">
                <a:solidFill>
                  <a:schemeClr val="bg1"/>
                </a:solidFill>
              </a:rPr>
              <a:t>Shipper (external) requesting when, where and how much gas they want to move</a:t>
            </a:r>
          </a:p>
        </p:txBody>
      </p:sp>
      <p:sp>
        <p:nvSpPr>
          <p:cNvPr id="68" name="AutoShape 25"/>
          <p:cNvSpPr>
            <a:spLocks noChangeArrowheads="1"/>
          </p:cNvSpPr>
          <p:nvPr/>
        </p:nvSpPr>
        <p:spPr bwMode="auto">
          <a:xfrm>
            <a:off x="770649" y="3740371"/>
            <a:ext cx="3496553" cy="705241"/>
          </a:xfrm>
          <a:prstGeom prst="roundRect">
            <a:avLst>
              <a:gd name="adj" fmla="val 16667"/>
            </a:avLst>
          </a:prstGeom>
          <a:gradFill rotWithShape="1">
            <a:gsLst>
              <a:gs pos="0">
                <a:srgbClr val="33CC33"/>
              </a:gs>
              <a:gs pos="50000">
                <a:srgbClr val="33CC33">
                  <a:gamma/>
                  <a:shade val="76078"/>
                  <a:invGamma/>
                </a:srgbClr>
              </a:gs>
              <a:gs pos="100000">
                <a:srgbClr val="33CC33"/>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p>
            <a:pPr algn="ctr"/>
            <a:r>
              <a:rPr lang="en-US" sz="1200" b="1">
                <a:solidFill>
                  <a:schemeClr val="bg1"/>
                </a:solidFill>
              </a:rPr>
              <a:t>Confirmations</a:t>
            </a:r>
          </a:p>
          <a:p>
            <a:pPr algn="ctr"/>
            <a:r>
              <a:rPr lang="en-US" sz="1200">
                <a:solidFill>
                  <a:schemeClr val="bg1"/>
                </a:solidFill>
              </a:rPr>
              <a:t>Interconnect operator (external) reconciling requests from both pipelines</a:t>
            </a:r>
          </a:p>
        </p:txBody>
      </p:sp>
      <p:sp>
        <p:nvSpPr>
          <p:cNvPr id="69" name="AutoShape 35"/>
          <p:cNvSpPr>
            <a:spLocks noChangeArrowheads="1"/>
          </p:cNvSpPr>
          <p:nvPr/>
        </p:nvSpPr>
        <p:spPr bwMode="auto">
          <a:xfrm>
            <a:off x="770648" y="4764925"/>
            <a:ext cx="3496553" cy="709577"/>
          </a:xfrm>
          <a:prstGeom prst="roundRect">
            <a:avLst>
              <a:gd name="adj" fmla="val 16667"/>
            </a:avLst>
          </a:prstGeom>
          <a:gradFill rotWithShape="1">
            <a:gsLst>
              <a:gs pos="0">
                <a:srgbClr val="33CC33"/>
              </a:gs>
              <a:gs pos="50000">
                <a:srgbClr val="33CC33">
                  <a:gamma/>
                  <a:shade val="76078"/>
                  <a:invGamma/>
                </a:srgbClr>
              </a:gs>
              <a:gs pos="100000">
                <a:srgbClr val="33CC33"/>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p>
            <a:pPr algn="ctr"/>
            <a:r>
              <a:rPr lang="en-US" sz="1200" b="1">
                <a:solidFill>
                  <a:schemeClr val="bg1"/>
                </a:solidFill>
              </a:rPr>
              <a:t>Capacity Allocations</a:t>
            </a:r>
          </a:p>
          <a:p>
            <a:pPr algn="ctr"/>
            <a:r>
              <a:rPr lang="en-US" sz="1200">
                <a:solidFill>
                  <a:schemeClr val="bg1"/>
                </a:solidFill>
              </a:rPr>
              <a:t>Pipeline operator making sure there is enough capacity and making cuts</a:t>
            </a:r>
          </a:p>
        </p:txBody>
      </p:sp>
      <p:sp>
        <p:nvSpPr>
          <p:cNvPr id="70" name="AutoShape 28"/>
          <p:cNvSpPr>
            <a:spLocks noChangeArrowheads="1"/>
          </p:cNvSpPr>
          <p:nvPr/>
        </p:nvSpPr>
        <p:spPr bwMode="auto">
          <a:xfrm>
            <a:off x="5885847" y="3530698"/>
            <a:ext cx="1329197" cy="559537"/>
          </a:xfrm>
          <a:prstGeom prst="roundRect">
            <a:avLst>
              <a:gd name="adj" fmla="val 16667"/>
            </a:avLst>
          </a:prstGeom>
          <a:gradFill rotWithShape="1">
            <a:gsLst>
              <a:gs pos="0">
                <a:srgbClr val="0000FF">
                  <a:gamma/>
                  <a:shade val="76078"/>
                  <a:invGamma/>
                </a:srgbClr>
              </a:gs>
              <a:gs pos="50000">
                <a:srgbClr val="0000FF"/>
              </a:gs>
              <a:gs pos="100000">
                <a:srgbClr val="0000FF">
                  <a:gamma/>
                  <a:shade val="76078"/>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200" b="1">
                <a:solidFill>
                  <a:schemeClr val="bg1"/>
                </a:solidFill>
              </a:rPr>
              <a:t>Allocations</a:t>
            </a:r>
          </a:p>
        </p:txBody>
      </p:sp>
      <p:sp>
        <p:nvSpPr>
          <p:cNvPr id="71" name="AutoShape 53"/>
          <p:cNvSpPr>
            <a:spLocks noChangeArrowheads="1"/>
          </p:cNvSpPr>
          <p:nvPr/>
        </p:nvSpPr>
        <p:spPr bwMode="auto">
          <a:xfrm>
            <a:off x="5885847" y="4281779"/>
            <a:ext cx="1330871" cy="559536"/>
          </a:xfrm>
          <a:prstGeom prst="roundRect">
            <a:avLst>
              <a:gd name="adj" fmla="val 16667"/>
            </a:avLst>
          </a:prstGeom>
          <a:gradFill rotWithShape="1">
            <a:gsLst>
              <a:gs pos="0">
                <a:srgbClr val="0000FF">
                  <a:gamma/>
                  <a:shade val="76078"/>
                  <a:invGamma/>
                </a:srgbClr>
              </a:gs>
              <a:gs pos="50000">
                <a:srgbClr val="0000FF"/>
              </a:gs>
              <a:gs pos="100000">
                <a:srgbClr val="0000FF">
                  <a:gamma/>
                  <a:shade val="76078"/>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200" b="1">
                <a:solidFill>
                  <a:schemeClr val="bg1"/>
                </a:solidFill>
              </a:rPr>
              <a:t>Inventory</a:t>
            </a:r>
          </a:p>
        </p:txBody>
      </p:sp>
      <p:sp>
        <p:nvSpPr>
          <p:cNvPr id="72" name="AutoShape 50"/>
          <p:cNvSpPr>
            <a:spLocks noChangeArrowheads="1"/>
          </p:cNvSpPr>
          <p:nvPr/>
        </p:nvSpPr>
        <p:spPr bwMode="auto">
          <a:xfrm>
            <a:off x="5885847" y="5057966"/>
            <a:ext cx="1330871" cy="571441"/>
          </a:xfrm>
          <a:prstGeom prst="roundRect">
            <a:avLst>
              <a:gd name="adj" fmla="val 16667"/>
            </a:avLst>
          </a:prstGeom>
          <a:gradFill rotWithShape="1">
            <a:gsLst>
              <a:gs pos="0">
                <a:srgbClr val="0000FF">
                  <a:gamma/>
                  <a:shade val="76078"/>
                  <a:invGamma/>
                </a:srgbClr>
              </a:gs>
              <a:gs pos="50000">
                <a:srgbClr val="0000FF"/>
              </a:gs>
              <a:gs pos="100000">
                <a:srgbClr val="0000FF">
                  <a:gamma/>
                  <a:shade val="76078"/>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200" b="1">
                <a:solidFill>
                  <a:schemeClr val="bg1"/>
                </a:solidFill>
              </a:rPr>
              <a:t>Invoicing</a:t>
            </a:r>
          </a:p>
        </p:txBody>
      </p:sp>
      <p:cxnSp>
        <p:nvCxnSpPr>
          <p:cNvPr id="10" name="Straight Arrow Connector 9"/>
          <p:cNvCxnSpPr>
            <a:stCxn id="67" idx="2"/>
            <a:endCxn id="68" idx="0"/>
          </p:cNvCxnSpPr>
          <p:nvPr/>
        </p:nvCxnSpPr>
        <p:spPr>
          <a:xfrm>
            <a:off x="2518926" y="3421058"/>
            <a:ext cx="0" cy="3193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stCxn id="68" idx="2"/>
            <a:endCxn id="69" idx="0"/>
          </p:cNvCxnSpPr>
          <p:nvPr/>
        </p:nvCxnSpPr>
        <p:spPr>
          <a:xfrm flipH="1">
            <a:off x="2518925" y="4445612"/>
            <a:ext cx="1" cy="3193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2" name="AutoShape 50"/>
          <p:cNvSpPr>
            <a:spLocks noChangeArrowheads="1"/>
          </p:cNvSpPr>
          <p:nvPr/>
        </p:nvSpPr>
        <p:spPr bwMode="auto">
          <a:xfrm>
            <a:off x="5885847" y="2725988"/>
            <a:ext cx="1330871" cy="559537"/>
          </a:xfrm>
          <a:prstGeom prst="roundRect">
            <a:avLst>
              <a:gd name="adj" fmla="val 16667"/>
            </a:avLst>
          </a:prstGeom>
          <a:gradFill rotWithShape="1">
            <a:gsLst>
              <a:gs pos="0">
                <a:srgbClr val="FF9933">
                  <a:gamma/>
                  <a:shade val="66275"/>
                  <a:invGamma/>
                </a:srgbClr>
              </a:gs>
              <a:gs pos="50000">
                <a:srgbClr val="FF9933"/>
              </a:gs>
              <a:gs pos="100000">
                <a:srgbClr val="FF9933">
                  <a:gamma/>
                  <a:shade val="6627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p>
            <a:pPr algn="ctr"/>
            <a:r>
              <a:rPr lang="en-US" sz="1200" b="1">
                <a:solidFill>
                  <a:schemeClr val="bg1"/>
                </a:solidFill>
              </a:rPr>
              <a:t>Measurement Interface</a:t>
            </a:r>
          </a:p>
        </p:txBody>
      </p:sp>
      <p:cxnSp>
        <p:nvCxnSpPr>
          <p:cNvPr id="83" name="Straight Arrow Connector 82"/>
          <p:cNvCxnSpPr>
            <a:stCxn id="82" idx="2"/>
            <a:endCxn id="70" idx="0"/>
          </p:cNvCxnSpPr>
          <p:nvPr/>
        </p:nvCxnSpPr>
        <p:spPr>
          <a:xfrm flipH="1">
            <a:off x="6550446" y="3285525"/>
            <a:ext cx="837" cy="2451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a:stCxn id="70" idx="2"/>
            <a:endCxn id="71" idx="0"/>
          </p:cNvCxnSpPr>
          <p:nvPr/>
        </p:nvCxnSpPr>
        <p:spPr>
          <a:xfrm>
            <a:off x="6550446" y="4090235"/>
            <a:ext cx="837" cy="1915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p:cNvCxnSpPr>
            <a:stCxn id="71" idx="2"/>
            <a:endCxn id="72" idx="0"/>
          </p:cNvCxnSpPr>
          <p:nvPr/>
        </p:nvCxnSpPr>
        <p:spPr>
          <a:xfrm>
            <a:off x="6551283" y="4841315"/>
            <a:ext cx="0" cy="2166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3" name="Text Box 14"/>
          <p:cNvSpPr txBox="1">
            <a:spLocks noChangeArrowheads="1"/>
          </p:cNvSpPr>
          <p:nvPr/>
        </p:nvSpPr>
        <p:spPr bwMode="auto">
          <a:xfrm>
            <a:off x="770647" y="5789479"/>
            <a:ext cx="3496553" cy="323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358" tIns="45678" rIns="91358" bIns="45678">
            <a:spAutoFit/>
          </a:bodyPr>
          <a:lstStyle/>
          <a:p>
            <a:pPr algn="ctr" eaLnBrk="1" hangingPunct="1">
              <a:spcBef>
                <a:spcPct val="50000"/>
              </a:spcBef>
            </a:pPr>
            <a:r>
              <a:rPr lang="en-US" sz="1500" i="1"/>
              <a:t>All of this happens 5x / day</a:t>
            </a:r>
          </a:p>
        </p:txBody>
      </p:sp>
    </p:spTree>
    <p:extLst>
      <p:ext uri="{BB962C8B-B14F-4D97-AF65-F5344CB8AC3E}">
        <p14:creationId xmlns:p14="http://schemas.microsoft.com/office/powerpoint/2010/main" val="3434523842"/>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Master Data</a:t>
            </a:r>
          </a:p>
        </p:txBody>
      </p:sp>
      <p:sp>
        <p:nvSpPr>
          <p:cNvPr id="3" name="Content Placeholder 2"/>
          <p:cNvSpPr>
            <a:spLocks noGrp="1"/>
          </p:cNvSpPr>
          <p:nvPr>
            <p:ph idx="1"/>
          </p:nvPr>
        </p:nvSpPr>
        <p:spPr/>
        <p:txBody>
          <a:bodyPr>
            <a:normAutofit/>
          </a:bodyPr>
          <a:lstStyle/>
          <a:p>
            <a:r>
              <a:rPr lang="en-US"/>
              <a:t>Pipeline Admin</a:t>
            </a:r>
          </a:p>
          <a:p>
            <a:pPr lvl="1"/>
            <a:r>
              <a:rPr lang="en-US"/>
              <a:t> </a:t>
            </a:r>
            <a:r>
              <a:rPr lang="en-US">
                <a:solidFill>
                  <a:srgbClr val="FFC000"/>
                </a:solidFill>
              </a:rPr>
              <a:t>TSP</a:t>
            </a:r>
            <a:r>
              <a:rPr lang="en-US"/>
              <a:t>s – pipeline owner; used for security</a:t>
            </a:r>
          </a:p>
          <a:p>
            <a:pPr lvl="4"/>
            <a:endParaRPr lang="en-US"/>
          </a:p>
          <a:p>
            <a:r>
              <a:rPr lang="en-US"/>
              <a:t>Locations</a:t>
            </a:r>
          </a:p>
          <a:p>
            <a:pPr lvl="1"/>
            <a:r>
              <a:rPr lang="en-US"/>
              <a:t>Shared Meter screen not required</a:t>
            </a:r>
          </a:p>
          <a:p>
            <a:pPr lvl="1"/>
            <a:r>
              <a:rPr lang="en-US"/>
              <a:t>QPTM’s Location Maintenance screen</a:t>
            </a:r>
          </a:p>
          <a:p>
            <a:pPr lvl="2"/>
            <a:r>
              <a:rPr lang="en-US"/>
              <a:t>Shared (</a:t>
            </a:r>
            <a:r>
              <a:rPr lang="en-US" err="1"/>
              <a:t>Esuite</a:t>
            </a:r>
            <a:r>
              <a:rPr lang="en-US"/>
              <a:t>) and extension tables</a:t>
            </a:r>
          </a:p>
          <a:p>
            <a:r>
              <a:rPr lang="en-US"/>
              <a:t>Contracts</a:t>
            </a:r>
          </a:p>
          <a:p>
            <a:pPr lvl="1"/>
            <a:r>
              <a:rPr lang="en-US"/>
              <a:t>Quantities, locations</a:t>
            </a:r>
          </a:p>
          <a:p>
            <a:pPr lvl="1"/>
            <a:r>
              <a:rPr lang="en-US"/>
              <a:t>Terms here are used in nominations, capacity allocation, imbalance </a:t>
            </a:r>
            <a:r>
              <a:rPr lang="en-US" err="1"/>
              <a:t>cashout</a:t>
            </a:r>
            <a:r>
              <a:rPr lang="en-US"/>
              <a:t>, billing</a:t>
            </a:r>
          </a:p>
          <a:p>
            <a:pPr lvl="4"/>
            <a:endParaRPr lang="en-US"/>
          </a:p>
        </p:txBody>
      </p:sp>
    </p:spTree>
    <p:extLst>
      <p:ext uri="{BB962C8B-B14F-4D97-AF65-F5344CB8AC3E}">
        <p14:creationId xmlns:p14="http://schemas.microsoft.com/office/powerpoint/2010/main" val="19951377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Rates</a:t>
            </a:r>
          </a:p>
        </p:txBody>
      </p:sp>
      <p:sp>
        <p:nvSpPr>
          <p:cNvPr id="3" name="Content Placeholder 2"/>
          <p:cNvSpPr>
            <a:spLocks noGrp="1"/>
          </p:cNvSpPr>
          <p:nvPr>
            <p:ph idx="1"/>
          </p:nvPr>
        </p:nvSpPr>
        <p:spPr/>
        <p:txBody>
          <a:bodyPr/>
          <a:lstStyle/>
          <a:p>
            <a:r>
              <a:rPr lang="en-US"/>
              <a:t>Used in nominations (fuel) and billing ($ charges)</a:t>
            </a:r>
          </a:p>
          <a:p>
            <a:endParaRPr lang="en-US"/>
          </a:p>
          <a:p>
            <a:r>
              <a:rPr lang="en-US"/>
              <a:t>Supports several different price types</a:t>
            </a:r>
          </a:p>
          <a:p>
            <a:endParaRPr lang="en-US"/>
          </a:p>
          <a:p>
            <a:r>
              <a:rPr lang="en-US"/>
              <a:t>Can have different rates for each path</a:t>
            </a:r>
          </a:p>
          <a:p>
            <a:endParaRPr lang="en-US"/>
          </a:p>
          <a:p>
            <a:r>
              <a:rPr lang="en-US"/>
              <a:t>Can create a rate for a specific contract OR for all contracts within a given Type of Service</a:t>
            </a:r>
          </a:p>
        </p:txBody>
      </p:sp>
    </p:spTree>
    <p:extLst>
      <p:ext uri="{BB962C8B-B14F-4D97-AF65-F5344CB8AC3E}">
        <p14:creationId xmlns:p14="http://schemas.microsoft.com/office/powerpoint/2010/main" val="28958131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Request for Service</a:t>
            </a:r>
          </a:p>
        </p:txBody>
      </p:sp>
      <p:sp>
        <p:nvSpPr>
          <p:cNvPr id="3" name="Content Placeholder 2"/>
          <p:cNvSpPr>
            <a:spLocks noGrp="1"/>
          </p:cNvSpPr>
          <p:nvPr>
            <p:ph idx="1"/>
          </p:nvPr>
        </p:nvSpPr>
        <p:spPr/>
        <p:txBody>
          <a:bodyPr>
            <a:normAutofit/>
          </a:bodyPr>
          <a:lstStyle/>
          <a:p>
            <a:r>
              <a:rPr lang="en-US"/>
              <a:t>What is it?</a:t>
            </a:r>
          </a:p>
          <a:p>
            <a:pPr lvl="1"/>
            <a:r>
              <a:rPr lang="en-US"/>
              <a:t>Method for external users to request contract amendments, including rate changes</a:t>
            </a:r>
          </a:p>
          <a:p>
            <a:pPr lvl="7"/>
            <a:endParaRPr lang="en-US"/>
          </a:p>
          <a:p>
            <a:r>
              <a:rPr lang="en-US"/>
              <a:t>Who uses it?</a:t>
            </a:r>
          </a:p>
          <a:p>
            <a:pPr lvl="1"/>
            <a:r>
              <a:rPr lang="en-US"/>
              <a:t>External shippers (optional)</a:t>
            </a:r>
          </a:p>
          <a:p>
            <a:pPr lvl="1"/>
            <a:r>
              <a:rPr lang="en-US"/>
              <a:t>Internal departments – for approval, award</a:t>
            </a:r>
          </a:p>
          <a:p>
            <a:pPr lvl="3"/>
            <a:endParaRPr lang="en-US"/>
          </a:p>
          <a:p>
            <a:pPr lvl="1"/>
            <a:endParaRPr lang="en-US"/>
          </a:p>
        </p:txBody>
      </p:sp>
    </p:spTree>
    <p:extLst>
      <p:ext uri="{BB962C8B-B14F-4D97-AF65-F5344CB8AC3E}">
        <p14:creationId xmlns:p14="http://schemas.microsoft.com/office/powerpoint/2010/main" val="29789516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Text Box 2"/>
          <p:cNvSpPr txBox="1">
            <a:spLocks noChangeArrowheads="1"/>
          </p:cNvSpPr>
          <p:nvPr/>
        </p:nvSpPr>
        <p:spPr bwMode="auto">
          <a:xfrm>
            <a:off x="6994526" y="5548312"/>
            <a:ext cx="2530475" cy="627700"/>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358" tIns="45678" rIns="91358" bIns="45678">
            <a:spAutoFit/>
          </a:bodyPr>
          <a:lstStyle/>
          <a:p>
            <a:pPr algn="ctr" eaLnBrk="1" hangingPunct="1"/>
            <a:endParaRPr lang="en-US" sz="3400"/>
          </a:p>
        </p:txBody>
      </p:sp>
      <p:sp>
        <p:nvSpPr>
          <p:cNvPr id="357461" name="Rectangle 85"/>
          <p:cNvSpPr>
            <a:spLocks noGrp="1" noChangeArrowheads="1"/>
          </p:cNvSpPr>
          <p:nvPr>
            <p:ph type="title"/>
          </p:nvPr>
        </p:nvSpPr>
        <p:spPr>
          <a:noFill/>
          <a:ln/>
        </p:spPr>
        <p:txBody>
          <a:bodyPr/>
          <a:lstStyle/>
          <a:p>
            <a:r>
              <a:rPr lang="en-US"/>
              <a:t>QPTM System Flow</a:t>
            </a:r>
          </a:p>
        </p:txBody>
      </p:sp>
      <p:sp>
        <p:nvSpPr>
          <p:cNvPr id="54" name="Text Box 14"/>
          <p:cNvSpPr txBox="1">
            <a:spLocks noChangeArrowheads="1"/>
          </p:cNvSpPr>
          <p:nvPr/>
        </p:nvSpPr>
        <p:spPr bwMode="auto">
          <a:xfrm>
            <a:off x="457381" y="1337735"/>
            <a:ext cx="8229420" cy="646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358" tIns="45678" rIns="91358" bIns="45678">
            <a:spAutoFit/>
          </a:bodyPr>
          <a:lstStyle/>
          <a:p>
            <a:pPr algn="ctr" eaLnBrk="1" hangingPunct="1">
              <a:spcBef>
                <a:spcPct val="50000"/>
              </a:spcBef>
            </a:pPr>
            <a:r>
              <a:rPr lang="en-US" sz="1500" b="1">
                <a:effectLst>
                  <a:outerShdw blurRad="38100" dist="38100" dir="2700000" algn="tl">
                    <a:srgbClr val="C0C0C0"/>
                  </a:outerShdw>
                </a:effectLst>
              </a:rPr>
              <a:t>Master Data</a:t>
            </a:r>
          </a:p>
          <a:p>
            <a:pPr algn="ctr" eaLnBrk="1" hangingPunct="1">
              <a:spcBef>
                <a:spcPct val="50000"/>
              </a:spcBef>
            </a:pPr>
            <a:r>
              <a:rPr lang="en-US" sz="1400"/>
              <a:t>Contracts, Rates, Business Associates, Locations</a:t>
            </a:r>
          </a:p>
        </p:txBody>
      </p:sp>
      <p:sp>
        <p:nvSpPr>
          <p:cNvPr id="57" name="AutoShape 21"/>
          <p:cNvSpPr>
            <a:spLocks noChangeArrowheads="1"/>
          </p:cNvSpPr>
          <p:nvPr/>
        </p:nvSpPr>
        <p:spPr bwMode="auto">
          <a:xfrm>
            <a:off x="457380" y="1337736"/>
            <a:ext cx="8229420" cy="646246"/>
          </a:xfrm>
          <a:prstGeom prst="roundRect">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3" tIns="45717" rIns="91433" bIns="45717" anchor="ctr"/>
          <a:lstStyle/>
          <a:p>
            <a:endParaRPr lang="en-US"/>
          </a:p>
        </p:txBody>
      </p:sp>
      <p:cxnSp>
        <p:nvCxnSpPr>
          <p:cNvPr id="5" name="Straight Connector 4"/>
          <p:cNvCxnSpPr/>
          <p:nvPr/>
        </p:nvCxnSpPr>
        <p:spPr>
          <a:xfrm flipH="1">
            <a:off x="4530452" y="2149607"/>
            <a:ext cx="420" cy="4217326"/>
          </a:xfrm>
          <a:prstGeom prst="line">
            <a:avLst/>
          </a:prstGeom>
        </p:spPr>
        <p:style>
          <a:lnRef idx="1">
            <a:schemeClr val="accent1"/>
          </a:lnRef>
          <a:fillRef idx="0">
            <a:schemeClr val="accent1"/>
          </a:fillRef>
          <a:effectRef idx="0">
            <a:schemeClr val="accent1"/>
          </a:effectRef>
          <a:fontRef idx="minor">
            <a:schemeClr val="tx1"/>
          </a:fontRef>
        </p:style>
      </p:cxnSp>
      <p:sp>
        <p:nvSpPr>
          <p:cNvPr id="65" name="Text Box 14"/>
          <p:cNvSpPr txBox="1">
            <a:spLocks noChangeArrowheads="1"/>
          </p:cNvSpPr>
          <p:nvPr/>
        </p:nvSpPr>
        <p:spPr bwMode="auto">
          <a:xfrm>
            <a:off x="770649" y="2233852"/>
            <a:ext cx="3496553" cy="323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358" tIns="45678" rIns="91358" bIns="45678">
            <a:spAutoFit/>
          </a:bodyPr>
          <a:lstStyle/>
          <a:p>
            <a:pPr algn="ctr" eaLnBrk="1" hangingPunct="1">
              <a:spcBef>
                <a:spcPct val="50000"/>
              </a:spcBef>
            </a:pPr>
            <a:r>
              <a:rPr lang="en-US" sz="1500" b="1">
                <a:effectLst>
                  <a:outerShdw blurRad="38100" dist="38100" dir="2700000" algn="tl">
                    <a:srgbClr val="C0C0C0"/>
                  </a:outerShdw>
                </a:effectLst>
              </a:rPr>
              <a:t>Pre-Flow</a:t>
            </a:r>
          </a:p>
        </p:txBody>
      </p:sp>
      <p:sp>
        <p:nvSpPr>
          <p:cNvPr id="66" name="Text Box 14"/>
          <p:cNvSpPr txBox="1">
            <a:spLocks noChangeArrowheads="1"/>
          </p:cNvSpPr>
          <p:nvPr/>
        </p:nvSpPr>
        <p:spPr bwMode="auto">
          <a:xfrm>
            <a:off x="5843564" y="2239886"/>
            <a:ext cx="1415437" cy="323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358" tIns="45678" rIns="91358" bIns="45678">
            <a:spAutoFit/>
          </a:bodyPr>
          <a:lstStyle/>
          <a:p>
            <a:pPr algn="ctr" eaLnBrk="1" hangingPunct="1">
              <a:spcBef>
                <a:spcPct val="50000"/>
              </a:spcBef>
            </a:pPr>
            <a:r>
              <a:rPr lang="en-US" sz="1500" b="1">
                <a:effectLst>
                  <a:outerShdw blurRad="38100" dist="38100" dir="2700000" algn="tl">
                    <a:srgbClr val="C0C0C0"/>
                  </a:outerShdw>
                </a:effectLst>
              </a:rPr>
              <a:t>Post-Flow</a:t>
            </a:r>
          </a:p>
        </p:txBody>
      </p:sp>
      <p:sp>
        <p:nvSpPr>
          <p:cNvPr id="67" name="AutoShape 32"/>
          <p:cNvSpPr>
            <a:spLocks noChangeArrowheads="1"/>
          </p:cNvSpPr>
          <p:nvPr/>
        </p:nvSpPr>
        <p:spPr bwMode="auto">
          <a:xfrm>
            <a:off x="770649" y="2715817"/>
            <a:ext cx="3496553" cy="705241"/>
          </a:xfrm>
          <a:prstGeom prst="roundRect">
            <a:avLst>
              <a:gd name="adj" fmla="val 16667"/>
            </a:avLst>
          </a:prstGeom>
          <a:gradFill rotWithShape="1">
            <a:gsLst>
              <a:gs pos="0">
                <a:srgbClr val="33CC33"/>
              </a:gs>
              <a:gs pos="50000">
                <a:srgbClr val="33CC33">
                  <a:gamma/>
                  <a:shade val="76078"/>
                  <a:invGamma/>
                </a:srgbClr>
              </a:gs>
              <a:gs pos="100000">
                <a:srgbClr val="33CC33"/>
              </a:gs>
            </a:gsLst>
            <a:lin ang="5400000" scaled="1"/>
          </a:gra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p>
            <a:pPr algn="ctr"/>
            <a:r>
              <a:rPr lang="en-US" sz="1200" b="1">
                <a:solidFill>
                  <a:schemeClr val="bg1"/>
                </a:solidFill>
              </a:rPr>
              <a:t>Nominations</a:t>
            </a:r>
          </a:p>
          <a:p>
            <a:pPr algn="ctr"/>
            <a:r>
              <a:rPr lang="en-US" sz="1200">
                <a:solidFill>
                  <a:schemeClr val="bg1"/>
                </a:solidFill>
              </a:rPr>
              <a:t>Shipper (external) requesting when, where and how much gas they want to move</a:t>
            </a:r>
          </a:p>
        </p:txBody>
      </p:sp>
      <p:sp>
        <p:nvSpPr>
          <p:cNvPr id="68" name="AutoShape 25"/>
          <p:cNvSpPr>
            <a:spLocks noChangeArrowheads="1"/>
          </p:cNvSpPr>
          <p:nvPr/>
        </p:nvSpPr>
        <p:spPr bwMode="auto">
          <a:xfrm>
            <a:off x="770649" y="3740371"/>
            <a:ext cx="3496553" cy="705241"/>
          </a:xfrm>
          <a:prstGeom prst="roundRect">
            <a:avLst>
              <a:gd name="adj" fmla="val 16667"/>
            </a:avLst>
          </a:prstGeom>
          <a:gradFill rotWithShape="1">
            <a:gsLst>
              <a:gs pos="0">
                <a:srgbClr val="33CC33"/>
              </a:gs>
              <a:gs pos="50000">
                <a:srgbClr val="33CC33">
                  <a:gamma/>
                  <a:shade val="76078"/>
                  <a:invGamma/>
                </a:srgbClr>
              </a:gs>
              <a:gs pos="100000">
                <a:srgbClr val="33CC33"/>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p>
            <a:pPr algn="ctr"/>
            <a:r>
              <a:rPr lang="en-US" sz="1200" b="1">
                <a:solidFill>
                  <a:schemeClr val="bg1"/>
                </a:solidFill>
              </a:rPr>
              <a:t>Confirmations</a:t>
            </a:r>
          </a:p>
          <a:p>
            <a:pPr algn="ctr"/>
            <a:r>
              <a:rPr lang="en-US" sz="1200">
                <a:solidFill>
                  <a:schemeClr val="bg1"/>
                </a:solidFill>
              </a:rPr>
              <a:t>Interconnect operator (external) reconciling requests from both pipelines</a:t>
            </a:r>
          </a:p>
        </p:txBody>
      </p:sp>
      <p:sp>
        <p:nvSpPr>
          <p:cNvPr id="69" name="AutoShape 35"/>
          <p:cNvSpPr>
            <a:spLocks noChangeArrowheads="1"/>
          </p:cNvSpPr>
          <p:nvPr/>
        </p:nvSpPr>
        <p:spPr bwMode="auto">
          <a:xfrm>
            <a:off x="770648" y="4764925"/>
            <a:ext cx="3496553" cy="709577"/>
          </a:xfrm>
          <a:prstGeom prst="roundRect">
            <a:avLst>
              <a:gd name="adj" fmla="val 16667"/>
            </a:avLst>
          </a:prstGeom>
          <a:gradFill rotWithShape="1">
            <a:gsLst>
              <a:gs pos="0">
                <a:srgbClr val="33CC33"/>
              </a:gs>
              <a:gs pos="50000">
                <a:srgbClr val="33CC33">
                  <a:gamma/>
                  <a:shade val="76078"/>
                  <a:invGamma/>
                </a:srgbClr>
              </a:gs>
              <a:gs pos="100000">
                <a:srgbClr val="33CC33"/>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p>
            <a:pPr algn="ctr"/>
            <a:r>
              <a:rPr lang="en-US" sz="1200" b="1">
                <a:solidFill>
                  <a:schemeClr val="bg1"/>
                </a:solidFill>
              </a:rPr>
              <a:t>Capacity Allocations</a:t>
            </a:r>
          </a:p>
          <a:p>
            <a:pPr algn="ctr"/>
            <a:r>
              <a:rPr lang="en-US" sz="1200">
                <a:solidFill>
                  <a:schemeClr val="bg1"/>
                </a:solidFill>
              </a:rPr>
              <a:t>Pipeline operator making sure there is enough capacity and making cuts</a:t>
            </a:r>
          </a:p>
        </p:txBody>
      </p:sp>
      <p:sp>
        <p:nvSpPr>
          <p:cNvPr id="70" name="AutoShape 28"/>
          <p:cNvSpPr>
            <a:spLocks noChangeArrowheads="1"/>
          </p:cNvSpPr>
          <p:nvPr/>
        </p:nvSpPr>
        <p:spPr bwMode="auto">
          <a:xfrm>
            <a:off x="5885847" y="3530698"/>
            <a:ext cx="1329197" cy="559537"/>
          </a:xfrm>
          <a:prstGeom prst="roundRect">
            <a:avLst>
              <a:gd name="adj" fmla="val 16667"/>
            </a:avLst>
          </a:prstGeom>
          <a:gradFill rotWithShape="1">
            <a:gsLst>
              <a:gs pos="0">
                <a:srgbClr val="0000FF">
                  <a:gamma/>
                  <a:shade val="76078"/>
                  <a:invGamma/>
                </a:srgbClr>
              </a:gs>
              <a:gs pos="50000">
                <a:srgbClr val="0000FF"/>
              </a:gs>
              <a:gs pos="100000">
                <a:srgbClr val="0000FF">
                  <a:gamma/>
                  <a:shade val="76078"/>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200" b="1">
                <a:solidFill>
                  <a:schemeClr val="bg1"/>
                </a:solidFill>
              </a:rPr>
              <a:t>Allocations</a:t>
            </a:r>
          </a:p>
        </p:txBody>
      </p:sp>
      <p:sp>
        <p:nvSpPr>
          <p:cNvPr id="71" name="AutoShape 53"/>
          <p:cNvSpPr>
            <a:spLocks noChangeArrowheads="1"/>
          </p:cNvSpPr>
          <p:nvPr/>
        </p:nvSpPr>
        <p:spPr bwMode="auto">
          <a:xfrm>
            <a:off x="5885847" y="4281779"/>
            <a:ext cx="1330871" cy="559536"/>
          </a:xfrm>
          <a:prstGeom prst="roundRect">
            <a:avLst>
              <a:gd name="adj" fmla="val 16667"/>
            </a:avLst>
          </a:prstGeom>
          <a:gradFill rotWithShape="1">
            <a:gsLst>
              <a:gs pos="0">
                <a:srgbClr val="0000FF">
                  <a:gamma/>
                  <a:shade val="76078"/>
                  <a:invGamma/>
                </a:srgbClr>
              </a:gs>
              <a:gs pos="50000">
                <a:srgbClr val="0000FF"/>
              </a:gs>
              <a:gs pos="100000">
                <a:srgbClr val="0000FF">
                  <a:gamma/>
                  <a:shade val="76078"/>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200" b="1">
                <a:solidFill>
                  <a:schemeClr val="bg1"/>
                </a:solidFill>
              </a:rPr>
              <a:t>Inventory</a:t>
            </a:r>
          </a:p>
        </p:txBody>
      </p:sp>
      <p:sp>
        <p:nvSpPr>
          <p:cNvPr id="72" name="AutoShape 50"/>
          <p:cNvSpPr>
            <a:spLocks noChangeArrowheads="1"/>
          </p:cNvSpPr>
          <p:nvPr/>
        </p:nvSpPr>
        <p:spPr bwMode="auto">
          <a:xfrm>
            <a:off x="5885847" y="5057966"/>
            <a:ext cx="1330871" cy="571441"/>
          </a:xfrm>
          <a:prstGeom prst="roundRect">
            <a:avLst>
              <a:gd name="adj" fmla="val 16667"/>
            </a:avLst>
          </a:prstGeom>
          <a:gradFill rotWithShape="1">
            <a:gsLst>
              <a:gs pos="0">
                <a:srgbClr val="0000FF">
                  <a:gamma/>
                  <a:shade val="76078"/>
                  <a:invGamma/>
                </a:srgbClr>
              </a:gs>
              <a:gs pos="50000">
                <a:srgbClr val="0000FF"/>
              </a:gs>
              <a:gs pos="100000">
                <a:srgbClr val="0000FF">
                  <a:gamma/>
                  <a:shade val="76078"/>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200" b="1">
                <a:solidFill>
                  <a:schemeClr val="bg1"/>
                </a:solidFill>
              </a:rPr>
              <a:t>Invoicing</a:t>
            </a:r>
          </a:p>
        </p:txBody>
      </p:sp>
      <p:cxnSp>
        <p:nvCxnSpPr>
          <p:cNvPr id="10" name="Straight Arrow Connector 9"/>
          <p:cNvCxnSpPr>
            <a:stCxn id="67" idx="2"/>
            <a:endCxn id="68" idx="0"/>
          </p:cNvCxnSpPr>
          <p:nvPr/>
        </p:nvCxnSpPr>
        <p:spPr>
          <a:xfrm>
            <a:off x="2518926" y="3421058"/>
            <a:ext cx="0" cy="3193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stCxn id="68" idx="2"/>
            <a:endCxn id="69" idx="0"/>
          </p:cNvCxnSpPr>
          <p:nvPr/>
        </p:nvCxnSpPr>
        <p:spPr>
          <a:xfrm flipH="1">
            <a:off x="2518925" y="4445612"/>
            <a:ext cx="1" cy="3193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2" name="AutoShape 50"/>
          <p:cNvSpPr>
            <a:spLocks noChangeArrowheads="1"/>
          </p:cNvSpPr>
          <p:nvPr/>
        </p:nvSpPr>
        <p:spPr bwMode="auto">
          <a:xfrm>
            <a:off x="5885847" y="2725988"/>
            <a:ext cx="1330871" cy="559537"/>
          </a:xfrm>
          <a:prstGeom prst="roundRect">
            <a:avLst>
              <a:gd name="adj" fmla="val 16667"/>
            </a:avLst>
          </a:prstGeom>
          <a:gradFill rotWithShape="1">
            <a:gsLst>
              <a:gs pos="0">
                <a:srgbClr val="FF9933">
                  <a:gamma/>
                  <a:shade val="66275"/>
                  <a:invGamma/>
                </a:srgbClr>
              </a:gs>
              <a:gs pos="50000">
                <a:srgbClr val="FF9933"/>
              </a:gs>
              <a:gs pos="100000">
                <a:srgbClr val="FF9933">
                  <a:gamma/>
                  <a:shade val="6627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p>
            <a:pPr algn="ctr"/>
            <a:r>
              <a:rPr lang="en-US" sz="1200" b="1">
                <a:solidFill>
                  <a:schemeClr val="bg1"/>
                </a:solidFill>
              </a:rPr>
              <a:t>Measurement Interface</a:t>
            </a:r>
          </a:p>
        </p:txBody>
      </p:sp>
      <p:cxnSp>
        <p:nvCxnSpPr>
          <p:cNvPr id="83" name="Straight Arrow Connector 82"/>
          <p:cNvCxnSpPr>
            <a:stCxn id="82" idx="2"/>
            <a:endCxn id="70" idx="0"/>
          </p:cNvCxnSpPr>
          <p:nvPr/>
        </p:nvCxnSpPr>
        <p:spPr>
          <a:xfrm flipH="1">
            <a:off x="6550446" y="3285525"/>
            <a:ext cx="837" cy="2451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a:stCxn id="70" idx="2"/>
            <a:endCxn id="71" idx="0"/>
          </p:cNvCxnSpPr>
          <p:nvPr/>
        </p:nvCxnSpPr>
        <p:spPr>
          <a:xfrm>
            <a:off x="6550446" y="4090235"/>
            <a:ext cx="837" cy="1915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p:cNvCxnSpPr>
            <a:stCxn id="71" idx="2"/>
            <a:endCxn id="72" idx="0"/>
          </p:cNvCxnSpPr>
          <p:nvPr/>
        </p:nvCxnSpPr>
        <p:spPr>
          <a:xfrm>
            <a:off x="6551283" y="4841315"/>
            <a:ext cx="0" cy="2166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3" name="Text Box 14"/>
          <p:cNvSpPr txBox="1">
            <a:spLocks noChangeArrowheads="1"/>
          </p:cNvSpPr>
          <p:nvPr/>
        </p:nvSpPr>
        <p:spPr bwMode="auto">
          <a:xfrm>
            <a:off x="770647" y="5789479"/>
            <a:ext cx="3496553" cy="323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358" tIns="45678" rIns="91358" bIns="45678">
            <a:spAutoFit/>
          </a:bodyPr>
          <a:lstStyle/>
          <a:p>
            <a:pPr algn="ctr" eaLnBrk="1" hangingPunct="1">
              <a:spcBef>
                <a:spcPct val="50000"/>
              </a:spcBef>
            </a:pPr>
            <a:r>
              <a:rPr lang="en-US" sz="1500" i="1"/>
              <a:t>All of this happens 5x / day</a:t>
            </a:r>
          </a:p>
        </p:txBody>
      </p:sp>
    </p:spTree>
    <p:extLst>
      <p:ext uri="{BB962C8B-B14F-4D97-AF65-F5344CB8AC3E}">
        <p14:creationId xmlns:p14="http://schemas.microsoft.com/office/powerpoint/2010/main" val="1917993582"/>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Nominations</a:t>
            </a:r>
          </a:p>
        </p:txBody>
      </p:sp>
      <p:sp>
        <p:nvSpPr>
          <p:cNvPr id="3" name="Content Placeholder 2"/>
          <p:cNvSpPr>
            <a:spLocks noGrp="1"/>
          </p:cNvSpPr>
          <p:nvPr>
            <p:ph idx="1"/>
          </p:nvPr>
        </p:nvSpPr>
        <p:spPr/>
        <p:txBody>
          <a:bodyPr/>
          <a:lstStyle/>
          <a:p>
            <a:r>
              <a:rPr lang="en-US"/>
              <a:t>What is it?</a:t>
            </a:r>
          </a:p>
          <a:p>
            <a:pPr lvl="1">
              <a:lnSpc>
                <a:spcPct val="80000"/>
              </a:lnSpc>
            </a:pPr>
            <a:r>
              <a:rPr lang="en-US"/>
              <a:t>Request to move a quantity of gas at given locations for a for a specific timeframe </a:t>
            </a:r>
          </a:p>
          <a:p>
            <a:pPr lvl="1">
              <a:lnSpc>
                <a:spcPct val="80000"/>
              </a:lnSpc>
            </a:pPr>
            <a:r>
              <a:rPr lang="en-US"/>
              <a:t>i.e. “I’d like to bring 500 </a:t>
            </a:r>
            <a:r>
              <a:rPr lang="en-US" err="1"/>
              <a:t>Dth</a:t>
            </a:r>
            <a:r>
              <a:rPr lang="en-US"/>
              <a:t> onto the pipeline at Point A and then take 500 </a:t>
            </a:r>
            <a:r>
              <a:rPr lang="en-US" err="1"/>
              <a:t>Dth</a:t>
            </a:r>
            <a:r>
              <a:rPr lang="en-US"/>
              <a:t> off the pipeline at Point B, every day for the next 5 days”</a:t>
            </a:r>
          </a:p>
          <a:p>
            <a:pPr lvl="5"/>
            <a:endParaRPr lang="en-US"/>
          </a:p>
          <a:p>
            <a:r>
              <a:rPr lang="en-US"/>
              <a:t>Who uses it?</a:t>
            </a:r>
          </a:p>
          <a:p>
            <a:pPr lvl="1"/>
            <a:r>
              <a:rPr lang="en-US"/>
              <a:t>The nomination is submitted by the service requester (shipper) in the QPTM Web App</a:t>
            </a:r>
          </a:p>
          <a:p>
            <a:pPr lvl="4"/>
            <a:endParaRPr lang="en-US"/>
          </a:p>
          <a:p>
            <a:pPr lvl="1"/>
            <a:endParaRPr lang="en-US"/>
          </a:p>
        </p:txBody>
      </p:sp>
    </p:spTree>
    <p:extLst>
      <p:ext uri="{BB962C8B-B14F-4D97-AF65-F5344CB8AC3E}">
        <p14:creationId xmlns:p14="http://schemas.microsoft.com/office/powerpoint/2010/main" val="24918155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Text Box 2"/>
          <p:cNvSpPr txBox="1">
            <a:spLocks noChangeArrowheads="1"/>
          </p:cNvSpPr>
          <p:nvPr/>
        </p:nvSpPr>
        <p:spPr bwMode="auto">
          <a:xfrm>
            <a:off x="6994526" y="5548312"/>
            <a:ext cx="2530475" cy="627700"/>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358" tIns="45678" rIns="91358" bIns="45678">
            <a:spAutoFit/>
          </a:bodyPr>
          <a:lstStyle/>
          <a:p>
            <a:pPr algn="ctr" eaLnBrk="1" hangingPunct="1"/>
            <a:endParaRPr lang="en-US" sz="3400"/>
          </a:p>
        </p:txBody>
      </p:sp>
      <p:sp>
        <p:nvSpPr>
          <p:cNvPr id="357461" name="Rectangle 85"/>
          <p:cNvSpPr>
            <a:spLocks noGrp="1" noChangeArrowheads="1"/>
          </p:cNvSpPr>
          <p:nvPr>
            <p:ph type="title"/>
          </p:nvPr>
        </p:nvSpPr>
        <p:spPr>
          <a:noFill/>
          <a:ln/>
        </p:spPr>
        <p:txBody>
          <a:bodyPr/>
          <a:lstStyle/>
          <a:p>
            <a:r>
              <a:rPr lang="en-US"/>
              <a:t>QPTM System Flow</a:t>
            </a:r>
          </a:p>
        </p:txBody>
      </p:sp>
      <p:sp>
        <p:nvSpPr>
          <p:cNvPr id="54" name="Text Box 14"/>
          <p:cNvSpPr txBox="1">
            <a:spLocks noChangeArrowheads="1"/>
          </p:cNvSpPr>
          <p:nvPr/>
        </p:nvSpPr>
        <p:spPr bwMode="auto">
          <a:xfrm>
            <a:off x="457381" y="1337735"/>
            <a:ext cx="8229420" cy="646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358" tIns="45678" rIns="91358" bIns="45678">
            <a:spAutoFit/>
          </a:bodyPr>
          <a:lstStyle/>
          <a:p>
            <a:pPr algn="ctr" eaLnBrk="1" hangingPunct="1">
              <a:spcBef>
                <a:spcPct val="50000"/>
              </a:spcBef>
            </a:pPr>
            <a:r>
              <a:rPr lang="en-US" sz="1500" b="1">
                <a:effectLst>
                  <a:outerShdw blurRad="38100" dist="38100" dir="2700000" algn="tl">
                    <a:srgbClr val="C0C0C0"/>
                  </a:outerShdw>
                </a:effectLst>
              </a:rPr>
              <a:t>Master Data</a:t>
            </a:r>
          </a:p>
          <a:p>
            <a:pPr algn="ctr" eaLnBrk="1" hangingPunct="1">
              <a:spcBef>
                <a:spcPct val="50000"/>
              </a:spcBef>
            </a:pPr>
            <a:r>
              <a:rPr lang="en-US" sz="1400"/>
              <a:t>Contracts, Rates, Business Associates, Locations</a:t>
            </a:r>
          </a:p>
        </p:txBody>
      </p:sp>
      <p:sp>
        <p:nvSpPr>
          <p:cNvPr id="57" name="AutoShape 21"/>
          <p:cNvSpPr>
            <a:spLocks noChangeArrowheads="1"/>
          </p:cNvSpPr>
          <p:nvPr/>
        </p:nvSpPr>
        <p:spPr bwMode="auto">
          <a:xfrm>
            <a:off x="457380" y="1337736"/>
            <a:ext cx="8229420" cy="646246"/>
          </a:xfrm>
          <a:prstGeom prst="roundRect">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3" tIns="45717" rIns="91433" bIns="45717" anchor="ctr"/>
          <a:lstStyle/>
          <a:p>
            <a:endParaRPr lang="en-US"/>
          </a:p>
        </p:txBody>
      </p:sp>
      <p:cxnSp>
        <p:nvCxnSpPr>
          <p:cNvPr id="5" name="Straight Connector 4"/>
          <p:cNvCxnSpPr/>
          <p:nvPr/>
        </p:nvCxnSpPr>
        <p:spPr>
          <a:xfrm flipH="1">
            <a:off x="4530452" y="2149607"/>
            <a:ext cx="420" cy="4217326"/>
          </a:xfrm>
          <a:prstGeom prst="line">
            <a:avLst/>
          </a:prstGeom>
        </p:spPr>
        <p:style>
          <a:lnRef idx="1">
            <a:schemeClr val="accent1"/>
          </a:lnRef>
          <a:fillRef idx="0">
            <a:schemeClr val="accent1"/>
          </a:fillRef>
          <a:effectRef idx="0">
            <a:schemeClr val="accent1"/>
          </a:effectRef>
          <a:fontRef idx="minor">
            <a:schemeClr val="tx1"/>
          </a:fontRef>
        </p:style>
      </p:cxnSp>
      <p:sp>
        <p:nvSpPr>
          <p:cNvPr id="65" name="Text Box 14"/>
          <p:cNvSpPr txBox="1">
            <a:spLocks noChangeArrowheads="1"/>
          </p:cNvSpPr>
          <p:nvPr/>
        </p:nvSpPr>
        <p:spPr bwMode="auto">
          <a:xfrm>
            <a:off x="770649" y="2233852"/>
            <a:ext cx="3496553" cy="323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358" tIns="45678" rIns="91358" bIns="45678">
            <a:spAutoFit/>
          </a:bodyPr>
          <a:lstStyle/>
          <a:p>
            <a:pPr algn="ctr" eaLnBrk="1" hangingPunct="1">
              <a:spcBef>
                <a:spcPct val="50000"/>
              </a:spcBef>
            </a:pPr>
            <a:r>
              <a:rPr lang="en-US" sz="1500" b="1">
                <a:effectLst>
                  <a:outerShdw blurRad="38100" dist="38100" dir="2700000" algn="tl">
                    <a:srgbClr val="C0C0C0"/>
                  </a:outerShdw>
                </a:effectLst>
              </a:rPr>
              <a:t>Pre-Flow</a:t>
            </a:r>
          </a:p>
        </p:txBody>
      </p:sp>
      <p:sp>
        <p:nvSpPr>
          <p:cNvPr id="66" name="Text Box 14"/>
          <p:cNvSpPr txBox="1">
            <a:spLocks noChangeArrowheads="1"/>
          </p:cNvSpPr>
          <p:nvPr/>
        </p:nvSpPr>
        <p:spPr bwMode="auto">
          <a:xfrm>
            <a:off x="5843564" y="2239886"/>
            <a:ext cx="1415437" cy="323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358" tIns="45678" rIns="91358" bIns="45678">
            <a:spAutoFit/>
          </a:bodyPr>
          <a:lstStyle/>
          <a:p>
            <a:pPr algn="ctr" eaLnBrk="1" hangingPunct="1">
              <a:spcBef>
                <a:spcPct val="50000"/>
              </a:spcBef>
            </a:pPr>
            <a:r>
              <a:rPr lang="en-US" sz="1500" b="1">
                <a:effectLst>
                  <a:outerShdw blurRad="38100" dist="38100" dir="2700000" algn="tl">
                    <a:srgbClr val="C0C0C0"/>
                  </a:outerShdw>
                </a:effectLst>
              </a:rPr>
              <a:t>Post-Flow</a:t>
            </a:r>
          </a:p>
        </p:txBody>
      </p:sp>
      <p:sp>
        <p:nvSpPr>
          <p:cNvPr id="67" name="AutoShape 32"/>
          <p:cNvSpPr>
            <a:spLocks noChangeArrowheads="1"/>
          </p:cNvSpPr>
          <p:nvPr/>
        </p:nvSpPr>
        <p:spPr bwMode="auto">
          <a:xfrm>
            <a:off x="770649" y="2715817"/>
            <a:ext cx="3496553" cy="705241"/>
          </a:xfrm>
          <a:prstGeom prst="roundRect">
            <a:avLst>
              <a:gd name="adj" fmla="val 16667"/>
            </a:avLst>
          </a:prstGeom>
          <a:gradFill rotWithShape="1">
            <a:gsLst>
              <a:gs pos="0">
                <a:srgbClr val="33CC33"/>
              </a:gs>
              <a:gs pos="50000">
                <a:srgbClr val="33CC33">
                  <a:gamma/>
                  <a:shade val="76078"/>
                  <a:invGamma/>
                </a:srgbClr>
              </a:gs>
              <a:gs pos="100000">
                <a:srgbClr val="33CC33"/>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p>
            <a:pPr algn="ctr"/>
            <a:r>
              <a:rPr lang="en-US" sz="1200" b="1">
                <a:solidFill>
                  <a:schemeClr val="bg1"/>
                </a:solidFill>
              </a:rPr>
              <a:t>Nominations</a:t>
            </a:r>
          </a:p>
          <a:p>
            <a:pPr algn="ctr"/>
            <a:r>
              <a:rPr lang="en-US" sz="1200">
                <a:solidFill>
                  <a:schemeClr val="bg1"/>
                </a:solidFill>
              </a:rPr>
              <a:t>Shipper (external) requesting when, where and how much gas they want to move</a:t>
            </a:r>
          </a:p>
        </p:txBody>
      </p:sp>
      <p:sp>
        <p:nvSpPr>
          <p:cNvPr id="68" name="AutoShape 25"/>
          <p:cNvSpPr>
            <a:spLocks noChangeArrowheads="1"/>
          </p:cNvSpPr>
          <p:nvPr/>
        </p:nvSpPr>
        <p:spPr bwMode="auto">
          <a:xfrm>
            <a:off x="770649" y="3740371"/>
            <a:ext cx="3496553" cy="705241"/>
          </a:xfrm>
          <a:prstGeom prst="roundRect">
            <a:avLst>
              <a:gd name="adj" fmla="val 16667"/>
            </a:avLst>
          </a:prstGeom>
          <a:gradFill rotWithShape="1">
            <a:gsLst>
              <a:gs pos="0">
                <a:srgbClr val="33CC33"/>
              </a:gs>
              <a:gs pos="50000">
                <a:srgbClr val="33CC33">
                  <a:gamma/>
                  <a:shade val="76078"/>
                  <a:invGamma/>
                </a:srgbClr>
              </a:gs>
              <a:gs pos="100000">
                <a:srgbClr val="33CC33"/>
              </a:gs>
            </a:gsLst>
            <a:lin ang="5400000" scaled="1"/>
          </a:gra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p>
            <a:pPr algn="ctr"/>
            <a:r>
              <a:rPr lang="en-US" sz="1200" b="1">
                <a:solidFill>
                  <a:schemeClr val="bg1"/>
                </a:solidFill>
              </a:rPr>
              <a:t>Confirmations</a:t>
            </a:r>
          </a:p>
          <a:p>
            <a:pPr algn="ctr"/>
            <a:r>
              <a:rPr lang="en-US" sz="1200">
                <a:solidFill>
                  <a:schemeClr val="bg1"/>
                </a:solidFill>
              </a:rPr>
              <a:t>Interconnect operator (external) reconciling requests from both pipelines</a:t>
            </a:r>
          </a:p>
        </p:txBody>
      </p:sp>
      <p:sp>
        <p:nvSpPr>
          <p:cNvPr id="69" name="AutoShape 35"/>
          <p:cNvSpPr>
            <a:spLocks noChangeArrowheads="1"/>
          </p:cNvSpPr>
          <p:nvPr/>
        </p:nvSpPr>
        <p:spPr bwMode="auto">
          <a:xfrm>
            <a:off x="770648" y="4764925"/>
            <a:ext cx="3496553" cy="709577"/>
          </a:xfrm>
          <a:prstGeom prst="roundRect">
            <a:avLst>
              <a:gd name="adj" fmla="val 16667"/>
            </a:avLst>
          </a:prstGeom>
          <a:gradFill rotWithShape="1">
            <a:gsLst>
              <a:gs pos="0">
                <a:srgbClr val="33CC33"/>
              </a:gs>
              <a:gs pos="50000">
                <a:srgbClr val="33CC33">
                  <a:gamma/>
                  <a:shade val="76078"/>
                  <a:invGamma/>
                </a:srgbClr>
              </a:gs>
              <a:gs pos="100000">
                <a:srgbClr val="33CC33"/>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p>
            <a:pPr algn="ctr"/>
            <a:r>
              <a:rPr lang="en-US" sz="1200" b="1">
                <a:solidFill>
                  <a:schemeClr val="bg1"/>
                </a:solidFill>
              </a:rPr>
              <a:t>Capacity Allocations</a:t>
            </a:r>
          </a:p>
          <a:p>
            <a:pPr algn="ctr"/>
            <a:r>
              <a:rPr lang="en-US" sz="1200">
                <a:solidFill>
                  <a:schemeClr val="bg1"/>
                </a:solidFill>
              </a:rPr>
              <a:t>Pipeline operator making sure there is enough capacity and making cuts</a:t>
            </a:r>
          </a:p>
        </p:txBody>
      </p:sp>
      <p:sp>
        <p:nvSpPr>
          <p:cNvPr id="70" name="AutoShape 28"/>
          <p:cNvSpPr>
            <a:spLocks noChangeArrowheads="1"/>
          </p:cNvSpPr>
          <p:nvPr/>
        </p:nvSpPr>
        <p:spPr bwMode="auto">
          <a:xfrm>
            <a:off x="5885847" y="3530698"/>
            <a:ext cx="1329197" cy="559537"/>
          </a:xfrm>
          <a:prstGeom prst="roundRect">
            <a:avLst>
              <a:gd name="adj" fmla="val 16667"/>
            </a:avLst>
          </a:prstGeom>
          <a:gradFill rotWithShape="1">
            <a:gsLst>
              <a:gs pos="0">
                <a:srgbClr val="0000FF">
                  <a:gamma/>
                  <a:shade val="76078"/>
                  <a:invGamma/>
                </a:srgbClr>
              </a:gs>
              <a:gs pos="50000">
                <a:srgbClr val="0000FF"/>
              </a:gs>
              <a:gs pos="100000">
                <a:srgbClr val="0000FF">
                  <a:gamma/>
                  <a:shade val="76078"/>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200" b="1">
                <a:solidFill>
                  <a:schemeClr val="bg1"/>
                </a:solidFill>
              </a:rPr>
              <a:t>Allocations</a:t>
            </a:r>
          </a:p>
        </p:txBody>
      </p:sp>
      <p:sp>
        <p:nvSpPr>
          <p:cNvPr id="71" name="AutoShape 53"/>
          <p:cNvSpPr>
            <a:spLocks noChangeArrowheads="1"/>
          </p:cNvSpPr>
          <p:nvPr/>
        </p:nvSpPr>
        <p:spPr bwMode="auto">
          <a:xfrm>
            <a:off x="5885847" y="4281779"/>
            <a:ext cx="1330871" cy="559536"/>
          </a:xfrm>
          <a:prstGeom prst="roundRect">
            <a:avLst>
              <a:gd name="adj" fmla="val 16667"/>
            </a:avLst>
          </a:prstGeom>
          <a:gradFill rotWithShape="1">
            <a:gsLst>
              <a:gs pos="0">
                <a:srgbClr val="0000FF">
                  <a:gamma/>
                  <a:shade val="76078"/>
                  <a:invGamma/>
                </a:srgbClr>
              </a:gs>
              <a:gs pos="50000">
                <a:srgbClr val="0000FF"/>
              </a:gs>
              <a:gs pos="100000">
                <a:srgbClr val="0000FF">
                  <a:gamma/>
                  <a:shade val="76078"/>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200" b="1">
                <a:solidFill>
                  <a:schemeClr val="bg1"/>
                </a:solidFill>
              </a:rPr>
              <a:t>Inventory</a:t>
            </a:r>
          </a:p>
        </p:txBody>
      </p:sp>
      <p:sp>
        <p:nvSpPr>
          <p:cNvPr id="72" name="AutoShape 50"/>
          <p:cNvSpPr>
            <a:spLocks noChangeArrowheads="1"/>
          </p:cNvSpPr>
          <p:nvPr/>
        </p:nvSpPr>
        <p:spPr bwMode="auto">
          <a:xfrm>
            <a:off x="5885847" y="5057966"/>
            <a:ext cx="1330871" cy="571441"/>
          </a:xfrm>
          <a:prstGeom prst="roundRect">
            <a:avLst>
              <a:gd name="adj" fmla="val 16667"/>
            </a:avLst>
          </a:prstGeom>
          <a:gradFill rotWithShape="1">
            <a:gsLst>
              <a:gs pos="0">
                <a:srgbClr val="0000FF">
                  <a:gamma/>
                  <a:shade val="76078"/>
                  <a:invGamma/>
                </a:srgbClr>
              </a:gs>
              <a:gs pos="50000">
                <a:srgbClr val="0000FF"/>
              </a:gs>
              <a:gs pos="100000">
                <a:srgbClr val="0000FF">
                  <a:gamma/>
                  <a:shade val="76078"/>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200" b="1">
                <a:solidFill>
                  <a:schemeClr val="bg1"/>
                </a:solidFill>
              </a:rPr>
              <a:t>Invoicing</a:t>
            </a:r>
          </a:p>
        </p:txBody>
      </p:sp>
      <p:cxnSp>
        <p:nvCxnSpPr>
          <p:cNvPr id="10" name="Straight Arrow Connector 9"/>
          <p:cNvCxnSpPr>
            <a:stCxn id="67" idx="2"/>
            <a:endCxn id="68" idx="0"/>
          </p:cNvCxnSpPr>
          <p:nvPr/>
        </p:nvCxnSpPr>
        <p:spPr>
          <a:xfrm>
            <a:off x="2518926" y="3421058"/>
            <a:ext cx="0" cy="3193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stCxn id="68" idx="2"/>
            <a:endCxn id="69" idx="0"/>
          </p:cNvCxnSpPr>
          <p:nvPr/>
        </p:nvCxnSpPr>
        <p:spPr>
          <a:xfrm flipH="1">
            <a:off x="2518925" y="4445612"/>
            <a:ext cx="1" cy="3193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2" name="AutoShape 50"/>
          <p:cNvSpPr>
            <a:spLocks noChangeArrowheads="1"/>
          </p:cNvSpPr>
          <p:nvPr/>
        </p:nvSpPr>
        <p:spPr bwMode="auto">
          <a:xfrm>
            <a:off x="5885847" y="2725988"/>
            <a:ext cx="1330871" cy="559537"/>
          </a:xfrm>
          <a:prstGeom prst="roundRect">
            <a:avLst>
              <a:gd name="adj" fmla="val 16667"/>
            </a:avLst>
          </a:prstGeom>
          <a:gradFill rotWithShape="1">
            <a:gsLst>
              <a:gs pos="0">
                <a:srgbClr val="FF9933">
                  <a:gamma/>
                  <a:shade val="66275"/>
                  <a:invGamma/>
                </a:srgbClr>
              </a:gs>
              <a:gs pos="50000">
                <a:srgbClr val="FF9933"/>
              </a:gs>
              <a:gs pos="100000">
                <a:srgbClr val="FF9933">
                  <a:gamma/>
                  <a:shade val="6627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p>
            <a:pPr algn="ctr"/>
            <a:r>
              <a:rPr lang="en-US" sz="1200" b="1">
                <a:solidFill>
                  <a:schemeClr val="bg1"/>
                </a:solidFill>
              </a:rPr>
              <a:t>Measurement Interface</a:t>
            </a:r>
          </a:p>
        </p:txBody>
      </p:sp>
      <p:cxnSp>
        <p:nvCxnSpPr>
          <p:cNvPr id="83" name="Straight Arrow Connector 82"/>
          <p:cNvCxnSpPr>
            <a:stCxn id="82" idx="2"/>
            <a:endCxn id="70" idx="0"/>
          </p:cNvCxnSpPr>
          <p:nvPr/>
        </p:nvCxnSpPr>
        <p:spPr>
          <a:xfrm flipH="1">
            <a:off x="6550446" y="3285525"/>
            <a:ext cx="837" cy="2451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a:stCxn id="70" idx="2"/>
            <a:endCxn id="71" idx="0"/>
          </p:cNvCxnSpPr>
          <p:nvPr/>
        </p:nvCxnSpPr>
        <p:spPr>
          <a:xfrm>
            <a:off x="6550446" y="4090235"/>
            <a:ext cx="837" cy="1915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p:cNvCxnSpPr>
            <a:stCxn id="71" idx="2"/>
            <a:endCxn id="72" idx="0"/>
          </p:cNvCxnSpPr>
          <p:nvPr/>
        </p:nvCxnSpPr>
        <p:spPr>
          <a:xfrm>
            <a:off x="6551283" y="4841315"/>
            <a:ext cx="0" cy="2166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3" name="Text Box 14"/>
          <p:cNvSpPr txBox="1">
            <a:spLocks noChangeArrowheads="1"/>
          </p:cNvSpPr>
          <p:nvPr/>
        </p:nvSpPr>
        <p:spPr bwMode="auto">
          <a:xfrm>
            <a:off x="770647" y="5789479"/>
            <a:ext cx="3496553" cy="323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358" tIns="45678" rIns="91358" bIns="45678">
            <a:spAutoFit/>
          </a:bodyPr>
          <a:lstStyle/>
          <a:p>
            <a:pPr algn="ctr" eaLnBrk="1" hangingPunct="1">
              <a:spcBef>
                <a:spcPct val="50000"/>
              </a:spcBef>
            </a:pPr>
            <a:r>
              <a:rPr lang="en-US" sz="1500" i="1"/>
              <a:t>All of this happens 5x / day</a:t>
            </a:r>
          </a:p>
        </p:txBody>
      </p:sp>
    </p:spTree>
    <p:extLst>
      <p:ext uri="{BB962C8B-B14F-4D97-AF65-F5344CB8AC3E}">
        <p14:creationId xmlns:p14="http://schemas.microsoft.com/office/powerpoint/2010/main" val="2262047277"/>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Confirmations</a:t>
            </a:r>
          </a:p>
        </p:txBody>
      </p:sp>
      <p:sp>
        <p:nvSpPr>
          <p:cNvPr id="3" name="Content Placeholder 2"/>
          <p:cNvSpPr>
            <a:spLocks noGrp="1"/>
          </p:cNvSpPr>
          <p:nvPr>
            <p:ph idx="1"/>
          </p:nvPr>
        </p:nvSpPr>
        <p:spPr/>
        <p:txBody>
          <a:bodyPr>
            <a:normAutofit fontScale="92500" lnSpcReduction="10000"/>
          </a:bodyPr>
          <a:lstStyle/>
          <a:p>
            <a:r>
              <a:rPr lang="en-US"/>
              <a:t>What is it?</a:t>
            </a:r>
          </a:p>
          <a:p>
            <a:pPr lvl="1">
              <a:lnSpc>
                <a:spcPct val="90000"/>
              </a:lnSpc>
            </a:pPr>
            <a:endParaRPr lang="en-US"/>
          </a:p>
          <a:p>
            <a:pPr lvl="1">
              <a:lnSpc>
                <a:spcPct val="90000"/>
              </a:lnSpc>
            </a:pPr>
            <a:endParaRPr lang="en-US"/>
          </a:p>
          <a:p>
            <a:pPr lvl="1">
              <a:lnSpc>
                <a:spcPct val="90000"/>
              </a:lnSpc>
            </a:pPr>
            <a:endParaRPr lang="en-US"/>
          </a:p>
          <a:p>
            <a:pPr lvl="1">
              <a:lnSpc>
                <a:spcPct val="90000"/>
              </a:lnSpc>
            </a:pPr>
            <a:endParaRPr lang="en-US"/>
          </a:p>
          <a:p>
            <a:pPr lvl="1">
              <a:lnSpc>
                <a:spcPct val="90000"/>
              </a:lnSpc>
            </a:pPr>
            <a:endParaRPr lang="en-US"/>
          </a:p>
          <a:p>
            <a:pPr lvl="1">
              <a:lnSpc>
                <a:spcPct val="90000"/>
              </a:lnSpc>
            </a:pPr>
            <a:endParaRPr lang="en-US"/>
          </a:p>
          <a:p>
            <a:pPr lvl="8">
              <a:lnSpc>
                <a:spcPct val="90000"/>
              </a:lnSpc>
            </a:pPr>
            <a:endParaRPr lang="en-US"/>
          </a:p>
          <a:p>
            <a:pPr lvl="1">
              <a:lnSpc>
                <a:spcPct val="90000"/>
              </a:lnSpc>
            </a:pPr>
            <a:r>
              <a:rPr lang="en-US"/>
              <a:t>Agreement between interconnecting parties to receive / deliver a specified quantity of gas for a specified date under a contract based on submitted nominations</a:t>
            </a:r>
          </a:p>
          <a:p>
            <a:pPr lvl="5">
              <a:lnSpc>
                <a:spcPct val="90000"/>
              </a:lnSpc>
            </a:pPr>
            <a:endParaRPr lang="en-US"/>
          </a:p>
          <a:p>
            <a:r>
              <a:rPr lang="en-US"/>
              <a:t>Who uses it?</a:t>
            </a:r>
          </a:p>
          <a:p>
            <a:pPr lvl="1"/>
            <a:r>
              <a:rPr lang="en-US"/>
              <a:t>Confirmation cuts are made by the operator of each interconnect point in the QPTM Web app</a:t>
            </a:r>
          </a:p>
          <a:p>
            <a:pPr lvl="4"/>
            <a:endParaRPr lang="en-US"/>
          </a:p>
          <a:p>
            <a:pPr lvl="1"/>
            <a:endParaRPr lang="en-US"/>
          </a:p>
        </p:txBody>
      </p:sp>
      <p:grpSp>
        <p:nvGrpSpPr>
          <p:cNvPr id="26" name="Group 25"/>
          <p:cNvGrpSpPr/>
          <p:nvPr/>
        </p:nvGrpSpPr>
        <p:grpSpPr>
          <a:xfrm>
            <a:off x="762000" y="1474882"/>
            <a:ext cx="7772402" cy="1801718"/>
            <a:chOff x="762000" y="1474882"/>
            <a:chExt cx="7772402" cy="1801718"/>
          </a:xfrm>
        </p:grpSpPr>
        <p:sp>
          <p:nvSpPr>
            <p:cNvPr id="5" name="Can 4"/>
            <p:cNvSpPr/>
            <p:nvPr/>
          </p:nvSpPr>
          <p:spPr bwMode="auto">
            <a:xfrm rot="5400000">
              <a:off x="4424534" y="-1147932"/>
              <a:ext cx="447334" cy="7772402"/>
            </a:xfrm>
            <a:prstGeom prst="can">
              <a:avLst/>
            </a:prstGeom>
            <a:solidFill>
              <a:srgbClr val="FFC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6" name="Oval 5"/>
            <p:cNvSpPr/>
            <p:nvPr/>
          </p:nvSpPr>
          <p:spPr bwMode="auto">
            <a:xfrm>
              <a:off x="4419599" y="2514600"/>
              <a:ext cx="457201" cy="447336"/>
            </a:xfrm>
            <a:prstGeom prst="ellips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cxnSp>
          <p:nvCxnSpPr>
            <p:cNvPr id="7" name="Straight Connector 6"/>
            <p:cNvCxnSpPr/>
            <p:nvPr/>
          </p:nvCxnSpPr>
          <p:spPr bwMode="auto">
            <a:xfrm>
              <a:off x="4648199" y="1474882"/>
              <a:ext cx="0" cy="1801718"/>
            </a:xfrm>
            <a:prstGeom prst="line">
              <a:avLst/>
            </a:prstGeom>
            <a:solidFill>
              <a:schemeClr val="accent1"/>
            </a:solidFill>
            <a:ln w="19050"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TextBox 6"/>
            <p:cNvSpPr txBox="1"/>
            <p:nvPr/>
          </p:nvSpPr>
          <p:spPr>
            <a:xfrm>
              <a:off x="1860656" y="1477941"/>
              <a:ext cx="2635144" cy="338554"/>
            </a:xfrm>
            <a:prstGeom prst="rect">
              <a:avLst/>
            </a:prstGeom>
            <a:noFill/>
          </p:spPr>
          <p:txBody>
            <a:bodyPr wrap="none" rtlCol="0">
              <a:spAutoFit/>
            </a:bodyPr>
            <a:lstStyle>
              <a:defPPr>
                <a:defRPr lang="en-US"/>
              </a:defPPr>
              <a:lvl1pPr algn="ctr" rtl="0" eaLnBrk="0" fontAlgn="base" hangingPunct="0">
                <a:spcBef>
                  <a:spcPct val="0"/>
                </a:spcBef>
                <a:spcAft>
                  <a:spcPct val="0"/>
                </a:spcAft>
                <a:defRPr sz="1400" kern="1200">
                  <a:solidFill>
                    <a:schemeClr val="tx1"/>
                  </a:solidFill>
                  <a:latin typeface="Arial" charset="0"/>
                  <a:ea typeface="+mn-ea"/>
                  <a:cs typeface="+mn-cs"/>
                </a:defRPr>
              </a:lvl1pPr>
              <a:lvl2pPr marL="457200" algn="ctr" rtl="0" eaLnBrk="0" fontAlgn="base" hangingPunct="0">
                <a:spcBef>
                  <a:spcPct val="0"/>
                </a:spcBef>
                <a:spcAft>
                  <a:spcPct val="0"/>
                </a:spcAft>
                <a:defRPr sz="1400" kern="1200">
                  <a:solidFill>
                    <a:schemeClr val="tx1"/>
                  </a:solidFill>
                  <a:latin typeface="Arial" charset="0"/>
                  <a:ea typeface="+mn-ea"/>
                  <a:cs typeface="+mn-cs"/>
                </a:defRPr>
              </a:lvl2pPr>
              <a:lvl3pPr marL="914400" algn="ctr" rtl="0" eaLnBrk="0" fontAlgn="base" hangingPunct="0">
                <a:spcBef>
                  <a:spcPct val="0"/>
                </a:spcBef>
                <a:spcAft>
                  <a:spcPct val="0"/>
                </a:spcAft>
                <a:defRPr sz="1400" kern="1200">
                  <a:solidFill>
                    <a:schemeClr val="tx1"/>
                  </a:solidFill>
                  <a:latin typeface="Arial" charset="0"/>
                  <a:ea typeface="+mn-ea"/>
                  <a:cs typeface="+mn-cs"/>
                </a:defRPr>
              </a:lvl3pPr>
              <a:lvl4pPr marL="1371600" algn="ctr" rtl="0" eaLnBrk="0" fontAlgn="base" hangingPunct="0">
                <a:spcBef>
                  <a:spcPct val="0"/>
                </a:spcBef>
                <a:spcAft>
                  <a:spcPct val="0"/>
                </a:spcAft>
                <a:defRPr sz="1400" kern="1200">
                  <a:solidFill>
                    <a:schemeClr val="tx1"/>
                  </a:solidFill>
                  <a:latin typeface="Arial" charset="0"/>
                  <a:ea typeface="+mn-ea"/>
                  <a:cs typeface="+mn-cs"/>
                </a:defRPr>
              </a:lvl4pPr>
              <a:lvl5pPr marL="1828800" algn="ctr" rtl="0" eaLnBrk="0" fontAlgn="base" hangingPunct="0">
                <a:spcBef>
                  <a:spcPct val="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algn="r"/>
              <a:r>
                <a:rPr lang="en-US" sz="1600" b="1"/>
                <a:t>TSP 1 – Midwest Pipeline</a:t>
              </a:r>
            </a:p>
          </p:txBody>
        </p:sp>
        <p:sp>
          <p:nvSpPr>
            <p:cNvPr id="9" name="TextBox 7"/>
            <p:cNvSpPr txBox="1"/>
            <p:nvPr/>
          </p:nvSpPr>
          <p:spPr>
            <a:xfrm>
              <a:off x="4827728" y="1474882"/>
              <a:ext cx="1414041" cy="338554"/>
            </a:xfrm>
            <a:prstGeom prst="rect">
              <a:avLst/>
            </a:prstGeom>
            <a:noFill/>
          </p:spPr>
          <p:txBody>
            <a:bodyPr wrap="none" rtlCol="0">
              <a:spAutoFit/>
            </a:bodyPr>
            <a:lstStyle>
              <a:defPPr>
                <a:defRPr lang="en-US"/>
              </a:defPPr>
              <a:lvl1pPr algn="ctr" rtl="0" eaLnBrk="0" fontAlgn="base" hangingPunct="0">
                <a:spcBef>
                  <a:spcPct val="0"/>
                </a:spcBef>
                <a:spcAft>
                  <a:spcPct val="0"/>
                </a:spcAft>
                <a:defRPr sz="1400" kern="1200">
                  <a:solidFill>
                    <a:schemeClr val="tx1"/>
                  </a:solidFill>
                  <a:latin typeface="Arial" charset="0"/>
                  <a:ea typeface="+mn-ea"/>
                  <a:cs typeface="+mn-cs"/>
                </a:defRPr>
              </a:lvl1pPr>
              <a:lvl2pPr marL="457200" algn="ctr" rtl="0" eaLnBrk="0" fontAlgn="base" hangingPunct="0">
                <a:spcBef>
                  <a:spcPct val="0"/>
                </a:spcBef>
                <a:spcAft>
                  <a:spcPct val="0"/>
                </a:spcAft>
                <a:defRPr sz="1400" kern="1200">
                  <a:solidFill>
                    <a:schemeClr val="tx1"/>
                  </a:solidFill>
                  <a:latin typeface="Arial" charset="0"/>
                  <a:ea typeface="+mn-ea"/>
                  <a:cs typeface="+mn-cs"/>
                </a:defRPr>
              </a:lvl2pPr>
              <a:lvl3pPr marL="914400" algn="ctr" rtl="0" eaLnBrk="0" fontAlgn="base" hangingPunct="0">
                <a:spcBef>
                  <a:spcPct val="0"/>
                </a:spcBef>
                <a:spcAft>
                  <a:spcPct val="0"/>
                </a:spcAft>
                <a:defRPr sz="1400" kern="1200">
                  <a:solidFill>
                    <a:schemeClr val="tx1"/>
                  </a:solidFill>
                  <a:latin typeface="Arial" charset="0"/>
                  <a:ea typeface="+mn-ea"/>
                  <a:cs typeface="+mn-cs"/>
                </a:defRPr>
              </a:lvl3pPr>
              <a:lvl4pPr marL="1371600" algn="ctr" rtl="0" eaLnBrk="0" fontAlgn="base" hangingPunct="0">
                <a:spcBef>
                  <a:spcPct val="0"/>
                </a:spcBef>
                <a:spcAft>
                  <a:spcPct val="0"/>
                </a:spcAft>
                <a:defRPr sz="1400" kern="1200">
                  <a:solidFill>
                    <a:schemeClr val="tx1"/>
                  </a:solidFill>
                  <a:latin typeface="Arial" charset="0"/>
                  <a:ea typeface="+mn-ea"/>
                  <a:cs typeface="+mn-cs"/>
                </a:defRPr>
              </a:lvl4pPr>
              <a:lvl5pPr marL="1828800" algn="ctr" rtl="0" eaLnBrk="0" fontAlgn="base" hangingPunct="0">
                <a:spcBef>
                  <a:spcPct val="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algn="l"/>
              <a:r>
                <a:rPr lang="en-US" sz="1600" b="1">
                  <a:solidFill>
                    <a:srgbClr val="FF0000"/>
                  </a:solidFill>
                </a:rPr>
                <a:t>TSP 2 – ANR</a:t>
              </a:r>
            </a:p>
          </p:txBody>
        </p:sp>
        <p:cxnSp>
          <p:nvCxnSpPr>
            <p:cNvPr id="10" name="Straight Arrow Connector 9"/>
            <p:cNvCxnSpPr/>
            <p:nvPr/>
          </p:nvCxnSpPr>
          <p:spPr bwMode="auto">
            <a:xfrm flipV="1">
              <a:off x="2514600" y="2733336"/>
              <a:ext cx="1868582" cy="4933"/>
            </a:xfrm>
            <a:prstGeom prst="straightConnector1">
              <a:avLst/>
            </a:prstGeom>
            <a:solidFill>
              <a:schemeClr val="accent1"/>
            </a:solidFill>
            <a:ln w="19050" cap="flat" cmpd="sng" algn="ctr">
              <a:solidFill>
                <a:schemeClr val="tx1"/>
              </a:solidFill>
              <a:prstDash val="solid"/>
              <a:round/>
              <a:headEnd type="none" w="med" len="me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 name="TextBox 10"/>
            <p:cNvSpPr txBox="1"/>
            <p:nvPr/>
          </p:nvSpPr>
          <p:spPr>
            <a:xfrm>
              <a:off x="762000" y="1878133"/>
              <a:ext cx="3733801" cy="523220"/>
            </a:xfrm>
            <a:prstGeom prst="rect">
              <a:avLst/>
            </a:prstGeom>
            <a:noFill/>
          </p:spPr>
          <p:txBody>
            <a:bodyPr wrap="square" rtlCol="0">
              <a:spAutoFit/>
            </a:bodyPr>
            <a:lstStyle/>
            <a:p>
              <a:pPr algn="r"/>
              <a:r>
                <a:rPr lang="en-US" sz="1400" i="1"/>
                <a:t>Midwest </a:t>
              </a:r>
              <a:r>
                <a:rPr lang="en-US" sz="1400" i="1" err="1"/>
                <a:t>noms</a:t>
              </a:r>
              <a:r>
                <a:rPr lang="en-US" sz="1400" i="1"/>
                <a:t> show that 500 </a:t>
              </a:r>
              <a:r>
                <a:rPr lang="en-US" sz="1400" i="1" err="1"/>
                <a:t>dth</a:t>
              </a:r>
              <a:r>
                <a:rPr lang="en-US" sz="1400" i="1"/>
                <a:t> are being delivered at the interconnect</a:t>
              </a:r>
            </a:p>
          </p:txBody>
        </p:sp>
        <p:sp>
          <p:nvSpPr>
            <p:cNvPr id="12" name="TextBox 11"/>
            <p:cNvSpPr txBox="1"/>
            <p:nvPr/>
          </p:nvSpPr>
          <p:spPr>
            <a:xfrm>
              <a:off x="4749433" y="1878133"/>
              <a:ext cx="3784969" cy="523220"/>
            </a:xfrm>
            <a:prstGeom prst="rect">
              <a:avLst/>
            </a:prstGeom>
            <a:noFill/>
          </p:spPr>
          <p:txBody>
            <a:bodyPr wrap="square" rtlCol="0">
              <a:spAutoFit/>
            </a:bodyPr>
            <a:lstStyle/>
            <a:p>
              <a:r>
                <a:rPr lang="en-US" sz="1400" i="1">
                  <a:solidFill>
                    <a:srgbClr val="FF0000"/>
                  </a:solidFill>
                </a:rPr>
                <a:t>…But ANR </a:t>
              </a:r>
              <a:r>
                <a:rPr lang="en-US" sz="1400" i="1" err="1">
                  <a:solidFill>
                    <a:srgbClr val="FF0000"/>
                  </a:solidFill>
                </a:rPr>
                <a:t>noms</a:t>
              </a:r>
              <a:r>
                <a:rPr lang="en-US" sz="1400" i="1">
                  <a:solidFill>
                    <a:srgbClr val="FF0000"/>
                  </a:solidFill>
                </a:rPr>
                <a:t> show that only 450 is being picked up at the interconnect.</a:t>
              </a:r>
            </a:p>
          </p:txBody>
        </p:sp>
        <p:cxnSp>
          <p:nvCxnSpPr>
            <p:cNvPr id="13" name="Straight Arrow Connector 12"/>
            <p:cNvCxnSpPr/>
            <p:nvPr/>
          </p:nvCxnSpPr>
          <p:spPr bwMode="auto">
            <a:xfrm>
              <a:off x="4953000" y="2733336"/>
              <a:ext cx="1981200" cy="4933"/>
            </a:xfrm>
            <a:prstGeom prst="straightConnector1">
              <a:avLst/>
            </a:prstGeom>
            <a:solidFill>
              <a:schemeClr val="accent1"/>
            </a:solidFill>
            <a:ln w="19050" cap="flat" cmpd="sng" algn="ctr">
              <a:solidFill>
                <a:schemeClr val="tx1"/>
              </a:solidFill>
              <a:prstDash val="solid"/>
              <a:round/>
              <a:headEnd type="none" w="med" len="me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20481531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Text Box 2"/>
          <p:cNvSpPr txBox="1">
            <a:spLocks noChangeArrowheads="1"/>
          </p:cNvSpPr>
          <p:nvPr/>
        </p:nvSpPr>
        <p:spPr bwMode="auto">
          <a:xfrm>
            <a:off x="6994526" y="5548312"/>
            <a:ext cx="2530475" cy="627700"/>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358" tIns="45678" rIns="91358" bIns="45678">
            <a:spAutoFit/>
          </a:bodyPr>
          <a:lstStyle/>
          <a:p>
            <a:pPr algn="ctr" eaLnBrk="1" hangingPunct="1"/>
            <a:endParaRPr lang="en-US" sz="3400"/>
          </a:p>
        </p:txBody>
      </p:sp>
      <p:sp>
        <p:nvSpPr>
          <p:cNvPr id="357461" name="Rectangle 85"/>
          <p:cNvSpPr>
            <a:spLocks noGrp="1" noChangeArrowheads="1"/>
          </p:cNvSpPr>
          <p:nvPr>
            <p:ph type="title"/>
          </p:nvPr>
        </p:nvSpPr>
        <p:spPr>
          <a:noFill/>
          <a:ln/>
        </p:spPr>
        <p:txBody>
          <a:bodyPr/>
          <a:lstStyle/>
          <a:p>
            <a:r>
              <a:rPr lang="en-US"/>
              <a:t>QPTM System Flow</a:t>
            </a:r>
          </a:p>
        </p:txBody>
      </p:sp>
      <p:sp>
        <p:nvSpPr>
          <p:cNvPr id="54" name="Text Box 14"/>
          <p:cNvSpPr txBox="1">
            <a:spLocks noChangeArrowheads="1"/>
          </p:cNvSpPr>
          <p:nvPr/>
        </p:nvSpPr>
        <p:spPr bwMode="auto">
          <a:xfrm>
            <a:off x="457381" y="1337735"/>
            <a:ext cx="8229420" cy="646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358" tIns="45678" rIns="91358" bIns="45678">
            <a:spAutoFit/>
          </a:bodyPr>
          <a:lstStyle/>
          <a:p>
            <a:pPr algn="ctr" eaLnBrk="1" hangingPunct="1">
              <a:spcBef>
                <a:spcPct val="50000"/>
              </a:spcBef>
            </a:pPr>
            <a:r>
              <a:rPr lang="en-US" sz="1500" b="1">
                <a:effectLst>
                  <a:outerShdw blurRad="38100" dist="38100" dir="2700000" algn="tl">
                    <a:srgbClr val="C0C0C0"/>
                  </a:outerShdw>
                </a:effectLst>
              </a:rPr>
              <a:t>Master Data</a:t>
            </a:r>
          </a:p>
          <a:p>
            <a:pPr algn="ctr" eaLnBrk="1" hangingPunct="1">
              <a:spcBef>
                <a:spcPct val="50000"/>
              </a:spcBef>
            </a:pPr>
            <a:r>
              <a:rPr lang="en-US" sz="1400"/>
              <a:t>Contracts, Rates, Business Associates, Locations</a:t>
            </a:r>
          </a:p>
        </p:txBody>
      </p:sp>
      <p:sp>
        <p:nvSpPr>
          <p:cNvPr id="57" name="AutoShape 21"/>
          <p:cNvSpPr>
            <a:spLocks noChangeArrowheads="1"/>
          </p:cNvSpPr>
          <p:nvPr/>
        </p:nvSpPr>
        <p:spPr bwMode="auto">
          <a:xfrm>
            <a:off x="457380" y="1337736"/>
            <a:ext cx="8229420" cy="646246"/>
          </a:xfrm>
          <a:prstGeom prst="roundRect">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3" tIns="45717" rIns="91433" bIns="45717" anchor="ctr"/>
          <a:lstStyle/>
          <a:p>
            <a:endParaRPr lang="en-US"/>
          </a:p>
        </p:txBody>
      </p:sp>
      <p:cxnSp>
        <p:nvCxnSpPr>
          <p:cNvPr id="5" name="Straight Connector 4"/>
          <p:cNvCxnSpPr/>
          <p:nvPr/>
        </p:nvCxnSpPr>
        <p:spPr>
          <a:xfrm flipH="1">
            <a:off x="4530452" y="2149607"/>
            <a:ext cx="420" cy="4217326"/>
          </a:xfrm>
          <a:prstGeom prst="line">
            <a:avLst/>
          </a:prstGeom>
        </p:spPr>
        <p:style>
          <a:lnRef idx="1">
            <a:schemeClr val="accent1"/>
          </a:lnRef>
          <a:fillRef idx="0">
            <a:schemeClr val="accent1"/>
          </a:fillRef>
          <a:effectRef idx="0">
            <a:schemeClr val="accent1"/>
          </a:effectRef>
          <a:fontRef idx="minor">
            <a:schemeClr val="tx1"/>
          </a:fontRef>
        </p:style>
      </p:cxnSp>
      <p:sp>
        <p:nvSpPr>
          <p:cNvPr id="65" name="Text Box 14"/>
          <p:cNvSpPr txBox="1">
            <a:spLocks noChangeArrowheads="1"/>
          </p:cNvSpPr>
          <p:nvPr/>
        </p:nvSpPr>
        <p:spPr bwMode="auto">
          <a:xfrm>
            <a:off x="770649" y="2233852"/>
            <a:ext cx="3496553" cy="323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358" tIns="45678" rIns="91358" bIns="45678">
            <a:spAutoFit/>
          </a:bodyPr>
          <a:lstStyle/>
          <a:p>
            <a:pPr algn="ctr" eaLnBrk="1" hangingPunct="1">
              <a:spcBef>
                <a:spcPct val="50000"/>
              </a:spcBef>
            </a:pPr>
            <a:r>
              <a:rPr lang="en-US" sz="1500" b="1">
                <a:effectLst>
                  <a:outerShdw blurRad="38100" dist="38100" dir="2700000" algn="tl">
                    <a:srgbClr val="C0C0C0"/>
                  </a:outerShdw>
                </a:effectLst>
              </a:rPr>
              <a:t>Pre-Flow</a:t>
            </a:r>
          </a:p>
        </p:txBody>
      </p:sp>
      <p:sp>
        <p:nvSpPr>
          <p:cNvPr id="66" name="Text Box 14"/>
          <p:cNvSpPr txBox="1">
            <a:spLocks noChangeArrowheads="1"/>
          </p:cNvSpPr>
          <p:nvPr/>
        </p:nvSpPr>
        <p:spPr bwMode="auto">
          <a:xfrm>
            <a:off x="5843564" y="2239886"/>
            <a:ext cx="1415437" cy="323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358" tIns="45678" rIns="91358" bIns="45678">
            <a:spAutoFit/>
          </a:bodyPr>
          <a:lstStyle/>
          <a:p>
            <a:pPr algn="ctr" eaLnBrk="1" hangingPunct="1">
              <a:spcBef>
                <a:spcPct val="50000"/>
              </a:spcBef>
            </a:pPr>
            <a:r>
              <a:rPr lang="en-US" sz="1500" b="1">
                <a:effectLst>
                  <a:outerShdw blurRad="38100" dist="38100" dir="2700000" algn="tl">
                    <a:srgbClr val="C0C0C0"/>
                  </a:outerShdw>
                </a:effectLst>
              </a:rPr>
              <a:t>Post-Flow</a:t>
            </a:r>
          </a:p>
        </p:txBody>
      </p:sp>
      <p:sp>
        <p:nvSpPr>
          <p:cNvPr id="67" name="AutoShape 32"/>
          <p:cNvSpPr>
            <a:spLocks noChangeArrowheads="1"/>
          </p:cNvSpPr>
          <p:nvPr/>
        </p:nvSpPr>
        <p:spPr bwMode="auto">
          <a:xfrm>
            <a:off x="770649" y="2715817"/>
            <a:ext cx="3496553" cy="705241"/>
          </a:xfrm>
          <a:prstGeom prst="roundRect">
            <a:avLst>
              <a:gd name="adj" fmla="val 16667"/>
            </a:avLst>
          </a:prstGeom>
          <a:gradFill rotWithShape="1">
            <a:gsLst>
              <a:gs pos="0">
                <a:srgbClr val="33CC33"/>
              </a:gs>
              <a:gs pos="50000">
                <a:srgbClr val="33CC33">
                  <a:gamma/>
                  <a:shade val="76078"/>
                  <a:invGamma/>
                </a:srgbClr>
              </a:gs>
              <a:gs pos="100000">
                <a:srgbClr val="33CC33"/>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p>
            <a:pPr algn="ctr"/>
            <a:r>
              <a:rPr lang="en-US" sz="1200" b="1">
                <a:solidFill>
                  <a:schemeClr val="bg1"/>
                </a:solidFill>
              </a:rPr>
              <a:t>Nominations</a:t>
            </a:r>
          </a:p>
          <a:p>
            <a:pPr algn="ctr"/>
            <a:r>
              <a:rPr lang="en-US" sz="1200">
                <a:solidFill>
                  <a:schemeClr val="bg1"/>
                </a:solidFill>
              </a:rPr>
              <a:t>Shipper (external) requesting when, where and how much gas they want to move</a:t>
            </a:r>
          </a:p>
        </p:txBody>
      </p:sp>
      <p:sp>
        <p:nvSpPr>
          <p:cNvPr id="68" name="AutoShape 25"/>
          <p:cNvSpPr>
            <a:spLocks noChangeArrowheads="1"/>
          </p:cNvSpPr>
          <p:nvPr/>
        </p:nvSpPr>
        <p:spPr bwMode="auto">
          <a:xfrm>
            <a:off x="770649" y="3740371"/>
            <a:ext cx="3496553" cy="705241"/>
          </a:xfrm>
          <a:prstGeom prst="roundRect">
            <a:avLst>
              <a:gd name="adj" fmla="val 16667"/>
            </a:avLst>
          </a:prstGeom>
          <a:gradFill rotWithShape="1">
            <a:gsLst>
              <a:gs pos="0">
                <a:srgbClr val="33CC33"/>
              </a:gs>
              <a:gs pos="50000">
                <a:srgbClr val="33CC33">
                  <a:gamma/>
                  <a:shade val="76078"/>
                  <a:invGamma/>
                </a:srgbClr>
              </a:gs>
              <a:gs pos="100000">
                <a:srgbClr val="33CC33"/>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p>
            <a:pPr algn="ctr"/>
            <a:r>
              <a:rPr lang="en-US" sz="1200" b="1">
                <a:solidFill>
                  <a:schemeClr val="bg1"/>
                </a:solidFill>
              </a:rPr>
              <a:t>Confirmations</a:t>
            </a:r>
          </a:p>
          <a:p>
            <a:pPr algn="ctr"/>
            <a:r>
              <a:rPr lang="en-US" sz="1200">
                <a:solidFill>
                  <a:schemeClr val="bg1"/>
                </a:solidFill>
              </a:rPr>
              <a:t>Interconnect operator (external) reconciling requests from both pipelines</a:t>
            </a:r>
          </a:p>
        </p:txBody>
      </p:sp>
      <p:sp>
        <p:nvSpPr>
          <p:cNvPr id="69" name="AutoShape 35"/>
          <p:cNvSpPr>
            <a:spLocks noChangeArrowheads="1"/>
          </p:cNvSpPr>
          <p:nvPr/>
        </p:nvSpPr>
        <p:spPr bwMode="auto">
          <a:xfrm>
            <a:off x="770648" y="4764925"/>
            <a:ext cx="3496553" cy="709577"/>
          </a:xfrm>
          <a:prstGeom prst="roundRect">
            <a:avLst>
              <a:gd name="adj" fmla="val 16667"/>
            </a:avLst>
          </a:prstGeom>
          <a:gradFill rotWithShape="1">
            <a:gsLst>
              <a:gs pos="0">
                <a:srgbClr val="33CC33"/>
              </a:gs>
              <a:gs pos="50000">
                <a:srgbClr val="33CC33">
                  <a:gamma/>
                  <a:shade val="76078"/>
                  <a:invGamma/>
                </a:srgbClr>
              </a:gs>
              <a:gs pos="100000">
                <a:srgbClr val="33CC33"/>
              </a:gs>
            </a:gsLst>
            <a:lin ang="5400000" scaled="1"/>
          </a:gra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p>
            <a:pPr algn="ctr"/>
            <a:r>
              <a:rPr lang="en-US" sz="1200" b="1">
                <a:solidFill>
                  <a:schemeClr val="bg1"/>
                </a:solidFill>
              </a:rPr>
              <a:t>Capacity Allocations</a:t>
            </a:r>
          </a:p>
          <a:p>
            <a:pPr algn="ctr"/>
            <a:r>
              <a:rPr lang="en-US" sz="1200">
                <a:solidFill>
                  <a:schemeClr val="bg1"/>
                </a:solidFill>
              </a:rPr>
              <a:t>Pipeline operator making sure there is enough capacity and making cuts</a:t>
            </a:r>
          </a:p>
        </p:txBody>
      </p:sp>
      <p:sp>
        <p:nvSpPr>
          <p:cNvPr id="70" name="AutoShape 28"/>
          <p:cNvSpPr>
            <a:spLocks noChangeArrowheads="1"/>
          </p:cNvSpPr>
          <p:nvPr/>
        </p:nvSpPr>
        <p:spPr bwMode="auto">
          <a:xfrm>
            <a:off x="5885847" y="3530698"/>
            <a:ext cx="1329197" cy="559537"/>
          </a:xfrm>
          <a:prstGeom prst="roundRect">
            <a:avLst>
              <a:gd name="adj" fmla="val 16667"/>
            </a:avLst>
          </a:prstGeom>
          <a:gradFill rotWithShape="1">
            <a:gsLst>
              <a:gs pos="0">
                <a:srgbClr val="0000FF">
                  <a:gamma/>
                  <a:shade val="76078"/>
                  <a:invGamma/>
                </a:srgbClr>
              </a:gs>
              <a:gs pos="50000">
                <a:srgbClr val="0000FF"/>
              </a:gs>
              <a:gs pos="100000">
                <a:srgbClr val="0000FF">
                  <a:gamma/>
                  <a:shade val="76078"/>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200" b="1">
                <a:solidFill>
                  <a:schemeClr val="bg1"/>
                </a:solidFill>
              </a:rPr>
              <a:t>Allocations</a:t>
            </a:r>
          </a:p>
        </p:txBody>
      </p:sp>
      <p:sp>
        <p:nvSpPr>
          <p:cNvPr id="71" name="AutoShape 53"/>
          <p:cNvSpPr>
            <a:spLocks noChangeArrowheads="1"/>
          </p:cNvSpPr>
          <p:nvPr/>
        </p:nvSpPr>
        <p:spPr bwMode="auto">
          <a:xfrm>
            <a:off x="5885847" y="4281779"/>
            <a:ext cx="1330871" cy="559536"/>
          </a:xfrm>
          <a:prstGeom prst="roundRect">
            <a:avLst>
              <a:gd name="adj" fmla="val 16667"/>
            </a:avLst>
          </a:prstGeom>
          <a:gradFill rotWithShape="1">
            <a:gsLst>
              <a:gs pos="0">
                <a:srgbClr val="0000FF">
                  <a:gamma/>
                  <a:shade val="76078"/>
                  <a:invGamma/>
                </a:srgbClr>
              </a:gs>
              <a:gs pos="50000">
                <a:srgbClr val="0000FF"/>
              </a:gs>
              <a:gs pos="100000">
                <a:srgbClr val="0000FF">
                  <a:gamma/>
                  <a:shade val="76078"/>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200" b="1">
                <a:solidFill>
                  <a:schemeClr val="bg1"/>
                </a:solidFill>
              </a:rPr>
              <a:t>Inventory</a:t>
            </a:r>
          </a:p>
        </p:txBody>
      </p:sp>
      <p:sp>
        <p:nvSpPr>
          <p:cNvPr id="72" name="AutoShape 50"/>
          <p:cNvSpPr>
            <a:spLocks noChangeArrowheads="1"/>
          </p:cNvSpPr>
          <p:nvPr/>
        </p:nvSpPr>
        <p:spPr bwMode="auto">
          <a:xfrm>
            <a:off x="5885847" y="5057966"/>
            <a:ext cx="1330871" cy="571441"/>
          </a:xfrm>
          <a:prstGeom prst="roundRect">
            <a:avLst>
              <a:gd name="adj" fmla="val 16667"/>
            </a:avLst>
          </a:prstGeom>
          <a:gradFill rotWithShape="1">
            <a:gsLst>
              <a:gs pos="0">
                <a:srgbClr val="0000FF">
                  <a:gamma/>
                  <a:shade val="76078"/>
                  <a:invGamma/>
                </a:srgbClr>
              </a:gs>
              <a:gs pos="50000">
                <a:srgbClr val="0000FF"/>
              </a:gs>
              <a:gs pos="100000">
                <a:srgbClr val="0000FF">
                  <a:gamma/>
                  <a:shade val="76078"/>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200" b="1">
                <a:solidFill>
                  <a:schemeClr val="bg1"/>
                </a:solidFill>
              </a:rPr>
              <a:t>Invoicing</a:t>
            </a:r>
          </a:p>
        </p:txBody>
      </p:sp>
      <p:cxnSp>
        <p:nvCxnSpPr>
          <p:cNvPr id="10" name="Straight Arrow Connector 9"/>
          <p:cNvCxnSpPr>
            <a:stCxn id="67" idx="2"/>
            <a:endCxn id="68" idx="0"/>
          </p:cNvCxnSpPr>
          <p:nvPr/>
        </p:nvCxnSpPr>
        <p:spPr>
          <a:xfrm>
            <a:off x="2518926" y="3421058"/>
            <a:ext cx="0" cy="3193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stCxn id="68" idx="2"/>
            <a:endCxn id="69" idx="0"/>
          </p:cNvCxnSpPr>
          <p:nvPr/>
        </p:nvCxnSpPr>
        <p:spPr>
          <a:xfrm flipH="1">
            <a:off x="2518925" y="4445612"/>
            <a:ext cx="1" cy="3193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2" name="AutoShape 50"/>
          <p:cNvSpPr>
            <a:spLocks noChangeArrowheads="1"/>
          </p:cNvSpPr>
          <p:nvPr/>
        </p:nvSpPr>
        <p:spPr bwMode="auto">
          <a:xfrm>
            <a:off x="5885847" y="2725988"/>
            <a:ext cx="1330871" cy="559537"/>
          </a:xfrm>
          <a:prstGeom prst="roundRect">
            <a:avLst>
              <a:gd name="adj" fmla="val 16667"/>
            </a:avLst>
          </a:prstGeom>
          <a:gradFill rotWithShape="1">
            <a:gsLst>
              <a:gs pos="0">
                <a:srgbClr val="FF9933">
                  <a:gamma/>
                  <a:shade val="66275"/>
                  <a:invGamma/>
                </a:srgbClr>
              </a:gs>
              <a:gs pos="50000">
                <a:srgbClr val="FF9933"/>
              </a:gs>
              <a:gs pos="100000">
                <a:srgbClr val="FF9933">
                  <a:gamma/>
                  <a:shade val="6627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p>
            <a:pPr algn="ctr"/>
            <a:r>
              <a:rPr lang="en-US" sz="1200" b="1">
                <a:solidFill>
                  <a:schemeClr val="bg1"/>
                </a:solidFill>
              </a:rPr>
              <a:t>Measurement Interface</a:t>
            </a:r>
          </a:p>
        </p:txBody>
      </p:sp>
      <p:cxnSp>
        <p:nvCxnSpPr>
          <p:cNvPr id="83" name="Straight Arrow Connector 82"/>
          <p:cNvCxnSpPr>
            <a:stCxn id="82" idx="2"/>
            <a:endCxn id="70" idx="0"/>
          </p:cNvCxnSpPr>
          <p:nvPr/>
        </p:nvCxnSpPr>
        <p:spPr>
          <a:xfrm flipH="1">
            <a:off x="6550446" y="3285525"/>
            <a:ext cx="837" cy="2451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a:stCxn id="70" idx="2"/>
            <a:endCxn id="71" idx="0"/>
          </p:cNvCxnSpPr>
          <p:nvPr/>
        </p:nvCxnSpPr>
        <p:spPr>
          <a:xfrm>
            <a:off x="6550446" y="4090235"/>
            <a:ext cx="837" cy="1915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p:cNvCxnSpPr>
            <a:stCxn id="71" idx="2"/>
            <a:endCxn id="72" idx="0"/>
          </p:cNvCxnSpPr>
          <p:nvPr/>
        </p:nvCxnSpPr>
        <p:spPr>
          <a:xfrm>
            <a:off x="6551283" y="4841315"/>
            <a:ext cx="0" cy="2166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3" name="Text Box 14"/>
          <p:cNvSpPr txBox="1">
            <a:spLocks noChangeArrowheads="1"/>
          </p:cNvSpPr>
          <p:nvPr/>
        </p:nvSpPr>
        <p:spPr bwMode="auto">
          <a:xfrm>
            <a:off x="770647" y="5789479"/>
            <a:ext cx="3496553" cy="323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358" tIns="45678" rIns="91358" bIns="45678">
            <a:spAutoFit/>
          </a:bodyPr>
          <a:lstStyle/>
          <a:p>
            <a:pPr algn="ctr" eaLnBrk="1" hangingPunct="1">
              <a:spcBef>
                <a:spcPct val="50000"/>
              </a:spcBef>
            </a:pPr>
            <a:r>
              <a:rPr lang="en-US" sz="1500" i="1"/>
              <a:t>All of this happens 5x / day</a:t>
            </a:r>
          </a:p>
        </p:txBody>
      </p:sp>
    </p:spTree>
    <p:extLst>
      <p:ext uri="{BB962C8B-B14F-4D97-AF65-F5344CB8AC3E}">
        <p14:creationId xmlns:p14="http://schemas.microsoft.com/office/powerpoint/2010/main" val="3353328018"/>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Capacity Allocation Scheduling</a:t>
            </a:r>
          </a:p>
        </p:txBody>
      </p:sp>
      <p:sp>
        <p:nvSpPr>
          <p:cNvPr id="3" name="Content Placeholder 2"/>
          <p:cNvSpPr>
            <a:spLocks noGrp="1"/>
          </p:cNvSpPr>
          <p:nvPr>
            <p:ph idx="1"/>
          </p:nvPr>
        </p:nvSpPr>
        <p:spPr/>
        <p:txBody>
          <a:bodyPr>
            <a:normAutofit/>
          </a:bodyPr>
          <a:lstStyle/>
          <a:p>
            <a:r>
              <a:rPr lang="en-US"/>
              <a:t>What is it?</a:t>
            </a:r>
          </a:p>
          <a:p>
            <a:pPr lvl="4"/>
            <a:endParaRPr lang="en-US"/>
          </a:p>
          <a:p>
            <a:pPr lvl="4"/>
            <a:endParaRPr lang="en-US"/>
          </a:p>
          <a:p>
            <a:pPr lvl="4"/>
            <a:endParaRPr lang="en-US"/>
          </a:p>
          <a:p>
            <a:pPr lvl="4"/>
            <a:endParaRPr lang="en-US"/>
          </a:p>
          <a:p>
            <a:pPr lvl="4"/>
            <a:endParaRPr lang="en-US"/>
          </a:p>
          <a:p>
            <a:pPr lvl="4"/>
            <a:endParaRPr lang="en-US"/>
          </a:p>
          <a:p>
            <a:pPr lvl="4"/>
            <a:endParaRPr lang="en-US"/>
          </a:p>
          <a:p>
            <a:pPr lvl="1"/>
            <a:r>
              <a:rPr lang="en-US"/>
              <a:t>Some nominations need to get cut since they obviously won’t all fit</a:t>
            </a:r>
          </a:p>
          <a:p>
            <a:pPr lvl="4"/>
            <a:endParaRPr lang="en-US"/>
          </a:p>
          <a:p>
            <a:r>
              <a:rPr lang="en-US"/>
              <a:t>Who uses it?</a:t>
            </a:r>
          </a:p>
          <a:p>
            <a:pPr lvl="1"/>
            <a:r>
              <a:rPr lang="en-US"/>
              <a:t>Internal schedulers monitor capacity vs. scheduled quantity for each cycle</a:t>
            </a:r>
          </a:p>
          <a:p>
            <a:pPr lvl="1"/>
            <a:endParaRPr lang="en-US"/>
          </a:p>
        </p:txBody>
      </p:sp>
      <p:sp>
        <p:nvSpPr>
          <p:cNvPr id="4" name="Can 3"/>
          <p:cNvSpPr/>
          <p:nvPr/>
        </p:nvSpPr>
        <p:spPr bwMode="auto">
          <a:xfrm rot="5400000">
            <a:off x="1838667" y="743530"/>
            <a:ext cx="894665" cy="3048000"/>
          </a:xfrm>
          <a:prstGeom prst="can">
            <a:avLst/>
          </a:prstGeom>
          <a:solidFill>
            <a:srgbClr val="FFC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6" name="TextBox 5"/>
          <p:cNvSpPr txBox="1"/>
          <p:nvPr/>
        </p:nvSpPr>
        <p:spPr>
          <a:xfrm>
            <a:off x="4381500" y="1828800"/>
            <a:ext cx="1562100" cy="923330"/>
          </a:xfrm>
          <a:prstGeom prst="rect">
            <a:avLst/>
          </a:prstGeom>
          <a:noFill/>
        </p:spPr>
        <p:txBody>
          <a:bodyPr wrap="square" rtlCol="0">
            <a:spAutoFit/>
          </a:bodyPr>
          <a:lstStyle/>
          <a:p>
            <a:r>
              <a:rPr lang="en-US"/>
              <a:t>Pipe can hold this much gas</a:t>
            </a:r>
          </a:p>
        </p:txBody>
      </p:sp>
      <p:sp>
        <p:nvSpPr>
          <p:cNvPr id="8" name="TextBox 7"/>
          <p:cNvSpPr txBox="1"/>
          <p:nvPr/>
        </p:nvSpPr>
        <p:spPr>
          <a:xfrm>
            <a:off x="6743700" y="1828800"/>
            <a:ext cx="2171700" cy="923330"/>
          </a:xfrm>
          <a:prstGeom prst="rect">
            <a:avLst/>
          </a:prstGeom>
          <a:noFill/>
        </p:spPr>
        <p:txBody>
          <a:bodyPr wrap="square" rtlCol="0">
            <a:spAutoFit/>
          </a:bodyPr>
          <a:lstStyle/>
          <a:p>
            <a:r>
              <a:rPr lang="en-US"/>
              <a:t>TSP has “orders” (nominations) for this much</a:t>
            </a:r>
          </a:p>
        </p:txBody>
      </p:sp>
      <p:cxnSp>
        <p:nvCxnSpPr>
          <p:cNvPr id="10" name="Straight Arrow Connector 9"/>
          <p:cNvCxnSpPr/>
          <p:nvPr/>
        </p:nvCxnSpPr>
        <p:spPr bwMode="auto">
          <a:xfrm>
            <a:off x="4267200" y="1828800"/>
            <a:ext cx="0" cy="886063"/>
          </a:xfrm>
          <a:prstGeom prst="straightConnector1">
            <a:avLst/>
          </a:prstGeom>
          <a:solidFill>
            <a:schemeClr val="accent1"/>
          </a:solidFill>
          <a:ln w="25400" cap="flat" cmpd="sng" algn="ctr">
            <a:solidFill>
              <a:schemeClr val="tx1"/>
            </a:solidFill>
            <a:prstDash val="solid"/>
            <a:round/>
            <a:headEnd type="arrow"/>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Straight Connector 11"/>
          <p:cNvCxnSpPr/>
          <p:nvPr/>
        </p:nvCxnSpPr>
        <p:spPr bwMode="auto">
          <a:xfrm>
            <a:off x="3581400" y="1820197"/>
            <a:ext cx="5334000" cy="0"/>
          </a:xfrm>
          <a:prstGeom prst="line">
            <a:avLst/>
          </a:prstGeom>
          <a:solidFill>
            <a:schemeClr val="accent1"/>
          </a:solidFill>
          <a:ln w="952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Straight Connector 12"/>
          <p:cNvCxnSpPr/>
          <p:nvPr/>
        </p:nvCxnSpPr>
        <p:spPr bwMode="auto">
          <a:xfrm>
            <a:off x="3581400" y="2713704"/>
            <a:ext cx="5334000" cy="0"/>
          </a:xfrm>
          <a:prstGeom prst="line">
            <a:avLst/>
          </a:prstGeom>
          <a:solidFill>
            <a:schemeClr val="accent1"/>
          </a:solidFill>
          <a:ln w="952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Straight Arrow Connector 13"/>
          <p:cNvCxnSpPr/>
          <p:nvPr/>
        </p:nvCxnSpPr>
        <p:spPr bwMode="auto">
          <a:xfrm>
            <a:off x="6629400" y="1219200"/>
            <a:ext cx="0" cy="1495663"/>
          </a:xfrm>
          <a:prstGeom prst="straightConnector1">
            <a:avLst/>
          </a:prstGeom>
          <a:solidFill>
            <a:schemeClr val="accent1"/>
          </a:solidFill>
          <a:ln w="25400" cap="flat" cmpd="sng" algn="ctr">
            <a:solidFill>
              <a:schemeClr val="tx1"/>
            </a:solidFill>
            <a:prstDash val="solid"/>
            <a:round/>
            <a:headEnd type="arrow"/>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7761055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Text Box 2"/>
          <p:cNvSpPr txBox="1">
            <a:spLocks noChangeArrowheads="1"/>
          </p:cNvSpPr>
          <p:nvPr/>
        </p:nvSpPr>
        <p:spPr bwMode="auto">
          <a:xfrm>
            <a:off x="6994526" y="5548312"/>
            <a:ext cx="2530475" cy="627700"/>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358" tIns="45678" rIns="91358" bIns="45678">
            <a:spAutoFit/>
          </a:bodyPr>
          <a:lstStyle/>
          <a:p>
            <a:pPr algn="ctr" eaLnBrk="1" hangingPunct="1"/>
            <a:endParaRPr lang="en-US" sz="3400"/>
          </a:p>
        </p:txBody>
      </p:sp>
      <p:sp>
        <p:nvSpPr>
          <p:cNvPr id="357461" name="Rectangle 85"/>
          <p:cNvSpPr>
            <a:spLocks noGrp="1" noChangeArrowheads="1"/>
          </p:cNvSpPr>
          <p:nvPr>
            <p:ph type="title"/>
          </p:nvPr>
        </p:nvSpPr>
        <p:spPr>
          <a:noFill/>
          <a:ln/>
        </p:spPr>
        <p:txBody>
          <a:bodyPr/>
          <a:lstStyle/>
          <a:p>
            <a:r>
              <a:rPr lang="en-US"/>
              <a:t>QPTM System Flow</a:t>
            </a:r>
          </a:p>
        </p:txBody>
      </p:sp>
      <p:sp>
        <p:nvSpPr>
          <p:cNvPr id="54" name="Text Box 14"/>
          <p:cNvSpPr txBox="1">
            <a:spLocks noChangeArrowheads="1"/>
          </p:cNvSpPr>
          <p:nvPr/>
        </p:nvSpPr>
        <p:spPr bwMode="auto">
          <a:xfrm>
            <a:off x="457381" y="1337735"/>
            <a:ext cx="8229420" cy="646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358" tIns="45678" rIns="91358" bIns="45678">
            <a:spAutoFit/>
          </a:bodyPr>
          <a:lstStyle/>
          <a:p>
            <a:pPr algn="ctr" eaLnBrk="1" hangingPunct="1">
              <a:spcBef>
                <a:spcPct val="50000"/>
              </a:spcBef>
            </a:pPr>
            <a:r>
              <a:rPr lang="en-US" sz="1500" b="1">
                <a:effectLst>
                  <a:outerShdw blurRad="38100" dist="38100" dir="2700000" algn="tl">
                    <a:srgbClr val="C0C0C0"/>
                  </a:outerShdw>
                </a:effectLst>
              </a:rPr>
              <a:t>Master Data</a:t>
            </a:r>
          </a:p>
          <a:p>
            <a:pPr algn="ctr" eaLnBrk="1" hangingPunct="1">
              <a:spcBef>
                <a:spcPct val="50000"/>
              </a:spcBef>
            </a:pPr>
            <a:r>
              <a:rPr lang="en-US" sz="1400"/>
              <a:t>Contracts, Rates, Business Associates, Locations</a:t>
            </a:r>
          </a:p>
        </p:txBody>
      </p:sp>
      <p:sp>
        <p:nvSpPr>
          <p:cNvPr id="57" name="AutoShape 21"/>
          <p:cNvSpPr>
            <a:spLocks noChangeArrowheads="1"/>
          </p:cNvSpPr>
          <p:nvPr/>
        </p:nvSpPr>
        <p:spPr bwMode="auto">
          <a:xfrm>
            <a:off x="457380" y="1337736"/>
            <a:ext cx="8229420" cy="646246"/>
          </a:xfrm>
          <a:prstGeom prst="roundRect">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3" tIns="45717" rIns="91433" bIns="45717" anchor="ctr"/>
          <a:lstStyle/>
          <a:p>
            <a:endParaRPr lang="en-US"/>
          </a:p>
        </p:txBody>
      </p:sp>
      <p:cxnSp>
        <p:nvCxnSpPr>
          <p:cNvPr id="5" name="Straight Connector 4"/>
          <p:cNvCxnSpPr/>
          <p:nvPr/>
        </p:nvCxnSpPr>
        <p:spPr>
          <a:xfrm flipH="1">
            <a:off x="4530452" y="2149607"/>
            <a:ext cx="420" cy="4217326"/>
          </a:xfrm>
          <a:prstGeom prst="line">
            <a:avLst/>
          </a:prstGeom>
        </p:spPr>
        <p:style>
          <a:lnRef idx="1">
            <a:schemeClr val="accent1"/>
          </a:lnRef>
          <a:fillRef idx="0">
            <a:schemeClr val="accent1"/>
          </a:fillRef>
          <a:effectRef idx="0">
            <a:schemeClr val="accent1"/>
          </a:effectRef>
          <a:fontRef idx="minor">
            <a:schemeClr val="tx1"/>
          </a:fontRef>
        </p:style>
      </p:cxnSp>
      <p:sp>
        <p:nvSpPr>
          <p:cNvPr id="65" name="Text Box 14"/>
          <p:cNvSpPr txBox="1">
            <a:spLocks noChangeArrowheads="1"/>
          </p:cNvSpPr>
          <p:nvPr/>
        </p:nvSpPr>
        <p:spPr bwMode="auto">
          <a:xfrm>
            <a:off x="770649" y="2233852"/>
            <a:ext cx="3496553" cy="323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358" tIns="45678" rIns="91358" bIns="45678">
            <a:spAutoFit/>
          </a:bodyPr>
          <a:lstStyle/>
          <a:p>
            <a:pPr algn="ctr" eaLnBrk="1" hangingPunct="1">
              <a:spcBef>
                <a:spcPct val="50000"/>
              </a:spcBef>
            </a:pPr>
            <a:r>
              <a:rPr lang="en-US" sz="1500" b="1">
                <a:effectLst>
                  <a:outerShdw blurRad="38100" dist="38100" dir="2700000" algn="tl">
                    <a:srgbClr val="C0C0C0"/>
                  </a:outerShdw>
                </a:effectLst>
              </a:rPr>
              <a:t>Pre-Flow</a:t>
            </a:r>
          </a:p>
        </p:txBody>
      </p:sp>
      <p:sp>
        <p:nvSpPr>
          <p:cNvPr id="66" name="Text Box 14"/>
          <p:cNvSpPr txBox="1">
            <a:spLocks noChangeArrowheads="1"/>
          </p:cNvSpPr>
          <p:nvPr/>
        </p:nvSpPr>
        <p:spPr bwMode="auto">
          <a:xfrm>
            <a:off x="5843564" y="2239886"/>
            <a:ext cx="1415437" cy="323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358" tIns="45678" rIns="91358" bIns="45678">
            <a:spAutoFit/>
          </a:bodyPr>
          <a:lstStyle/>
          <a:p>
            <a:pPr algn="ctr" eaLnBrk="1" hangingPunct="1">
              <a:spcBef>
                <a:spcPct val="50000"/>
              </a:spcBef>
            </a:pPr>
            <a:r>
              <a:rPr lang="en-US" sz="1500" b="1">
                <a:effectLst>
                  <a:outerShdw blurRad="38100" dist="38100" dir="2700000" algn="tl">
                    <a:srgbClr val="C0C0C0"/>
                  </a:outerShdw>
                </a:effectLst>
              </a:rPr>
              <a:t>Post-Flow</a:t>
            </a:r>
          </a:p>
        </p:txBody>
      </p:sp>
      <p:sp>
        <p:nvSpPr>
          <p:cNvPr id="67" name="AutoShape 32"/>
          <p:cNvSpPr>
            <a:spLocks noChangeArrowheads="1"/>
          </p:cNvSpPr>
          <p:nvPr/>
        </p:nvSpPr>
        <p:spPr bwMode="auto">
          <a:xfrm>
            <a:off x="770649" y="2715817"/>
            <a:ext cx="3496553" cy="705241"/>
          </a:xfrm>
          <a:prstGeom prst="roundRect">
            <a:avLst>
              <a:gd name="adj" fmla="val 16667"/>
            </a:avLst>
          </a:prstGeom>
          <a:gradFill rotWithShape="1">
            <a:gsLst>
              <a:gs pos="0">
                <a:srgbClr val="33CC33"/>
              </a:gs>
              <a:gs pos="50000">
                <a:srgbClr val="33CC33">
                  <a:gamma/>
                  <a:shade val="76078"/>
                  <a:invGamma/>
                </a:srgbClr>
              </a:gs>
              <a:gs pos="100000">
                <a:srgbClr val="33CC33"/>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p>
            <a:pPr algn="ctr"/>
            <a:r>
              <a:rPr lang="en-US" sz="1200" b="1">
                <a:solidFill>
                  <a:schemeClr val="bg1"/>
                </a:solidFill>
              </a:rPr>
              <a:t>Nominations</a:t>
            </a:r>
          </a:p>
          <a:p>
            <a:pPr algn="ctr"/>
            <a:r>
              <a:rPr lang="en-US" sz="1200">
                <a:solidFill>
                  <a:schemeClr val="bg1"/>
                </a:solidFill>
              </a:rPr>
              <a:t>Shipper (external) requesting when, where and how much gas they want to move</a:t>
            </a:r>
          </a:p>
        </p:txBody>
      </p:sp>
      <p:sp>
        <p:nvSpPr>
          <p:cNvPr id="68" name="AutoShape 25"/>
          <p:cNvSpPr>
            <a:spLocks noChangeArrowheads="1"/>
          </p:cNvSpPr>
          <p:nvPr/>
        </p:nvSpPr>
        <p:spPr bwMode="auto">
          <a:xfrm>
            <a:off x="770649" y="3740371"/>
            <a:ext cx="3496553" cy="705241"/>
          </a:xfrm>
          <a:prstGeom prst="roundRect">
            <a:avLst>
              <a:gd name="adj" fmla="val 16667"/>
            </a:avLst>
          </a:prstGeom>
          <a:gradFill rotWithShape="1">
            <a:gsLst>
              <a:gs pos="0">
                <a:srgbClr val="33CC33"/>
              </a:gs>
              <a:gs pos="50000">
                <a:srgbClr val="33CC33">
                  <a:gamma/>
                  <a:shade val="76078"/>
                  <a:invGamma/>
                </a:srgbClr>
              </a:gs>
              <a:gs pos="100000">
                <a:srgbClr val="33CC33"/>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p>
            <a:pPr algn="ctr"/>
            <a:r>
              <a:rPr lang="en-US" sz="1200" b="1">
                <a:solidFill>
                  <a:schemeClr val="bg1"/>
                </a:solidFill>
              </a:rPr>
              <a:t>Confirmations</a:t>
            </a:r>
          </a:p>
          <a:p>
            <a:pPr algn="ctr"/>
            <a:r>
              <a:rPr lang="en-US" sz="1200">
                <a:solidFill>
                  <a:schemeClr val="bg1"/>
                </a:solidFill>
              </a:rPr>
              <a:t>Interconnect operator (external) reconciling requests from both pipelines</a:t>
            </a:r>
          </a:p>
        </p:txBody>
      </p:sp>
      <p:sp>
        <p:nvSpPr>
          <p:cNvPr id="69" name="AutoShape 35"/>
          <p:cNvSpPr>
            <a:spLocks noChangeArrowheads="1"/>
          </p:cNvSpPr>
          <p:nvPr/>
        </p:nvSpPr>
        <p:spPr bwMode="auto">
          <a:xfrm>
            <a:off x="770648" y="4764925"/>
            <a:ext cx="3496553" cy="709577"/>
          </a:xfrm>
          <a:prstGeom prst="roundRect">
            <a:avLst>
              <a:gd name="adj" fmla="val 16667"/>
            </a:avLst>
          </a:prstGeom>
          <a:gradFill rotWithShape="1">
            <a:gsLst>
              <a:gs pos="0">
                <a:srgbClr val="33CC33"/>
              </a:gs>
              <a:gs pos="50000">
                <a:srgbClr val="33CC33">
                  <a:gamma/>
                  <a:shade val="76078"/>
                  <a:invGamma/>
                </a:srgbClr>
              </a:gs>
              <a:gs pos="100000">
                <a:srgbClr val="33CC33"/>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p>
            <a:pPr algn="ctr"/>
            <a:r>
              <a:rPr lang="en-US" sz="1200" b="1">
                <a:solidFill>
                  <a:schemeClr val="bg1"/>
                </a:solidFill>
              </a:rPr>
              <a:t>Capacity Allocations</a:t>
            </a:r>
          </a:p>
          <a:p>
            <a:pPr algn="ctr"/>
            <a:r>
              <a:rPr lang="en-US" sz="1200">
                <a:solidFill>
                  <a:schemeClr val="bg1"/>
                </a:solidFill>
              </a:rPr>
              <a:t>Pipeline operator making sure there is enough capacity and making cuts</a:t>
            </a:r>
          </a:p>
        </p:txBody>
      </p:sp>
      <p:sp>
        <p:nvSpPr>
          <p:cNvPr id="70" name="AutoShape 28"/>
          <p:cNvSpPr>
            <a:spLocks noChangeArrowheads="1"/>
          </p:cNvSpPr>
          <p:nvPr/>
        </p:nvSpPr>
        <p:spPr bwMode="auto">
          <a:xfrm>
            <a:off x="5885847" y="3530698"/>
            <a:ext cx="1329197" cy="559537"/>
          </a:xfrm>
          <a:prstGeom prst="roundRect">
            <a:avLst>
              <a:gd name="adj" fmla="val 16667"/>
            </a:avLst>
          </a:prstGeom>
          <a:gradFill rotWithShape="1">
            <a:gsLst>
              <a:gs pos="0">
                <a:srgbClr val="0000FF">
                  <a:gamma/>
                  <a:shade val="76078"/>
                  <a:invGamma/>
                </a:srgbClr>
              </a:gs>
              <a:gs pos="50000">
                <a:srgbClr val="0000FF"/>
              </a:gs>
              <a:gs pos="100000">
                <a:srgbClr val="0000FF">
                  <a:gamma/>
                  <a:shade val="76078"/>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200" b="1">
                <a:solidFill>
                  <a:schemeClr val="bg1"/>
                </a:solidFill>
              </a:rPr>
              <a:t>Allocations</a:t>
            </a:r>
          </a:p>
        </p:txBody>
      </p:sp>
      <p:sp>
        <p:nvSpPr>
          <p:cNvPr id="71" name="AutoShape 53"/>
          <p:cNvSpPr>
            <a:spLocks noChangeArrowheads="1"/>
          </p:cNvSpPr>
          <p:nvPr/>
        </p:nvSpPr>
        <p:spPr bwMode="auto">
          <a:xfrm>
            <a:off x="5885847" y="4281779"/>
            <a:ext cx="1330871" cy="559536"/>
          </a:xfrm>
          <a:prstGeom prst="roundRect">
            <a:avLst>
              <a:gd name="adj" fmla="val 16667"/>
            </a:avLst>
          </a:prstGeom>
          <a:gradFill rotWithShape="1">
            <a:gsLst>
              <a:gs pos="0">
                <a:srgbClr val="0000FF">
                  <a:gamma/>
                  <a:shade val="76078"/>
                  <a:invGamma/>
                </a:srgbClr>
              </a:gs>
              <a:gs pos="50000">
                <a:srgbClr val="0000FF"/>
              </a:gs>
              <a:gs pos="100000">
                <a:srgbClr val="0000FF">
                  <a:gamma/>
                  <a:shade val="76078"/>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200" b="1">
                <a:solidFill>
                  <a:schemeClr val="bg1"/>
                </a:solidFill>
              </a:rPr>
              <a:t>Inventory</a:t>
            </a:r>
          </a:p>
        </p:txBody>
      </p:sp>
      <p:sp>
        <p:nvSpPr>
          <p:cNvPr id="72" name="AutoShape 50"/>
          <p:cNvSpPr>
            <a:spLocks noChangeArrowheads="1"/>
          </p:cNvSpPr>
          <p:nvPr/>
        </p:nvSpPr>
        <p:spPr bwMode="auto">
          <a:xfrm>
            <a:off x="5885847" y="5057966"/>
            <a:ext cx="1330871" cy="571441"/>
          </a:xfrm>
          <a:prstGeom prst="roundRect">
            <a:avLst>
              <a:gd name="adj" fmla="val 16667"/>
            </a:avLst>
          </a:prstGeom>
          <a:gradFill rotWithShape="1">
            <a:gsLst>
              <a:gs pos="0">
                <a:srgbClr val="0000FF">
                  <a:gamma/>
                  <a:shade val="76078"/>
                  <a:invGamma/>
                </a:srgbClr>
              </a:gs>
              <a:gs pos="50000">
                <a:srgbClr val="0000FF"/>
              </a:gs>
              <a:gs pos="100000">
                <a:srgbClr val="0000FF">
                  <a:gamma/>
                  <a:shade val="76078"/>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200" b="1">
                <a:solidFill>
                  <a:schemeClr val="bg1"/>
                </a:solidFill>
              </a:rPr>
              <a:t>Invoicing</a:t>
            </a:r>
          </a:p>
        </p:txBody>
      </p:sp>
      <p:cxnSp>
        <p:nvCxnSpPr>
          <p:cNvPr id="10" name="Straight Arrow Connector 9"/>
          <p:cNvCxnSpPr>
            <a:stCxn id="67" idx="2"/>
            <a:endCxn id="68" idx="0"/>
          </p:cNvCxnSpPr>
          <p:nvPr/>
        </p:nvCxnSpPr>
        <p:spPr>
          <a:xfrm>
            <a:off x="2518926" y="3421058"/>
            <a:ext cx="0" cy="3193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stCxn id="68" idx="2"/>
            <a:endCxn id="69" idx="0"/>
          </p:cNvCxnSpPr>
          <p:nvPr/>
        </p:nvCxnSpPr>
        <p:spPr>
          <a:xfrm flipH="1">
            <a:off x="2518925" y="4445612"/>
            <a:ext cx="1" cy="3193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2" name="AutoShape 50"/>
          <p:cNvSpPr>
            <a:spLocks noChangeArrowheads="1"/>
          </p:cNvSpPr>
          <p:nvPr/>
        </p:nvSpPr>
        <p:spPr bwMode="auto">
          <a:xfrm>
            <a:off x="5885847" y="2725988"/>
            <a:ext cx="1330871" cy="559537"/>
          </a:xfrm>
          <a:prstGeom prst="roundRect">
            <a:avLst>
              <a:gd name="adj" fmla="val 16667"/>
            </a:avLst>
          </a:prstGeom>
          <a:gradFill rotWithShape="1">
            <a:gsLst>
              <a:gs pos="0">
                <a:srgbClr val="FF9933">
                  <a:gamma/>
                  <a:shade val="66275"/>
                  <a:invGamma/>
                </a:srgbClr>
              </a:gs>
              <a:gs pos="50000">
                <a:srgbClr val="FF9933"/>
              </a:gs>
              <a:gs pos="100000">
                <a:srgbClr val="FF9933">
                  <a:gamma/>
                  <a:shade val="6627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p>
            <a:pPr algn="ctr"/>
            <a:r>
              <a:rPr lang="en-US" sz="1200" b="1">
                <a:solidFill>
                  <a:schemeClr val="bg1"/>
                </a:solidFill>
              </a:rPr>
              <a:t>Measurement Interface</a:t>
            </a:r>
          </a:p>
        </p:txBody>
      </p:sp>
      <p:cxnSp>
        <p:nvCxnSpPr>
          <p:cNvPr id="83" name="Straight Arrow Connector 82"/>
          <p:cNvCxnSpPr>
            <a:stCxn id="82" idx="2"/>
            <a:endCxn id="70" idx="0"/>
          </p:cNvCxnSpPr>
          <p:nvPr/>
        </p:nvCxnSpPr>
        <p:spPr>
          <a:xfrm flipH="1">
            <a:off x="6550446" y="3285525"/>
            <a:ext cx="837" cy="2451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a:stCxn id="70" idx="2"/>
            <a:endCxn id="71" idx="0"/>
          </p:cNvCxnSpPr>
          <p:nvPr/>
        </p:nvCxnSpPr>
        <p:spPr>
          <a:xfrm>
            <a:off x="6550446" y="4090235"/>
            <a:ext cx="837" cy="1915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p:cNvCxnSpPr>
            <a:stCxn id="71" idx="2"/>
            <a:endCxn id="72" idx="0"/>
          </p:cNvCxnSpPr>
          <p:nvPr/>
        </p:nvCxnSpPr>
        <p:spPr>
          <a:xfrm>
            <a:off x="6551283" y="4841315"/>
            <a:ext cx="0" cy="2166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3" name="Text Box 14"/>
          <p:cNvSpPr txBox="1">
            <a:spLocks noChangeArrowheads="1"/>
          </p:cNvSpPr>
          <p:nvPr/>
        </p:nvSpPr>
        <p:spPr bwMode="auto">
          <a:xfrm>
            <a:off x="770647" y="5789479"/>
            <a:ext cx="3496553" cy="323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358" tIns="45678" rIns="91358" bIns="45678">
            <a:spAutoFit/>
          </a:bodyPr>
          <a:lstStyle/>
          <a:p>
            <a:pPr algn="ctr" eaLnBrk="1" hangingPunct="1">
              <a:spcBef>
                <a:spcPct val="50000"/>
              </a:spcBef>
            </a:pPr>
            <a:r>
              <a:rPr lang="en-US" sz="1500" b="1" i="1">
                <a:solidFill>
                  <a:srgbClr val="FF0000"/>
                </a:solidFill>
              </a:rPr>
              <a:t>All of this happens 5x / day</a:t>
            </a:r>
          </a:p>
        </p:txBody>
      </p:sp>
    </p:spTree>
    <p:extLst>
      <p:ext uri="{BB962C8B-B14F-4D97-AF65-F5344CB8AC3E}">
        <p14:creationId xmlns:p14="http://schemas.microsoft.com/office/powerpoint/2010/main" val="916196703"/>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Cycles</a:t>
            </a:r>
          </a:p>
        </p:txBody>
      </p:sp>
      <p:sp>
        <p:nvSpPr>
          <p:cNvPr id="3" name="Content Placeholder 2"/>
          <p:cNvSpPr>
            <a:spLocks noGrp="1"/>
          </p:cNvSpPr>
          <p:nvPr>
            <p:ph idx="1"/>
          </p:nvPr>
        </p:nvSpPr>
        <p:spPr/>
        <p:txBody>
          <a:bodyPr>
            <a:normAutofit/>
          </a:bodyPr>
          <a:lstStyle/>
          <a:p>
            <a:pPr lvl="1"/>
            <a:r>
              <a:rPr lang="en-US"/>
              <a:t>The need for gas can change throughout the day and is dynamic</a:t>
            </a:r>
          </a:p>
          <a:p>
            <a:pPr lvl="1"/>
            <a:endParaRPr lang="en-US"/>
          </a:p>
          <a:p>
            <a:pPr lvl="1"/>
            <a:r>
              <a:rPr lang="en-US"/>
              <a:t>We break the “Gas Day” up into different cycles to allow shippers to change their nominations multiple times per Gas Day</a:t>
            </a:r>
          </a:p>
          <a:p>
            <a:pPr lvl="1"/>
            <a:endParaRPr lang="en-US"/>
          </a:p>
          <a:p>
            <a:pPr lvl="1"/>
            <a:r>
              <a:rPr lang="en-US"/>
              <a:t>Having standardized cycles also allows the nationwide network of pipelines to synchronize with each other </a:t>
            </a:r>
          </a:p>
          <a:p>
            <a:pPr lvl="1"/>
            <a:endParaRPr lang="en-US"/>
          </a:p>
          <a:p>
            <a:pPr lvl="1"/>
            <a:r>
              <a:rPr lang="en-US"/>
              <a:t>The current standard gas day, as defined by NAESB 3.0, has five cycles, 2 pre-flow cycles and three Intraday</a:t>
            </a:r>
          </a:p>
        </p:txBody>
      </p:sp>
    </p:spTree>
    <p:extLst>
      <p:ext uri="{BB962C8B-B14F-4D97-AF65-F5344CB8AC3E}">
        <p14:creationId xmlns:p14="http://schemas.microsoft.com/office/powerpoint/2010/main" val="24959893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Cycles</a:t>
            </a:r>
          </a:p>
        </p:txBody>
      </p:sp>
      <p:sp>
        <p:nvSpPr>
          <p:cNvPr id="6" name="TextBox 5"/>
          <p:cNvSpPr txBox="1"/>
          <p:nvPr/>
        </p:nvSpPr>
        <p:spPr>
          <a:xfrm>
            <a:off x="533400" y="2133600"/>
            <a:ext cx="2895600" cy="2862322"/>
          </a:xfrm>
          <a:prstGeom prst="rect">
            <a:avLst/>
          </a:prstGeom>
          <a:noFill/>
        </p:spPr>
        <p:txBody>
          <a:bodyPr wrap="square" rtlCol="0">
            <a:spAutoFit/>
          </a:bodyPr>
          <a:lstStyle/>
          <a:p>
            <a:r>
              <a:rPr lang="en-US" sz="3600"/>
              <a:t>The Five Cycles of the Standard NAESB 3.0 Gas Day</a:t>
            </a:r>
          </a:p>
        </p:txBody>
      </p:sp>
      <p:pic>
        <p:nvPicPr>
          <p:cNvPr id="7" name="Picture 6"/>
          <p:cNvPicPr>
            <a:picLocks noChangeAspect="1"/>
          </p:cNvPicPr>
          <p:nvPr/>
        </p:nvPicPr>
        <p:blipFill>
          <a:blip r:embed="rId3"/>
          <a:stretch>
            <a:fillRect/>
          </a:stretch>
        </p:blipFill>
        <p:spPr>
          <a:xfrm>
            <a:off x="3886200" y="990600"/>
            <a:ext cx="3886200" cy="5426400"/>
          </a:xfrm>
          <a:prstGeom prst="rect">
            <a:avLst/>
          </a:prstGeom>
        </p:spPr>
      </p:pic>
    </p:spTree>
    <p:extLst>
      <p:ext uri="{BB962C8B-B14F-4D97-AF65-F5344CB8AC3E}">
        <p14:creationId xmlns:p14="http://schemas.microsoft.com/office/powerpoint/2010/main" val="20473842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Rectangle 103"/>
          <p:cNvSpPr/>
          <p:nvPr/>
        </p:nvSpPr>
        <p:spPr bwMode="auto">
          <a:xfrm>
            <a:off x="2523119" y="1321698"/>
            <a:ext cx="1951401" cy="357188"/>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84210" tIns="42105" rIns="84210" bIns="42105"/>
          <a:lstStyle/>
          <a:p>
            <a:pPr defTabSz="842162" fontAlgn="base">
              <a:spcBef>
                <a:spcPct val="0"/>
              </a:spcBef>
              <a:spcAft>
                <a:spcPct val="0"/>
              </a:spcAft>
              <a:defRPr/>
            </a:pPr>
            <a:endParaRPr lang="en-US" sz="900">
              <a:solidFill>
                <a:srgbClr val="20282A"/>
              </a:solidFill>
            </a:endParaRPr>
          </a:p>
        </p:txBody>
      </p:sp>
      <p:sp>
        <p:nvSpPr>
          <p:cNvPr id="98" name="Rectangle 97"/>
          <p:cNvSpPr/>
          <p:nvPr/>
        </p:nvSpPr>
        <p:spPr bwMode="auto">
          <a:xfrm>
            <a:off x="4437521" y="2090095"/>
            <a:ext cx="1714205" cy="357188"/>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84210" tIns="42105" rIns="84210" bIns="42105"/>
          <a:lstStyle/>
          <a:p>
            <a:pPr defTabSz="842162" fontAlgn="base">
              <a:spcBef>
                <a:spcPct val="0"/>
              </a:spcBef>
              <a:spcAft>
                <a:spcPct val="0"/>
              </a:spcAft>
              <a:defRPr/>
            </a:pPr>
            <a:endParaRPr lang="en-US" sz="900">
              <a:solidFill>
                <a:srgbClr val="20282A"/>
              </a:solidFill>
            </a:endParaRPr>
          </a:p>
        </p:txBody>
      </p:sp>
      <p:sp>
        <p:nvSpPr>
          <p:cNvPr id="82" name="Rectangle 81"/>
          <p:cNvSpPr/>
          <p:nvPr/>
        </p:nvSpPr>
        <p:spPr bwMode="auto">
          <a:xfrm>
            <a:off x="4881342" y="5691056"/>
            <a:ext cx="1714205" cy="357188"/>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84210" tIns="42105" rIns="84210" bIns="42105"/>
          <a:lstStyle/>
          <a:p>
            <a:pPr defTabSz="842162" fontAlgn="base">
              <a:spcBef>
                <a:spcPct val="0"/>
              </a:spcBef>
              <a:spcAft>
                <a:spcPct val="0"/>
              </a:spcAft>
              <a:defRPr/>
            </a:pPr>
            <a:endParaRPr lang="en-US" sz="900">
              <a:solidFill>
                <a:srgbClr val="20282A"/>
              </a:solidFill>
            </a:endParaRPr>
          </a:p>
        </p:txBody>
      </p:sp>
      <p:sp>
        <p:nvSpPr>
          <p:cNvPr id="81" name="Rectangle 80"/>
          <p:cNvSpPr/>
          <p:nvPr/>
        </p:nvSpPr>
        <p:spPr bwMode="auto">
          <a:xfrm>
            <a:off x="2967699" y="5029266"/>
            <a:ext cx="1714205" cy="357188"/>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84210" tIns="42105" rIns="84210" bIns="42105"/>
          <a:lstStyle/>
          <a:p>
            <a:pPr defTabSz="842162" fontAlgn="base">
              <a:spcBef>
                <a:spcPct val="0"/>
              </a:spcBef>
              <a:spcAft>
                <a:spcPct val="0"/>
              </a:spcAft>
              <a:defRPr/>
            </a:pPr>
            <a:endParaRPr lang="en-US" sz="900">
              <a:solidFill>
                <a:srgbClr val="20282A"/>
              </a:solidFill>
            </a:endParaRPr>
          </a:p>
        </p:txBody>
      </p:sp>
      <p:sp>
        <p:nvSpPr>
          <p:cNvPr id="8194" name="Title 1"/>
          <p:cNvSpPr>
            <a:spLocks noGrp="1"/>
          </p:cNvSpPr>
          <p:nvPr>
            <p:ph type="title"/>
          </p:nvPr>
        </p:nvSpPr>
        <p:spPr>
          <a:xfrm>
            <a:off x="1171864" y="75904"/>
            <a:ext cx="7895648" cy="686097"/>
          </a:xfrm>
        </p:spPr>
        <p:txBody>
          <a:bodyPr/>
          <a:lstStyle/>
          <a:p>
            <a:r>
              <a:rPr lang="en-US"/>
              <a:t>NAESB Standard Gas Day</a:t>
            </a:r>
            <a:br>
              <a:rPr lang="en-US"/>
            </a:br>
            <a:r>
              <a:rPr lang="en-US" sz="1600"/>
              <a:t>Effective April 1, 2016</a:t>
            </a:r>
          </a:p>
        </p:txBody>
      </p:sp>
      <p:sp>
        <p:nvSpPr>
          <p:cNvPr id="5" name="Right Arrow 4"/>
          <p:cNvSpPr/>
          <p:nvPr/>
        </p:nvSpPr>
        <p:spPr bwMode="auto">
          <a:xfrm>
            <a:off x="1464967" y="3063390"/>
            <a:ext cx="7481455" cy="642938"/>
          </a:xfrm>
          <a:prstGeom prst="rightArrow">
            <a:avLst>
              <a:gd name="adj1" fmla="val 50000"/>
              <a:gd name="adj2" fmla="val 112733"/>
            </a:avLst>
          </a:prstGeom>
          <a:ln>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lIns="84210" tIns="42105" rIns="84210" bIns="42105"/>
          <a:lstStyle/>
          <a:p>
            <a:pPr defTabSz="842162" fontAlgn="base">
              <a:spcBef>
                <a:spcPct val="0"/>
              </a:spcBef>
              <a:spcAft>
                <a:spcPct val="0"/>
              </a:spcAft>
              <a:defRPr/>
            </a:pPr>
            <a:endParaRPr lang="en-US">
              <a:solidFill>
                <a:srgbClr val="FFFFFF"/>
              </a:solidFill>
            </a:endParaRPr>
          </a:p>
        </p:txBody>
      </p:sp>
      <p:sp>
        <p:nvSpPr>
          <p:cNvPr id="6" name="Right Arrow 5"/>
          <p:cNvSpPr/>
          <p:nvPr/>
        </p:nvSpPr>
        <p:spPr bwMode="auto">
          <a:xfrm>
            <a:off x="7353148" y="3063390"/>
            <a:ext cx="1593273" cy="642938"/>
          </a:xfrm>
          <a:prstGeom prst="rightArrow">
            <a:avLst>
              <a:gd name="adj1" fmla="val 50000"/>
              <a:gd name="adj2" fmla="val 111491"/>
            </a:avLst>
          </a:prstGeom>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lIns="84210" tIns="42105" rIns="84210" bIns="42105"/>
          <a:lstStyle/>
          <a:p>
            <a:pPr defTabSz="842162" fontAlgn="base">
              <a:spcBef>
                <a:spcPct val="0"/>
              </a:spcBef>
              <a:spcAft>
                <a:spcPct val="0"/>
              </a:spcAft>
              <a:defRPr/>
            </a:pPr>
            <a:endParaRPr lang="en-US" sz="1600">
              <a:solidFill>
                <a:srgbClr val="20282A"/>
              </a:solidFill>
            </a:endParaRPr>
          </a:p>
        </p:txBody>
      </p:sp>
      <p:sp>
        <p:nvSpPr>
          <p:cNvPr id="8197" name="TextBox 1"/>
          <p:cNvSpPr txBox="1">
            <a:spLocks noChangeArrowheads="1"/>
          </p:cNvSpPr>
          <p:nvPr/>
        </p:nvSpPr>
        <p:spPr bwMode="auto">
          <a:xfrm>
            <a:off x="993912" y="3558988"/>
            <a:ext cx="567171" cy="230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4210" tIns="42105" rIns="84210" bIns="42105">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defTabSz="842162" fontAlgn="base">
              <a:spcBef>
                <a:spcPct val="0"/>
              </a:spcBef>
              <a:spcAft>
                <a:spcPct val="0"/>
              </a:spcAft>
            </a:pPr>
            <a:r>
              <a:rPr lang="en-US" sz="900">
                <a:solidFill>
                  <a:srgbClr val="20282A"/>
                </a:solidFill>
              </a:rPr>
              <a:t>9:00AM</a:t>
            </a:r>
          </a:p>
        </p:txBody>
      </p:sp>
      <p:sp>
        <p:nvSpPr>
          <p:cNvPr id="8198" name="TextBox 30"/>
          <p:cNvSpPr txBox="1">
            <a:spLocks noChangeArrowheads="1"/>
          </p:cNvSpPr>
          <p:nvPr/>
        </p:nvSpPr>
        <p:spPr bwMode="auto">
          <a:xfrm>
            <a:off x="7284741" y="3558988"/>
            <a:ext cx="567171" cy="230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4210" tIns="42105" rIns="84210" bIns="42105">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defTabSz="842162" fontAlgn="base">
              <a:spcBef>
                <a:spcPct val="0"/>
              </a:spcBef>
              <a:spcAft>
                <a:spcPct val="0"/>
              </a:spcAft>
            </a:pPr>
            <a:r>
              <a:rPr lang="en-US" sz="900">
                <a:solidFill>
                  <a:srgbClr val="20282A"/>
                </a:solidFill>
              </a:rPr>
              <a:t>9:00AM</a:t>
            </a:r>
          </a:p>
        </p:txBody>
      </p:sp>
      <p:cxnSp>
        <p:nvCxnSpPr>
          <p:cNvPr id="8206" name="Straight Arrow Connector 39"/>
          <p:cNvCxnSpPr>
            <a:cxnSpLocks noChangeShapeType="1"/>
          </p:cNvCxnSpPr>
          <p:nvPr/>
        </p:nvCxnSpPr>
        <p:spPr bwMode="auto">
          <a:xfrm>
            <a:off x="4039710" y="1659131"/>
            <a:ext cx="2202" cy="1494889"/>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08" name="Straight Arrow Connector 42"/>
          <p:cNvCxnSpPr>
            <a:cxnSpLocks noChangeShapeType="1"/>
          </p:cNvCxnSpPr>
          <p:nvPr/>
        </p:nvCxnSpPr>
        <p:spPr bwMode="auto">
          <a:xfrm>
            <a:off x="5493319" y="2466153"/>
            <a:ext cx="0" cy="687867"/>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09" name="Straight Arrow Connector 43"/>
          <p:cNvCxnSpPr>
            <a:cxnSpLocks noChangeShapeType="1"/>
          </p:cNvCxnSpPr>
          <p:nvPr/>
        </p:nvCxnSpPr>
        <p:spPr bwMode="auto">
          <a:xfrm>
            <a:off x="5695142" y="2452901"/>
            <a:ext cx="0" cy="701119"/>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10" name="Straight Arrow Connector 10"/>
          <p:cNvCxnSpPr>
            <a:cxnSpLocks noChangeShapeType="1"/>
          </p:cNvCxnSpPr>
          <p:nvPr/>
        </p:nvCxnSpPr>
        <p:spPr bwMode="auto">
          <a:xfrm flipH="1" flipV="1">
            <a:off x="1734918" y="3596324"/>
            <a:ext cx="1336" cy="713948"/>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11" name="Straight Arrow Connector 48"/>
          <p:cNvCxnSpPr>
            <a:cxnSpLocks noChangeShapeType="1"/>
          </p:cNvCxnSpPr>
          <p:nvPr/>
        </p:nvCxnSpPr>
        <p:spPr bwMode="auto">
          <a:xfrm flipV="1">
            <a:off x="2564412" y="3596324"/>
            <a:ext cx="0" cy="716840"/>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15" name="Straight Arrow Connector 53"/>
          <p:cNvCxnSpPr>
            <a:cxnSpLocks noChangeShapeType="1"/>
          </p:cNvCxnSpPr>
          <p:nvPr/>
        </p:nvCxnSpPr>
        <p:spPr bwMode="auto">
          <a:xfrm flipV="1">
            <a:off x="4240696" y="3583382"/>
            <a:ext cx="0" cy="1445884"/>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216" name="TextBox 15"/>
          <p:cNvSpPr txBox="1">
            <a:spLocks noChangeArrowheads="1"/>
          </p:cNvSpPr>
          <p:nvPr/>
        </p:nvSpPr>
        <p:spPr bwMode="auto">
          <a:xfrm>
            <a:off x="411785" y="1325220"/>
            <a:ext cx="896867" cy="362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4210" tIns="42105" rIns="84210" bIns="42105">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defTabSz="842162" fontAlgn="base">
              <a:spcBef>
                <a:spcPct val="0"/>
              </a:spcBef>
              <a:spcAft>
                <a:spcPct val="0"/>
              </a:spcAft>
            </a:pPr>
            <a:r>
              <a:rPr lang="en-US" b="1">
                <a:solidFill>
                  <a:srgbClr val="20282A"/>
                </a:solidFill>
              </a:rPr>
              <a:t>Timely</a:t>
            </a:r>
          </a:p>
        </p:txBody>
      </p:sp>
      <p:sp>
        <p:nvSpPr>
          <p:cNvPr id="8217" name="TextBox 56"/>
          <p:cNvSpPr txBox="1">
            <a:spLocks noChangeArrowheads="1"/>
          </p:cNvSpPr>
          <p:nvPr/>
        </p:nvSpPr>
        <p:spPr bwMode="auto">
          <a:xfrm>
            <a:off x="241852" y="2087220"/>
            <a:ext cx="1067746" cy="362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4210" tIns="42105" rIns="84210" bIns="42105">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defTabSz="842162" fontAlgn="base">
              <a:spcBef>
                <a:spcPct val="0"/>
              </a:spcBef>
              <a:spcAft>
                <a:spcPct val="0"/>
              </a:spcAft>
            </a:pPr>
            <a:r>
              <a:rPr lang="en-US" b="1">
                <a:solidFill>
                  <a:srgbClr val="20282A"/>
                </a:solidFill>
              </a:rPr>
              <a:t>Evening</a:t>
            </a:r>
          </a:p>
        </p:txBody>
      </p:sp>
      <p:sp>
        <p:nvSpPr>
          <p:cNvPr id="8218" name="TextBox 57"/>
          <p:cNvSpPr txBox="1">
            <a:spLocks noChangeArrowheads="1"/>
          </p:cNvSpPr>
          <p:nvPr/>
        </p:nvSpPr>
        <p:spPr bwMode="auto">
          <a:xfrm>
            <a:off x="-12879" y="4222762"/>
            <a:ext cx="1398147" cy="500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4210" tIns="42105" rIns="84210" bIns="42105">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defTabSz="842162" fontAlgn="base">
              <a:spcBef>
                <a:spcPct val="0"/>
              </a:spcBef>
              <a:spcAft>
                <a:spcPct val="0"/>
              </a:spcAft>
            </a:pPr>
            <a:r>
              <a:rPr lang="en-US" b="1">
                <a:solidFill>
                  <a:srgbClr val="20282A"/>
                </a:solidFill>
              </a:rPr>
              <a:t>Intraday 1</a:t>
            </a:r>
          </a:p>
          <a:p>
            <a:pPr algn="r" defTabSz="842162" fontAlgn="base">
              <a:spcBef>
                <a:spcPct val="0"/>
              </a:spcBef>
              <a:spcAft>
                <a:spcPct val="0"/>
              </a:spcAft>
            </a:pPr>
            <a:r>
              <a:rPr lang="en-US" sz="900">
                <a:solidFill>
                  <a:srgbClr val="20282A"/>
                </a:solidFill>
              </a:rPr>
              <a:t>Gas Flow Start 2:00 PM</a:t>
            </a:r>
          </a:p>
        </p:txBody>
      </p:sp>
      <p:sp>
        <p:nvSpPr>
          <p:cNvPr id="8219" name="TextBox 58"/>
          <p:cNvSpPr txBox="1">
            <a:spLocks noChangeArrowheads="1"/>
          </p:cNvSpPr>
          <p:nvPr/>
        </p:nvSpPr>
        <p:spPr bwMode="auto">
          <a:xfrm>
            <a:off x="-23958" y="4936436"/>
            <a:ext cx="1409954" cy="500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4210" tIns="42105" rIns="84210" bIns="42105">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defTabSz="842162" fontAlgn="base">
              <a:spcBef>
                <a:spcPct val="0"/>
              </a:spcBef>
              <a:spcAft>
                <a:spcPct val="0"/>
              </a:spcAft>
            </a:pPr>
            <a:r>
              <a:rPr lang="en-US" b="1">
                <a:solidFill>
                  <a:srgbClr val="20282A"/>
                </a:solidFill>
              </a:rPr>
              <a:t>Intraday 2</a:t>
            </a:r>
          </a:p>
          <a:p>
            <a:pPr algn="r" defTabSz="842162" fontAlgn="base">
              <a:spcBef>
                <a:spcPct val="0"/>
              </a:spcBef>
              <a:spcAft>
                <a:spcPct val="0"/>
              </a:spcAft>
            </a:pPr>
            <a:r>
              <a:rPr lang="en-US" sz="900">
                <a:solidFill>
                  <a:srgbClr val="20282A"/>
                </a:solidFill>
              </a:rPr>
              <a:t>Gas Flow Start 6:00 PM</a:t>
            </a:r>
          </a:p>
        </p:txBody>
      </p:sp>
      <p:sp>
        <p:nvSpPr>
          <p:cNvPr id="8222" name="Rectangle 1"/>
          <p:cNvSpPr>
            <a:spLocks noChangeArrowheads="1"/>
          </p:cNvSpPr>
          <p:nvPr/>
        </p:nvSpPr>
        <p:spPr bwMode="auto">
          <a:xfrm>
            <a:off x="1395694" y="1071564"/>
            <a:ext cx="6442364" cy="1671636"/>
          </a:xfrm>
          <a:prstGeom prst="rect">
            <a:avLst/>
          </a:prstGeom>
          <a:noFill/>
          <a:ln w="9525" algn="ctr">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lIns="84210" tIns="42105" rIns="84210" bIns="42105"/>
          <a:lstStyle/>
          <a:p>
            <a:pPr defTabSz="842162" fontAlgn="base">
              <a:spcBef>
                <a:spcPct val="0"/>
              </a:spcBef>
              <a:spcAft>
                <a:spcPct val="0"/>
              </a:spcAft>
            </a:pPr>
            <a:endParaRPr lang="en-US">
              <a:solidFill>
                <a:srgbClr val="20282A"/>
              </a:solidFill>
            </a:endParaRPr>
          </a:p>
        </p:txBody>
      </p:sp>
      <p:sp>
        <p:nvSpPr>
          <p:cNvPr id="8223" name="TextBox 3"/>
          <p:cNvSpPr txBox="1">
            <a:spLocks noChangeArrowheads="1"/>
          </p:cNvSpPr>
          <p:nvPr/>
        </p:nvSpPr>
        <p:spPr bwMode="auto">
          <a:xfrm>
            <a:off x="7036905" y="1208619"/>
            <a:ext cx="1995054" cy="1362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4210" tIns="42105" rIns="84210" bIns="42105">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defTabSz="842162" fontAlgn="base">
              <a:spcBef>
                <a:spcPct val="0"/>
              </a:spcBef>
              <a:spcAft>
                <a:spcPct val="0"/>
              </a:spcAft>
            </a:pPr>
            <a:r>
              <a:rPr lang="en-US">
                <a:solidFill>
                  <a:srgbClr val="20282A"/>
                </a:solidFill>
              </a:rPr>
              <a:t>Deadlines for </a:t>
            </a:r>
            <a:r>
              <a:rPr lang="en-US" b="1" u="sng">
                <a:solidFill>
                  <a:srgbClr val="20282A"/>
                </a:solidFill>
              </a:rPr>
              <a:t>next</a:t>
            </a:r>
            <a:r>
              <a:rPr lang="en-US">
                <a:solidFill>
                  <a:srgbClr val="20282A"/>
                </a:solidFill>
              </a:rPr>
              <a:t> gas day’s Timely and Evening cycles</a:t>
            </a:r>
          </a:p>
          <a:p>
            <a:pPr defTabSz="842162" fontAlgn="base">
              <a:spcBef>
                <a:spcPct val="0"/>
              </a:spcBef>
              <a:spcAft>
                <a:spcPct val="0"/>
              </a:spcAft>
            </a:pPr>
            <a:r>
              <a:rPr lang="en-US" sz="1100">
                <a:solidFill>
                  <a:srgbClr val="20282A"/>
                </a:solidFill>
              </a:rPr>
              <a:t>(Gas Day Relation = -1)</a:t>
            </a:r>
          </a:p>
        </p:txBody>
      </p:sp>
      <p:sp>
        <p:nvSpPr>
          <p:cNvPr id="8224" name="Rectangle 32"/>
          <p:cNvSpPr>
            <a:spLocks noChangeArrowheads="1"/>
          </p:cNvSpPr>
          <p:nvPr/>
        </p:nvSpPr>
        <p:spPr bwMode="auto">
          <a:xfrm>
            <a:off x="1395694" y="4026309"/>
            <a:ext cx="6452466" cy="2175708"/>
          </a:xfrm>
          <a:prstGeom prst="rect">
            <a:avLst/>
          </a:prstGeom>
          <a:noFill/>
          <a:ln w="9525" algn="ctr">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lIns="84210" tIns="42105" rIns="84210" bIns="42105"/>
          <a:lstStyle/>
          <a:p>
            <a:pPr defTabSz="842162" fontAlgn="base">
              <a:spcBef>
                <a:spcPct val="0"/>
              </a:spcBef>
              <a:spcAft>
                <a:spcPct val="0"/>
              </a:spcAft>
            </a:pPr>
            <a:endParaRPr lang="en-US">
              <a:solidFill>
                <a:srgbClr val="20282A"/>
              </a:solidFill>
            </a:endParaRPr>
          </a:p>
        </p:txBody>
      </p:sp>
      <p:sp>
        <p:nvSpPr>
          <p:cNvPr id="8225" name="TextBox 34"/>
          <p:cNvSpPr txBox="1">
            <a:spLocks noChangeArrowheads="1"/>
          </p:cNvSpPr>
          <p:nvPr/>
        </p:nvSpPr>
        <p:spPr bwMode="auto">
          <a:xfrm>
            <a:off x="6954141" y="4335906"/>
            <a:ext cx="2104321" cy="1362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4210" tIns="42105" rIns="84210" bIns="42105">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defTabSz="842162" fontAlgn="base">
              <a:spcBef>
                <a:spcPct val="0"/>
              </a:spcBef>
              <a:spcAft>
                <a:spcPct val="0"/>
              </a:spcAft>
            </a:pPr>
            <a:r>
              <a:rPr lang="en-US">
                <a:solidFill>
                  <a:srgbClr val="20282A"/>
                </a:solidFill>
              </a:rPr>
              <a:t>Deadlines for </a:t>
            </a:r>
            <a:r>
              <a:rPr lang="en-US" b="1" u="sng">
                <a:solidFill>
                  <a:srgbClr val="20282A"/>
                </a:solidFill>
              </a:rPr>
              <a:t>current</a:t>
            </a:r>
            <a:r>
              <a:rPr lang="en-US" b="1">
                <a:solidFill>
                  <a:srgbClr val="20282A"/>
                </a:solidFill>
              </a:rPr>
              <a:t> </a:t>
            </a:r>
            <a:r>
              <a:rPr lang="en-US">
                <a:solidFill>
                  <a:srgbClr val="20282A"/>
                </a:solidFill>
              </a:rPr>
              <a:t>gas day’s ID1, ID2, and ID3 cycles</a:t>
            </a:r>
          </a:p>
          <a:p>
            <a:pPr defTabSz="842162" fontAlgn="base">
              <a:spcBef>
                <a:spcPct val="0"/>
              </a:spcBef>
              <a:spcAft>
                <a:spcPct val="0"/>
              </a:spcAft>
            </a:pPr>
            <a:r>
              <a:rPr lang="en-US" sz="1100">
                <a:solidFill>
                  <a:srgbClr val="20282A"/>
                </a:solidFill>
              </a:rPr>
              <a:t>(Gas Day Relation = 0)</a:t>
            </a:r>
          </a:p>
        </p:txBody>
      </p:sp>
      <p:sp>
        <p:nvSpPr>
          <p:cNvPr id="32" name="TextBox 58"/>
          <p:cNvSpPr txBox="1">
            <a:spLocks noChangeArrowheads="1"/>
          </p:cNvSpPr>
          <p:nvPr/>
        </p:nvSpPr>
        <p:spPr bwMode="auto">
          <a:xfrm>
            <a:off x="-103030" y="5625548"/>
            <a:ext cx="1490104" cy="500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4210" tIns="42105" rIns="84210" bIns="42105">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defTabSz="842162" fontAlgn="base">
              <a:spcBef>
                <a:spcPct val="0"/>
              </a:spcBef>
              <a:spcAft>
                <a:spcPct val="0"/>
              </a:spcAft>
            </a:pPr>
            <a:r>
              <a:rPr lang="en-US" b="1">
                <a:solidFill>
                  <a:srgbClr val="20282A"/>
                </a:solidFill>
              </a:rPr>
              <a:t>Intraday 3</a:t>
            </a:r>
          </a:p>
          <a:p>
            <a:pPr algn="r" defTabSz="842162" fontAlgn="base">
              <a:spcBef>
                <a:spcPct val="0"/>
              </a:spcBef>
              <a:spcAft>
                <a:spcPct val="0"/>
              </a:spcAft>
            </a:pPr>
            <a:r>
              <a:rPr lang="en-US" sz="900">
                <a:solidFill>
                  <a:srgbClr val="20282A"/>
                </a:solidFill>
              </a:rPr>
              <a:t>Gas Flow Start 10:00 PM</a:t>
            </a:r>
          </a:p>
        </p:txBody>
      </p:sp>
      <p:cxnSp>
        <p:nvCxnSpPr>
          <p:cNvPr id="39" name="Straight Arrow Connector 53"/>
          <p:cNvCxnSpPr>
            <a:cxnSpLocks noChangeShapeType="1"/>
          </p:cNvCxnSpPr>
          <p:nvPr/>
        </p:nvCxnSpPr>
        <p:spPr bwMode="auto">
          <a:xfrm flipV="1">
            <a:off x="5941620" y="3591723"/>
            <a:ext cx="0" cy="2099333"/>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TextBox 1"/>
          <p:cNvSpPr txBox="1"/>
          <p:nvPr/>
        </p:nvSpPr>
        <p:spPr>
          <a:xfrm>
            <a:off x="2313713" y="1325220"/>
            <a:ext cx="909995" cy="369332"/>
          </a:xfrm>
          <a:prstGeom prst="rect">
            <a:avLst/>
          </a:prstGeom>
          <a:noFill/>
        </p:spPr>
        <p:txBody>
          <a:bodyPr wrap="square" rtlCol="0">
            <a:spAutoFit/>
          </a:bodyPr>
          <a:lstStyle/>
          <a:p>
            <a:pPr algn="ctr"/>
            <a:r>
              <a:rPr lang="en-US" sz="900"/>
              <a:t>1:00 PM</a:t>
            </a:r>
          </a:p>
          <a:p>
            <a:pPr algn="ctr"/>
            <a:r>
              <a:rPr lang="en-US" sz="900" err="1"/>
              <a:t>Noms</a:t>
            </a:r>
            <a:endParaRPr lang="en-US" sz="900"/>
          </a:p>
        </p:txBody>
      </p:sp>
      <p:sp>
        <p:nvSpPr>
          <p:cNvPr id="42" name="TextBox 41"/>
          <p:cNvSpPr txBox="1"/>
          <p:nvPr/>
        </p:nvSpPr>
        <p:spPr>
          <a:xfrm>
            <a:off x="3008809" y="1325220"/>
            <a:ext cx="909995" cy="369332"/>
          </a:xfrm>
          <a:prstGeom prst="rect">
            <a:avLst/>
          </a:prstGeom>
          <a:noFill/>
        </p:spPr>
        <p:txBody>
          <a:bodyPr wrap="square" rtlCol="0">
            <a:spAutoFit/>
          </a:bodyPr>
          <a:lstStyle/>
          <a:p>
            <a:pPr algn="r"/>
            <a:r>
              <a:rPr lang="en-US" sz="900"/>
              <a:t>4:30 PM</a:t>
            </a:r>
          </a:p>
          <a:p>
            <a:pPr algn="r"/>
            <a:r>
              <a:rPr lang="en-US" sz="900" err="1"/>
              <a:t>Confs</a:t>
            </a:r>
            <a:endParaRPr lang="en-US" sz="900"/>
          </a:p>
        </p:txBody>
      </p:sp>
      <p:sp>
        <p:nvSpPr>
          <p:cNvPr id="43" name="TextBox 42"/>
          <p:cNvSpPr txBox="1"/>
          <p:nvPr/>
        </p:nvSpPr>
        <p:spPr>
          <a:xfrm>
            <a:off x="3916012" y="1325220"/>
            <a:ext cx="909995" cy="369332"/>
          </a:xfrm>
          <a:prstGeom prst="rect">
            <a:avLst/>
          </a:prstGeom>
          <a:noFill/>
        </p:spPr>
        <p:txBody>
          <a:bodyPr wrap="square" rtlCol="0">
            <a:spAutoFit/>
          </a:bodyPr>
          <a:lstStyle/>
          <a:p>
            <a:r>
              <a:rPr lang="en-US" sz="900"/>
              <a:t>5:00 PM</a:t>
            </a:r>
          </a:p>
          <a:p>
            <a:r>
              <a:rPr lang="en-US" sz="900" err="1"/>
              <a:t>Sched</a:t>
            </a:r>
            <a:endParaRPr lang="en-US" sz="900"/>
          </a:p>
        </p:txBody>
      </p:sp>
      <p:sp>
        <p:nvSpPr>
          <p:cNvPr id="50" name="TextBox 49"/>
          <p:cNvSpPr txBox="1"/>
          <p:nvPr/>
        </p:nvSpPr>
        <p:spPr>
          <a:xfrm>
            <a:off x="2785810" y="5022870"/>
            <a:ext cx="909995" cy="369332"/>
          </a:xfrm>
          <a:prstGeom prst="rect">
            <a:avLst/>
          </a:prstGeom>
          <a:noFill/>
        </p:spPr>
        <p:txBody>
          <a:bodyPr wrap="square" rtlCol="0">
            <a:spAutoFit/>
          </a:bodyPr>
          <a:lstStyle/>
          <a:p>
            <a:pPr algn="ctr"/>
            <a:r>
              <a:rPr lang="en-US" sz="900"/>
              <a:t>2:30 PM</a:t>
            </a:r>
          </a:p>
          <a:p>
            <a:pPr algn="ctr"/>
            <a:r>
              <a:rPr lang="en-US" sz="900" err="1"/>
              <a:t>Noms</a:t>
            </a:r>
            <a:endParaRPr lang="en-US" sz="900"/>
          </a:p>
        </p:txBody>
      </p:sp>
      <p:sp>
        <p:nvSpPr>
          <p:cNvPr id="51" name="TextBox 50"/>
          <p:cNvSpPr txBox="1"/>
          <p:nvPr/>
        </p:nvSpPr>
        <p:spPr>
          <a:xfrm>
            <a:off x="3276711" y="5022870"/>
            <a:ext cx="909995" cy="369332"/>
          </a:xfrm>
          <a:prstGeom prst="rect">
            <a:avLst/>
          </a:prstGeom>
          <a:noFill/>
        </p:spPr>
        <p:txBody>
          <a:bodyPr wrap="square" rtlCol="0">
            <a:spAutoFit/>
          </a:bodyPr>
          <a:lstStyle/>
          <a:p>
            <a:pPr algn="r"/>
            <a:r>
              <a:rPr lang="en-US" sz="900"/>
              <a:t>5:00 PM</a:t>
            </a:r>
          </a:p>
          <a:p>
            <a:pPr algn="r"/>
            <a:r>
              <a:rPr lang="en-US" sz="900" err="1"/>
              <a:t>Confs</a:t>
            </a:r>
            <a:endParaRPr lang="en-US" sz="900"/>
          </a:p>
        </p:txBody>
      </p:sp>
      <p:sp>
        <p:nvSpPr>
          <p:cNvPr id="52" name="TextBox 51"/>
          <p:cNvSpPr txBox="1"/>
          <p:nvPr/>
        </p:nvSpPr>
        <p:spPr>
          <a:xfrm>
            <a:off x="4132158" y="5022870"/>
            <a:ext cx="909995" cy="369332"/>
          </a:xfrm>
          <a:prstGeom prst="rect">
            <a:avLst/>
          </a:prstGeom>
          <a:noFill/>
        </p:spPr>
        <p:txBody>
          <a:bodyPr wrap="square" rtlCol="0">
            <a:spAutoFit/>
          </a:bodyPr>
          <a:lstStyle/>
          <a:p>
            <a:r>
              <a:rPr lang="en-US" sz="900"/>
              <a:t>5:30 PM</a:t>
            </a:r>
          </a:p>
          <a:p>
            <a:r>
              <a:rPr lang="en-US" sz="900" err="1"/>
              <a:t>Sched</a:t>
            </a:r>
            <a:endParaRPr lang="en-US" sz="900"/>
          </a:p>
        </p:txBody>
      </p:sp>
      <p:sp>
        <p:nvSpPr>
          <p:cNvPr id="53" name="TextBox 52"/>
          <p:cNvSpPr txBox="1"/>
          <p:nvPr/>
        </p:nvSpPr>
        <p:spPr>
          <a:xfrm>
            <a:off x="4727712" y="5678912"/>
            <a:ext cx="909995" cy="369332"/>
          </a:xfrm>
          <a:prstGeom prst="rect">
            <a:avLst/>
          </a:prstGeom>
          <a:noFill/>
        </p:spPr>
        <p:txBody>
          <a:bodyPr wrap="square" rtlCol="0">
            <a:spAutoFit/>
          </a:bodyPr>
          <a:lstStyle/>
          <a:p>
            <a:pPr algn="ctr"/>
            <a:r>
              <a:rPr lang="en-US" sz="900"/>
              <a:t>7:00 PM</a:t>
            </a:r>
          </a:p>
          <a:p>
            <a:pPr algn="ctr"/>
            <a:r>
              <a:rPr lang="en-US" sz="900" err="1"/>
              <a:t>Noms</a:t>
            </a:r>
            <a:endParaRPr lang="en-US" sz="900"/>
          </a:p>
        </p:txBody>
      </p:sp>
      <p:sp>
        <p:nvSpPr>
          <p:cNvPr id="54" name="TextBox 53"/>
          <p:cNvSpPr txBox="1"/>
          <p:nvPr/>
        </p:nvSpPr>
        <p:spPr>
          <a:xfrm>
            <a:off x="5187759" y="5678912"/>
            <a:ext cx="909995" cy="369332"/>
          </a:xfrm>
          <a:prstGeom prst="rect">
            <a:avLst/>
          </a:prstGeom>
          <a:noFill/>
        </p:spPr>
        <p:txBody>
          <a:bodyPr wrap="square" rtlCol="0">
            <a:spAutoFit/>
          </a:bodyPr>
          <a:lstStyle/>
          <a:p>
            <a:pPr algn="r"/>
            <a:r>
              <a:rPr lang="en-US" sz="900"/>
              <a:t>9:30 PM</a:t>
            </a:r>
          </a:p>
          <a:p>
            <a:pPr algn="r"/>
            <a:r>
              <a:rPr lang="en-US" sz="900" err="1"/>
              <a:t>Confs</a:t>
            </a:r>
            <a:endParaRPr lang="en-US" sz="900"/>
          </a:p>
        </p:txBody>
      </p:sp>
      <p:sp>
        <p:nvSpPr>
          <p:cNvPr id="55" name="TextBox 54"/>
          <p:cNvSpPr txBox="1"/>
          <p:nvPr/>
        </p:nvSpPr>
        <p:spPr>
          <a:xfrm>
            <a:off x="5992564" y="5678912"/>
            <a:ext cx="909995" cy="369332"/>
          </a:xfrm>
          <a:prstGeom prst="rect">
            <a:avLst/>
          </a:prstGeom>
          <a:noFill/>
        </p:spPr>
        <p:txBody>
          <a:bodyPr wrap="square" rtlCol="0">
            <a:spAutoFit/>
          </a:bodyPr>
          <a:lstStyle/>
          <a:p>
            <a:r>
              <a:rPr lang="en-US" sz="900"/>
              <a:t>10:00 PM</a:t>
            </a:r>
          </a:p>
          <a:p>
            <a:r>
              <a:rPr lang="en-US" sz="900" err="1"/>
              <a:t>Sched</a:t>
            </a:r>
            <a:endParaRPr lang="en-US" sz="900"/>
          </a:p>
        </p:txBody>
      </p:sp>
      <p:cxnSp>
        <p:nvCxnSpPr>
          <p:cNvPr id="61" name="Straight Arrow Connector 39"/>
          <p:cNvCxnSpPr>
            <a:cxnSpLocks noChangeShapeType="1"/>
          </p:cNvCxnSpPr>
          <p:nvPr/>
        </p:nvCxnSpPr>
        <p:spPr bwMode="auto">
          <a:xfrm>
            <a:off x="3770844" y="1659131"/>
            <a:ext cx="2202" cy="1494889"/>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2" name="Straight Arrow Connector 39"/>
          <p:cNvCxnSpPr>
            <a:cxnSpLocks noChangeShapeType="1"/>
          </p:cNvCxnSpPr>
          <p:nvPr/>
        </p:nvCxnSpPr>
        <p:spPr bwMode="auto">
          <a:xfrm>
            <a:off x="2772932" y="1659131"/>
            <a:ext cx="2202" cy="1494889"/>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TextBox 14"/>
          <p:cNvSpPr txBox="1"/>
          <p:nvPr/>
        </p:nvSpPr>
        <p:spPr>
          <a:xfrm>
            <a:off x="1464966" y="3167272"/>
            <a:ext cx="5888181" cy="369332"/>
          </a:xfrm>
          <a:prstGeom prst="rect">
            <a:avLst/>
          </a:prstGeom>
          <a:noFill/>
        </p:spPr>
        <p:txBody>
          <a:bodyPr wrap="square" rtlCol="0">
            <a:spAutoFit/>
          </a:bodyPr>
          <a:lstStyle/>
          <a:p>
            <a:pPr algn="ctr"/>
            <a:r>
              <a:rPr lang="en-US" b="1">
                <a:solidFill>
                  <a:schemeClr val="bg1"/>
                </a:solidFill>
              </a:rPr>
              <a:t>Gas Day 1</a:t>
            </a:r>
          </a:p>
        </p:txBody>
      </p:sp>
      <p:sp>
        <p:nvSpPr>
          <p:cNvPr id="64" name="TextBox 63"/>
          <p:cNvSpPr txBox="1"/>
          <p:nvPr/>
        </p:nvSpPr>
        <p:spPr>
          <a:xfrm>
            <a:off x="7318512" y="3172315"/>
            <a:ext cx="1323110" cy="369332"/>
          </a:xfrm>
          <a:prstGeom prst="rect">
            <a:avLst/>
          </a:prstGeom>
          <a:noFill/>
        </p:spPr>
        <p:txBody>
          <a:bodyPr wrap="square" rtlCol="0">
            <a:spAutoFit/>
          </a:bodyPr>
          <a:lstStyle/>
          <a:p>
            <a:pPr algn="ctr"/>
            <a:r>
              <a:rPr lang="en-US" b="1">
                <a:solidFill>
                  <a:schemeClr val="bg1"/>
                </a:solidFill>
              </a:rPr>
              <a:t>Gas Day 2</a:t>
            </a:r>
          </a:p>
        </p:txBody>
      </p:sp>
      <p:sp>
        <p:nvSpPr>
          <p:cNvPr id="70" name="TextBox 69"/>
          <p:cNvSpPr txBox="1"/>
          <p:nvPr/>
        </p:nvSpPr>
        <p:spPr>
          <a:xfrm>
            <a:off x="4280692" y="2096821"/>
            <a:ext cx="813218" cy="369332"/>
          </a:xfrm>
          <a:prstGeom prst="rect">
            <a:avLst/>
          </a:prstGeom>
          <a:noFill/>
        </p:spPr>
        <p:txBody>
          <a:bodyPr wrap="square" rtlCol="0">
            <a:spAutoFit/>
          </a:bodyPr>
          <a:lstStyle/>
          <a:p>
            <a:pPr algn="ctr"/>
            <a:r>
              <a:rPr lang="en-US" sz="900"/>
              <a:t>6:00 PM</a:t>
            </a:r>
          </a:p>
          <a:p>
            <a:pPr algn="ctr"/>
            <a:r>
              <a:rPr lang="en-US" sz="900" err="1"/>
              <a:t>Noms</a:t>
            </a:r>
            <a:endParaRPr lang="en-US" sz="900"/>
          </a:p>
        </p:txBody>
      </p:sp>
      <p:sp>
        <p:nvSpPr>
          <p:cNvPr id="71" name="TextBox 70"/>
          <p:cNvSpPr txBox="1"/>
          <p:nvPr/>
        </p:nvSpPr>
        <p:spPr>
          <a:xfrm>
            <a:off x="4990397" y="2083569"/>
            <a:ext cx="653162" cy="369332"/>
          </a:xfrm>
          <a:prstGeom prst="rect">
            <a:avLst/>
          </a:prstGeom>
          <a:noFill/>
        </p:spPr>
        <p:txBody>
          <a:bodyPr wrap="square" rtlCol="0">
            <a:spAutoFit/>
          </a:bodyPr>
          <a:lstStyle/>
          <a:p>
            <a:pPr algn="r"/>
            <a:r>
              <a:rPr lang="en-US" sz="900"/>
              <a:t>8:30 PM</a:t>
            </a:r>
          </a:p>
          <a:p>
            <a:pPr algn="r"/>
            <a:r>
              <a:rPr lang="en-US" sz="900" err="1"/>
              <a:t>Confs</a:t>
            </a:r>
            <a:endParaRPr lang="en-US" sz="900"/>
          </a:p>
        </p:txBody>
      </p:sp>
      <p:sp>
        <p:nvSpPr>
          <p:cNvPr id="72" name="TextBox 71"/>
          <p:cNvSpPr txBox="1"/>
          <p:nvPr/>
        </p:nvSpPr>
        <p:spPr>
          <a:xfrm>
            <a:off x="5597638" y="2083569"/>
            <a:ext cx="806498" cy="369332"/>
          </a:xfrm>
          <a:prstGeom prst="rect">
            <a:avLst/>
          </a:prstGeom>
          <a:noFill/>
        </p:spPr>
        <p:txBody>
          <a:bodyPr wrap="square" rtlCol="0">
            <a:spAutoFit/>
          </a:bodyPr>
          <a:lstStyle/>
          <a:p>
            <a:r>
              <a:rPr lang="en-US" sz="900"/>
              <a:t>9:00 PM</a:t>
            </a:r>
          </a:p>
          <a:p>
            <a:r>
              <a:rPr lang="en-US" sz="900" err="1"/>
              <a:t>Sched</a:t>
            </a:r>
            <a:endParaRPr lang="en-US" sz="900"/>
          </a:p>
        </p:txBody>
      </p:sp>
      <p:sp>
        <p:nvSpPr>
          <p:cNvPr id="74" name="Rectangle 73"/>
          <p:cNvSpPr/>
          <p:nvPr/>
        </p:nvSpPr>
        <p:spPr bwMode="auto">
          <a:xfrm>
            <a:off x="1443204" y="4313164"/>
            <a:ext cx="1714205" cy="357188"/>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84210" tIns="42105" rIns="84210" bIns="42105"/>
          <a:lstStyle/>
          <a:p>
            <a:pPr defTabSz="842162" fontAlgn="base">
              <a:spcBef>
                <a:spcPct val="0"/>
              </a:spcBef>
              <a:spcAft>
                <a:spcPct val="0"/>
              </a:spcAft>
              <a:defRPr/>
            </a:pPr>
            <a:endParaRPr lang="en-US" sz="900">
              <a:solidFill>
                <a:srgbClr val="20282A"/>
              </a:solidFill>
            </a:endParaRPr>
          </a:p>
        </p:txBody>
      </p:sp>
      <p:sp>
        <p:nvSpPr>
          <p:cNvPr id="75" name="TextBox 74"/>
          <p:cNvSpPr txBox="1"/>
          <p:nvPr/>
        </p:nvSpPr>
        <p:spPr>
          <a:xfrm>
            <a:off x="1374194" y="4310272"/>
            <a:ext cx="724119" cy="369332"/>
          </a:xfrm>
          <a:prstGeom prst="rect">
            <a:avLst/>
          </a:prstGeom>
          <a:noFill/>
        </p:spPr>
        <p:txBody>
          <a:bodyPr wrap="square" rtlCol="0">
            <a:spAutoFit/>
          </a:bodyPr>
          <a:lstStyle/>
          <a:p>
            <a:pPr algn="ctr"/>
            <a:r>
              <a:rPr lang="en-US" sz="900"/>
              <a:t>10:00 AM</a:t>
            </a:r>
          </a:p>
          <a:p>
            <a:pPr algn="ctr"/>
            <a:r>
              <a:rPr lang="en-US" sz="900" err="1"/>
              <a:t>Noms</a:t>
            </a:r>
            <a:endParaRPr lang="en-US" sz="900"/>
          </a:p>
        </p:txBody>
      </p:sp>
      <p:sp>
        <p:nvSpPr>
          <p:cNvPr id="76" name="TextBox 75"/>
          <p:cNvSpPr txBox="1"/>
          <p:nvPr/>
        </p:nvSpPr>
        <p:spPr>
          <a:xfrm>
            <a:off x="2011827" y="4310272"/>
            <a:ext cx="674019" cy="369332"/>
          </a:xfrm>
          <a:prstGeom prst="rect">
            <a:avLst/>
          </a:prstGeom>
          <a:noFill/>
        </p:spPr>
        <p:txBody>
          <a:bodyPr wrap="square" rtlCol="0">
            <a:spAutoFit/>
          </a:bodyPr>
          <a:lstStyle/>
          <a:p>
            <a:pPr algn="r"/>
            <a:r>
              <a:rPr lang="en-US" sz="900"/>
              <a:t>12:30 PM</a:t>
            </a:r>
          </a:p>
          <a:p>
            <a:pPr algn="r"/>
            <a:r>
              <a:rPr lang="en-US" sz="900" err="1"/>
              <a:t>Confs</a:t>
            </a:r>
            <a:endParaRPr lang="en-US" sz="900"/>
          </a:p>
        </p:txBody>
      </p:sp>
      <p:sp>
        <p:nvSpPr>
          <p:cNvPr id="77" name="TextBox 76"/>
          <p:cNvSpPr txBox="1"/>
          <p:nvPr/>
        </p:nvSpPr>
        <p:spPr>
          <a:xfrm>
            <a:off x="2607420" y="4310272"/>
            <a:ext cx="773093" cy="369332"/>
          </a:xfrm>
          <a:prstGeom prst="rect">
            <a:avLst/>
          </a:prstGeom>
          <a:noFill/>
        </p:spPr>
        <p:txBody>
          <a:bodyPr wrap="square" rtlCol="0">
            <a:spAutoFit/>
          </a:bodyPr>
          <a:lstStyle/>
          <a:p>
            <a:r>
              <a:rPr lang="en-US" sz="900"/>
              <a:t>1:00 PM</a:t>
            </a:r>
          </a:p>
          <a:p>
            <a:r>
              <a:rPr lang="en-US" sz="900" err="1"/>
              <a:t>Sched</a:t>
            </a:r>
            <a:endParaRPr lang="en-US" sz="900"/>
          </a:p>
        </p:txBody>
      </p:sp>
      <p:cxnSp>
        <p:nvCxnSpPr>
          <p:cNvPr id="103" name="Straight Arrow Connector 42"/>
          <p:cNvCxnSpPr>
            <a:cxnSpLocks noChangeShapeType="1"/>
          </p:cNvCxnSpPr>
          <p:nvPr/>
        </p:nvCxnSpPr>
        <p:spPr bwMode="auto">
          <a:xfrm>
            <a:off x="4696859" y="2463285"/>
            <a:ext cx="0" cy="687867"/>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8" name="Straight Arrow Connector 53"/>
          <p:cNvCxnSpPr>
            <a:cxnSpLocks noChangeShapeType="1"/>
          </p:cNvCxnSpPr>
          <p:nvPr/>
        </p:nvCxnSpPr>
        <p:spPr bwMode="auto">
          <a:xfrm flipV="1">
            <a:off x="4035292" y="3576758"/>
            <a:ext cx="0" cy="1445884"/>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9" name="Straight Arrow Connector 53"/>
          <p:cNvCxnSpPr>
            <a:cxnSpLocks noChangeShapeType="1"/>
          </p:cNvCxnSpPr>
          <p:nvPr/>
        </p:nvCxnSpPr>
        <p:spPr bwMode="auto">
          <a:xfrm flipV="1">
            <a:off x="3241820" y="3575932"/>
            <a:ext cx="0" cy="1445884"/>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0" name="Straight Arrow Connector 48"/>
          <p:cNvCxnSpPr>
            <a:cxnSpLocks noChangeShapeType="1"/>
          </p:cNvCxnSpPr>
          <p:nvPr/>
        </p:nvCxnSpPr>
        <p:spPr bwMode="auto">
          <a:xfrm flipV="1">
            <a:off x="2773962" y="3596324"/>
            <a:ext cx="0" cy="716840"/>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 name="Straight Arrow Connector 53"/>
          <p:cNvCxnSpPr>
            <a:cxnSpLocks noChangeShapeType="1"/>
          </p:cNvCxnSpPr>
          <p:nvPr/>
        </p:nvCxnSpPr>
        <p:spPr bwMode="auto">
          <a:xfrm flipV="1">
            <a:off x="5170095" y="3589353"/>
            <a:ext cx="0" cy="2099333"/>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1" name="Straight Arrow Connector 53"/>
          <p:cNvCxnSpPr>
            <a:cxnSpLocks noChangeShapeType="1"/>
          </p:cNvCxnSpPr>
          <p:nvPr/>
        </p:nvCxnSpPr>
        <p:spPr bwMode="auto">
          <a:xfrm flipV="1">
            <a:off x="6170220" y="3591723"/>
            <a:ext cx="0" cy="2099333"/>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7935439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Rectangle 103"/>
          <p:cNvSpPr/>
          <p:nvPr/>
        </p:nvSpPr>
        <p:spPr bwMode="auto">
          <a:xfrm>
            <a:off x="2523119" y="1321698"/>
            <a:ext cx="1951401" cy="357188"/>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84210" tIns="42105" rIns="84210" bIns="42105"/>
          <a:lstStyle/>
          <a:p>
            <a:pPr defTabSz="842162" fontAlgn="base">
              <a:spcBef>
                <a:spcPct val="0"/>
              </a:spcBef>
              <a:spcAft>
                <a:spcPct val="0"/>
              </a:spcAft>
              <a:defRPr/>
            </a:pPr>
            <a:endParaRPr lang="en-US" sz="900">
              <a:solidFill>
                <a:srgbClr val="20282A"/>
              </a:solidFill>
            </a:endParaRPr>
          </a:p>
        </p:txBody>
      </p:sp>
      <p:sp>
        <p:nvSpPr>
          <p:cNvPr id="98" name="Rectangle 97"/>
          <p:cNvSpPr/>
          <p:nvPr/>
        </p:nvSpPr>
        <p:spPr bwMode="auto">
          <a:xfrm>
            <a:off x="4437521" y="2090095"/>
            <a:ext cx="1714205" cy="357188"/>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84210" tIns="42105" rIns="84210" bIns="42105"/>
          <a:lstStyle/>
          <a:p>
            <a:pPr defTabSz="842162" fontAlgn="base">
              <a:spcBef>
                <a:spcPct val="0"/>
              </a:spcBef>
              <a:spcAft>
                <a:spcPct val="0"/>
              </a:spcAft>
              <a:defRPr/>
            </a:pPr>
            <a:endParaRPr lang="en-US" sz="900">
              <a:solidFill>
                <a:srgbClr val="20282A"/>
              </a:solidFill>
            </a:endParaRPr>
          </a:p>
        </p:txBody>
      </p:sp>
      <p:sp>
        <p:nvSpPr>
          <p:cNvPr id="82" name="Rectangle 81"/>
          <p:cNvSpPr/>
          <p:nvPr/>
        </p:nvSpPr>
        <p:spPr bwMode="auto">
          <a:xfrm>
            <a:off x="4881342" y="5691056"/>
            <a:ext cx="1714205" cy="357188"/>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84210" tIns="42105" rIns="84210" bIns="42105"/>
          <a:lstStyle/>
          <a:p>
            <a:pPr defTabSz="842162" fontAlgn="base">
              <a:spcBef>
                <a:spcPct val="0"/>
              </a:spcBef>
              <a:spcAft>
                <a:spcPct val="0"/>
              </a:spcAft>
              <a:defRPr/>
            </a:pPr>
            <a:endParaRPr lang="en-US" sz="900">
              <a:solidFill>
                <a:srgbClr val="20282A"/>
              </a:solidFill>
            </a:endParaRPr>
          </a:p>
        </p:txBody>
      </p:sp>
      <p:sp>
        <p:nvSpPr>
          <p:cNvPr id="81" name="Rectangle 80"/>
          <p:cNvSpPr/>
          <p:nvPr/>
        </p:nvSpPr>
        <p:spPr bwMode="auto">
          <a:xfrm>
            <a:off x="2967699" y="5029266"/>
            <a:ext cx="1714205" cy="357188"/>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84210" tIns="42105" rIns="84210" bIns="42105"/>
          <a:lstStyle/>
          <a:p>
            <a:pPr defTabSz="842162" fontAlgn="base">
              <a:spcBef>
                <a:spcPct val="0"/>
              </a:spcBef>
              <a:spcAft>
                <a:spcPct val="0"/>
              </a:spcAft>
              <a:defRPr/>
            </a:pPr>
            <a:endParaRPr lang="en-US" sz="900">
              <a:solidFill>
                <a:srgbClr val="20282A"/>
              </a:solidFill>
            </a:endParaRPr>
          </a:p>
        </p:txBody>
      </p:sp>
      <p:sp>
        <p:nvSpPr>
          <p:cNvPr id="8194" name="Title 1"/>
          <p:cNvSpPr>
            <a:spLocks noGrp="1"/>
          </p:cNvSpPr>
          <p:nvPr>
            <p:ph type="title"/>
          </p:nvPr>
        </p:nvSpPr>
        <p:spPr>
          <a:xfrm>
            <a:off x="1171864" y="75904"/>
            <a:ext cx="7895648" cy="686097"/>
          </a:xfrm>
        </p:spPr>
        <p:txBody>
          <a:bodyPr/>
          <a:lstStyle/>
          <a:p>
            <a:r>
              <a:rPr lang="en-US"/>
              <a:t>NAESB Standard Gas Day</a:t>
            </a:r>
            <a:br>
              <a:rPr lang="en-US"/>
            </a:br>
            <a:r>
              <a:rPr lang="en-US" sz="1600"/>
              <a:t>Effective April 1, 2016</a:t>
            </a:r>
          </a:p>
        </p:txBody>
      </p:sp>
      <p:sp>
        <p:nvSpPr>
          <p:cNvPr id="5" name="Right Arrow 4"/>
          <p:cNvSpPr/>
          <p:nvPr/>
        </p:nvSpPr>
        <p:spPr bwMode="auto">
          <a:xfrm>
            <a:off x="1464967" y="3063390"/>
            <a:ext cx="7481455" cy="642938"/>
          </a:xfrm>
          <a:prstGeom prst="rightArrow">
            <a:avLst>
              <a:gd name="adj1" fmla="val 50000"/>
              <a:gd name="adj2" fmla="val 112733"/>
            </a:avLst>
          </a:prstGeom>
          <a:ln>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lIns="84210" tIns="42105" rIns="84210" bIns="42105"/>
          <a:lstStyle/>
          <a:p>
            <a:pPr defTabSz="842162" fontAlgn="base">
              <a:spcBef>
                <a:spcPct val="0"/>
              </a:spcBef>
              <a:spcAft>
                <a:spcPct val="0"/>
              </a:spcAft>
              <a:defRPr/>
            </a:pPr>
            <a:endParaRPr lang="en-US">
              <a:solidFill>
                <a:srgbClr val="FFFFFF"/>
              </a:solidFill>
            </a:endParaRPr>
          </a:p>
        </p:txBody>
      </p:sp>
      <p:sp>
        <p:nvSpPr>
          <p:cNvPr id="6" name="Right Arrow 5"/>
          <p:cNvSpPr/>
          <p:nvPr/>
        </p:nvSpPr>
        <p:spPr bwMode="auto">
          <a:xfrm>
            <a:off x="7353148" y="3063390"/>
            <a:ext cx="1593273" cy="642938"/>
          </a:xfrm>
          <a:prstGeom prst="rightArrow">
            <a:avLst>
              <a:gd name="adj1" fmla="val 50000"/>
              <a:gd name="adj2" fmla="val 111491"/>
            </a:avLst>
          </a:prstGeom>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lIns="84210" tIns="42105" rIns="84210" bIns="42105"/>
          <a:lstStyle/>
          <a:p>
            <a:pPr defTabSz="842162" fontAlgn="base">
              <a:spcBef>
                <a:spcPct val="0"/>
              </a:spcBef>
              <a:spcAft>
                <a:spcPct val="0"/>
              </a:spcAft>
              <a:defRPr/>
            </a:pPr>
            <a:endParaRPr lang="en-US" sz="1600">
              <a:solidFill>
                <a:srgbClr val="20282A"/>
              </a:solidFill>
            </a:endParaRPr>
          </a:p>
        </p:txBody>
      </p:sp>
      <p:sp>
        <p:nvSpPr>
          <p:cNvPr id="8197" name="TextBox 1"/>
          <p:cNvSpPr txBox="1">
            <a:spLocks noChangeArrowheads="1"/>
          </p:cNvSpPr>
          <p:nvPr/>
        </p:nvSpPr>
        <p:spPr bwMode="auto">
          <a:xfrm>
            <a:off x="993912" y="3558988"/>
            <a:ext cx="567171" cy="230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4210" tIns="42105" rIns="84210" bIns="42105">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defTabSz="842162" fontAlgn="base">
              <a:spcBef>
                <a:spcPct val="0"/>
              </a:spcBef>
              <a:spcAft>
                <a:spcPct val="0"/>
              </a:spcAft>
            </a:pPr>
            <a:r>
              <a:rPr lang="en-US" sz="900">
                <a:solidFill>
                  <a:srgbClr val="20282A"/>
                </a:solidFill>
              </a:rPr>
              <a:t>9:00AM</a:t>
            </a:r>
          </a:p>
        </p:txBody>
      </p:sp>
      <p:sp>
        <p:nvSpPr>
          <p:cNvPr id="8198" name="TextBox 30"/>
          <p:cNvSpPr txBox="1">
            <a:spLocks noChangeArrowheads="1"/>
          </p:cNvSpPr>
          <p:nvPr/>
        </p:nvSpPr>
        <p:spPr bwMode="auto">
          <a:xfrm>
            <a:off x="7284741" y="3558988"/>
            <a:ext cx="567171" cy="230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4210" tIns="42105" rIns="84210" bIns="42105">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defTabSz="842162" fontAlgn="base">
              <a:spcBef>
                <a:spcPct val="0"/>
              </a:spcBef>
              <a:spcAft>
                <a:spcPct val="0"/>
              </a:spcAft>
            </a:pPr>
            <a:r>
              <a:rPr lang="en-US" sz="900">
                <a:solidFill>
                  <a:srgbClr val="20282A"/>
                </a:solidFill>
              </a:rPr>
              <a:t>9:00AM</a:t>
            </a:r>
          </a:p>
        </p:txBody>
      </p:sp>
      <p:cxnSp>
        <p:nvCxnSpPr>
          <p:cNvPr id="8206" name="Straight Arrow Connector 39"/>
          <p:cNvCxnSpPr>
            <a:cxnSpLocks noChangeShapeType="1"/>
          </p:cNvCxnSpPr>
          <p:nvPr/>
        </p:nvCxnSpPr>
        <p:spPr bwMode="auto">
          <a:xfrm>
            <a:off x="4039710" y="1659131"/>
            <a:ext cx="2202" cy="1494889"/>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08" name="Straight Arrow Connector 42"/>
          <p:cNvCxnSpPr>
            <a:cxnSpLocks noChangeShapeType="1"/>
          </p:cNvCxnSpPr>
          <p:nvPr/>
        </p:nvCxnSpPr>
        <p:spPr bwMode="auto">
          <a:xfrm>
            <a:off x="5493319" y="2466153"/>
            <a:ext cx="0" cy="687867"/>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09" name="Straight Arrow Connector 43"/>
          <p:cNvCxnSpPr>
            <a:cxnSpLocks noChangeShapeType="1"/>
          </p:cNvCxnSpPr>
          <p:nvPr/>
        </p:nvCxnSpPr>
        <p:spPr bwMode="auto">
          <a:xfrm>
            <a:off x="5695142" y="2452901"/>
            <a:ext cx="0" cy="701119"/>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10" name="Straight Arrow Connector 10"/>
          <p:cNvCxnSpPr>
            <a:cxnSpLocks noChangeShapeType="1"/>
          </p:cNvCxnSpPr>
          <p:nvPr/>
        </p:nvCxnSpPr>
        <p:spPr bwMode="auto">
          <a:xfrm flipH="1" flipV="1">
            <a:off x="1734918" y="3596324"/>
            <a:ext cx="1336" cy="713948"/>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11" name="Straight Arrow Connector 48"/>
          <p:cNvCxnSpPr>
            <a:cxnSpLocks noChangeShapeType="1"/>
          </p:cNvCxnSpPr>
          <p:nvPr/>
        </p:nvCxnSpPr>
        <p:spPr bwMode="auto">
          <a:xfrm flipV="1">
            <a:off x="2564412" y="3596324"/>
            <a:ext cx="0" cy="716840"/>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15" name="Straight Arrow Connector 53"/>
          <p:cNvCxnSpPr>
            <a:cxnSpLocks noChangeShapeType="1"/>
          </p:cNvCxnSpPr>
          <p:nvPr/>
        </p:nvCxnSpPr>
        <p:spPr bwMode="auto">
          <a:xfrm flipV="1">
            <a:off x="4240696" y="3583382"/>
            <a:ext cx="0" cy="1445884"/>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216" name="TextBox 15"/>
          <p:cNvSpPr txBox="1">
            <a:spLocks noChangeArrowheads="1"/>
          </p:cNvSpPr>
          <p:nvPr/>
        </p:nvSpPr>
        <p:spPr bwMode="auto">
          <a:xfrm>
            <a:off x="411785" y="1325220"/>
            <a:ext cx="896867" cy="362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4210" tIns="42105" rIns="84210" bIns="42105">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defTabSz="842162" fontAlgn="base">
              <a:spcBef>
                <a:spcPct val="0"/>
              </a:spcBef>
              <a:spcAft>
                <a:spcPct val="0"/>
              </a:spcAft>
            </a:pPr>
            <a:r>
              <a:rPr lang="en-US" b="1">
                <a:solidFill>
                  <a:srgbClr val="20282A"/>
                </a:solidFill>
              </a:rPr>
              <a:t>Timely</a:t>
            </a:r>
          </a:p>
        </p:txBody>
      </p:sp>
      <p:sp>
        <p:nvSpPr>
          <p:cNvPr id="8217" name="TextBox 56"/>
          <p:cNvSpPr txBox="1">
            <a:spLocks noChangeArrowheads="1"/>
          </p:cNvSpPr>
          <p:nvPr/>
        </p:nvSpPr>
        <p:spPr bwMode="auto">
          <a:xfrm>
            <a:off x="241852" y="2087220"/>
            <a:ext cx="1067746" cy="362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4210" tIns="42105" rIns="84210" bIns="42105">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defTabSz="842162" fontAlgn="base">
              <a:spcBef>
                <a:spcPct val="0"/>
              </a:spcBef>
              <a:spcAft>
                <a:spcPct val="0"/>
              </a:spcAft>
            </a:pPr>
            <a:r>
              <a:rPr lang="en-US" b="1">
                <a:solidFill>
                  <a:srgbClr val="20282A"/>
                </a:solidFill>
              </a:rPr>
              <a:t>Evening</a:t>
            </a:r>
          </a:p>
        </p:txBody>
      </p:sp>
      <p:sp>
        <p:nvSpPr>
          <p:cNvPr id="8218" name="TextBox 57"/>
          <p:cNvSpPr txBox="1">
            <a:spLocks noChangeArrowheads="1"/>
          </p:cNvSpPr>
          <p:nvPr/>
        </p:nvSpPr>
        <p:spPr bwMode="auto">
          <a:xfrm>
            <a:off x="-12879" y="4222762"/>
            <a:ext cx="1398147" cy="500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4210" tIns="42105" rIns="84210" bIns="42105">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defTabSz="842162" fontAlgn="base">
              <a:spcBef>
                <a:spcPct val="0"/>
              </a:spcBef>
              <a:spcAft>
                <a:spcPct val="0"/>
              </a:spcAft>
            </a:pPr>
            <a:r>
              <a:rPr lang="en-US" b="1">
                <a:solidFill>
                  <a:srgbClr val="20282A"/>
                </a:solidFill>
              </a:rPr>
              <a:t>Intraday 1</a:t>
            </a:r>
          </a:p>
          <a:p>
            <a:pPr algn="r" defTabSz="842162" fontAlgn="base">
              <a:spcBef>
                <a:spcPct val="0"/>
              </a:spcBef>
              <a:spcAft>
                <a:spcPct val="0"/>
              </a:spcAft>
            </a:pPr>
            <a:r>
              <a:rPr lang="en-US" sz="900">
                <a:solidFill>
                  <a:srgbClr val="20282A"/>
                </a:solidFill>
              </a:rPr>
              <a:t>Gas Flow Start 2:00 PM</a:t>
            </a:r>
          </a:p>
        </p:txBody>
      </p:sp>
      <p:sp>
        <p:nvSpPr>
          <p:cNvPr id="8219" name="TextBox 58"/>
          <p:cNvSpPr txBox="1">
            <a:spLocks noChangeArrowheads="1"/>
          </p:cNvSpPr>
          <p:nvPr/>
        </p:nvSpPr>
        <p:spPr bwMode="auto">
          <a:xfrm>
            <a:off x="-23958" y="4936436"/>
            <a:ext cx="1409954" cy="500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4210" tIns="42105" rIns="84210" bIns="42105">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defTabSz="842162" fontAlgn="base">
              <a:spcBef>
                <a:spcPct val="0"/>
              </a:spcBef>
              <a:spcAft>
                <a:spcPct val="0"/>
              </a:spcAft>
            </a:pPr>
            <a:r>
              <a:rPr lang="en-US" b="1">
                <a:solidFill>
                  <a:srgbClr val="20282A"/>
                </a:solidFill>
              </a:rPr>
              <a:t>Intraday 2</a:t>
            </a:r>
          </a:p>
          <a:p>
            <a:pPr algn="r" defTabSz="842162" fontAlgn="base">
              <a:spcBef>
                <a:spcPct val="0"/>
              </a:spcBef>
              <a:spcAft>
                <a:spcPct val="0"/>
              </a:spcAft>
            </a:pPr>
            <a:r>
              <a:rPr lang="en-US" sz="900">
                <a:solidFill>
                  <a:srgbClr val="20282A"/>
                </a:solidFill>
              </a:rPr>
              <a:t>Gas Flow Start 6:00 PM</a:t>
            </a:r>
          </a:p>
        </p:txBody>
      </p:sp>
      <p:sp>
        <p:nvSpPr>
          <p:cNvPr id="8222" name="Rectangle 1"/>
          <p:cNvSpPr>
            <a:spLocks noChangeArrowheads="1"/>
          </p:cNvSpPr>
          <p:nvPr/>
        </p:nvSpPr>
        <p:spPr bwMode="auto">
          <a:xfrm>
            <a:off x="1395694" y="1071564"/>
            <a:ext cx="6442364" cy="1671636"/>
          </a:xfrm>
          <a:prstGeom prst="rect">
            <a:avLst/>
          </a:prstGeom>
          <a:noFill/>
          <a:ln w="9525" algn="ctr">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lIns="84210" tIns="42105" rIns="84210" bIns="42105"/>
          <a:lstStyle/>
          <a:p>
            <a:pPr defTabSz="842162" fontAlgn="base">
              <a:spcBef>
                <a:spcPct val="0"/>
              </a:spcBef>
              <a:spcAft>
                <a:spcPct val="0"/>
              </a:spcAft>
            </a:pPr>
            <a:endParaRPr lang="en-US">
              <a:solidFill>
                <a:srgbClr val="20282A"/>
              </a:solidFill>
            </a:endParaRPr>
          </a:p>
        </p:txBody>
      </p:sp>
      <p:sp>
        <p:nvSpPr>
          <p:cNvPr id="8223" name="TextBox 3"/>
          <p:cNvSpPr txBox="1">
            <a:spLocks noChangeArrowheads="1"/>
          </p:cNvSpPr>
          <p:nvPr/>
        </p:nvSpPr>
        <p:spPr bwMode="auto">
          <a:xfrm>
            <a:off x="7036905" y="1208619"/>
            <a:ext cx="1995054" cy="1362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4210" tIns="42105" rIns="84210" bIns="42105">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defTabSz="842162" fontAlgn="base">
              <a:spcBef>
                <a:spcPct val="0"/>
              </a:spcBef>
              <a:spcAft>
                <a:spcPct val="0"/>
              </a:spcAft>
            </a:pPr>
            <a:r>
              <a:rPr lang="en-US">
                <a:solidFill>
                  <a:srgbClr val="20282A"/>
                </a:solidFill>
              </a:rPr>
              <a:t>Deadlines for </a:t>
            </a:r>
            <a:r>
              <a:rPr lang="en-US" b="1" u="sng">
                <a:solidFill>
                  <a:srgbClr val="20282A"/>
                </a:solidFill>
              </a:rPr>
              <a:t>next</a:t>
            </a:r>
            <a:r>
              <a:rPr lang="en-US">
                <a:solidFill>
                  <a:srgbClr val="20282A"/>
                </a:solidFill>
              </a:rPr>
              <a:t> gas day’s Timely and Evening cycles</a:t>
            </a:r>
          </a:p>
          <a:p>
            <a:pPr defTabSz="842162" fontAlgn="base">
              <a:spcBef>
                <a:spcPct val="0"/>
              </a:spcBef>
              <a:spcAft>
                <a:spcPct val="0"/>
              </a:spcAft>
            </a:pPr>
            <a:r>
              <a:rPr lang="en-US" sz="1100">
                <a:solidFill>
                  <a:srgbClr val="20282A"/>
                </a:solidFill>
              </a:rPr>
              <a:t>(Gas Day Relation = -1)</a:t>
            </a:r>
          </a:p>
        </p:txBody>
      </p:sp>
      <p:sp>
        <p:nvSpPr>
          <p:cNvPr id="8224" name="Rectangle 32"/>
          <p:cNvSpPr>
            <a:spLocks noChangeArrowheads="1"/>
          </p:cNvSpPr>
          <p:nvPr/>
        </p:nvSpPr>
        <p:spPr bwMode="auto">
          <a:xfrm>
            <a:off x="1395694" y="4026309"/>
            <a:ext cx="6452466" cy="2175708"/>
          </a:xfrm>
          <a:prstGeom prst="rect">
            <a:avLst/>
          </a:prstGeom>
          <a:noFill/>
          <a:ln w="9525" algn="ctr">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lIns="84210" tIns="42105" rIns="84210" bIns="42105"/>
          <a:lstStyle/>
          <a:p>
            <a:pPr defTabSz="842162" fontAlgn="base">
              <a:spcBef>
                <a:spcPct val="0"/>
              </a:spcBef>
              <a:spcAft>
                <a:spcPct val="0"/>
              </a:spcAft>
            </a:pPr>
            <a:endParaRPr lang="en-US">
              <a:solidFill>
                <a:srgbClr val="20282A"/>
              </a:solidFill>
            </a:endParaRPr>
          </a:p>
        </p:txBody>
      </p:sp>
      <p:sp>
        <p:nvSpPr>
          <p:cNvPr id="8225" name="TextBox 34"/>
          <p:cNvSpPr txBox="1">
            <a:spLocks noChangeArrowheads="1"/>
          </p:cNvSpPr>
          <p:nvPr/>
        </p:nvSpPr>
        <p:spPr bwMode="auto">
          <a:xfrm>
            <a:off x="6954141" y="4335906"/>
            <a:ext cx="2104321" cy="1362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4210" tIns="42105" rIns="84210" bIns="42105">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defTabSz="842162" fontAlgn="base">
              <a:spcBef>
                <a:spcPct val="0"/>
              </a:spcBef>
              <a:spcAft>
                <a:spcPct val="0"/>
              </a:spcAft>
            </a:pPr>
            <a:r>
              <a:rPr lang="en-US">
                <a:solidFill>
                  <a:srgbClr val="20282A"/>
                </a:solidFill>
              </a:rPr>
              <a:t>Deadlines for </a:t>
            </a:r>
            <a:r>
              <a:rPr lang="en-US" b="1" u="sng">
                <a:solidFill>
                  <a:srgbClr val="20282A"/>
                </a:solidFill>
              </a:rPr>
              <a:t>current</a:t>
            </a:r>
            <a:r>
              <a:rPr lang="en-US" b="1">
                <a:solidFill>
                  <a:srgbClr val="20282A"/>
                </a:solidFill>
              </a:rPr>
              <a:t> </a:t>
            </a:r>
            <a:r>
              <a:rPr lang="en-US">
                <a:solidFill>
                  <a:srgbClr val="20282A"/>
                </a:solidFill>
              </a:rPr>
              <a:t>gas day’s ID1, ID2, and ID3 cycles</a:t>
            </a:r>
          </a:p>
          <a:p>
            <a:pPr defTabSz="842162" fontAlgn="base">
              <a:spcBef>
                <a:spcPct val="0"/>
              </a:spcBef>
              <a:spcAft>
                <a:spcPct val="0"/>
              </a:spcAft>
            </a:pPr>
            <a:r>
              <a:rPr lang="en-US" sz="1100">
                <a:solidFill>
                  <a:srgbClr val="20282A"/>
                </a:solidFill>
              </a:rPr>
              <a:t>(Gas Day Relation = 0)</a:t>
            </a:r>
          </a:p>
        </p:txBody>
      </p:sp>
      <p:sp>
        <p:nvSpPr>
          <p:cNvPr id="32" name="TextBox 58"/>
          <p:cNvSpPr txBox="1">
            <a:spLocks noChangeArrowheads="1"/>
          </p:cNvSpPr>
          <p:nvPr/>
        </p:nvSpPr>
        <p:spPr bwMode="auto">
          <a:xfrm>
            <a:off x="-103030" y="5625548"/>
            <a:ext cx="1490104" cy="500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4210" tIns="42105" rIns="84210" bIns="42105">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defTabSz="842162" fontAlgn="base">
              <a:spcBef>
                <a:spcPct val="0"/>
              </a:spcBef>
              <a:spcAft>
                <a:spcPct val="0"/>
              </a:spcAft>
            </a:pPr>
            <a:r>
              <a:rPr lang="en-US" b="1">
                <a:solidFill>
                  <a:srgbClr val="20282A"/>
                </a:solidFill>
              </a:rPr>
              <a:t>Intraday 3</a:t>
            </a:r>
          </a:p>
          <a:p>
            <a:pPr algn="r" defTabSz="842162" fontAlgn="base">
              <a:spcBef>
                <a:spcPct val="0"/>
              </a:spcBef>
              <a:spcAft>
                <a:spcPct val="0"/>
              </a:spcAft>
            </a:pPr>
            <a:r>
              <a:rPr lang="en-US" sz="900">
                <a:solidFill>
                  <a:srgbClr val="20282A"/>
                </a:solidFill>
              </a:rPr>
              <a:t>Gas Flow Start 10:00 PM</a:t>
            </a:r>
          </a:p>
        </p:txBody>
      </p:sp>
      <p:cxnSp>
        <p:nvCxnSpPr>
          <p:cNvPr id="39" name="Straight Arrow Connector 53"/>
          <p:cNvCxnSpPr>
            <a:cxnSpLocks noChangeShapeType="1"/>
          </p:cNvCxnSpPr>
          <p:nvPr/>
        </p:nvCxnSpPr>
        <p:spPr bwMode="auto">
          <a:xfrm flipV="1">
            <a:off x="5941620" y="3591723"/>
            <a:ext cx="0" cy="2099333"/>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TextBox 1"/>
          <p:cNvSpPr txBox="1"/>
          <p:nvPr/>
        </p:nvSpPr>
        <p:spPr>
          <a:xfrm>
            <a:off x="2313713" y="1325220"/>
            <a:ext cx="909995" cy="369332"/>
          </a:xfrm>
          <a:prstGeom prst="rect">
            <a:avLst/>
          </a:prstGeom>
          <a:noFill/>
        </p:spPr>
        <p:txBody>
          <a:bodyPr wrap="square" rtlCol="0">
            <a:spAutoFit/>
          </a:bodyPr>
          <a:lstStyle/>
          <a:p>
            <a:pPr algn="ctr"/>
            <a:r>
              <a:rPr lang="en-US" sz="900"/>
              <a:t>1:00 PM</a:t>
            </a:r>
          </a:p>
          <a:p>
            <a:pPr algn="ctr"/>
            <a:r>
              <a:rPr lang="en-US" sz="900" err="1"/>
              <a:t>Noms</a:t>
            </a:r>
            <a:endParaRPr lang="en-US" sz="900"/>
          </a:p>
        </p:txBody>
      </p:sp>
      <p:sp>
        <p:nvSpPr>
          <p:cNvPr id="42" name="TextBox 41"/>
          <p:cNvSpPr txBox="1"/>
          <p:nvPr/>
        </p:nvSpPr>
        <p:spPr>
          <a:xfrm>
            <a:off x="3008809" y="1325220"/>
            <a:ext cx="909995" cy="369332"/>
          </a:xfrm>
          <a:prstGeom prst="rect">
            <a:avLst/>
          </a:prstGeom>
          <a:noFill/>
        </p:spPr>
        <p:txBody>
          <a:bodyPr wrap="square" rtlCol="0">
            <a:spAutoFit/>
          </a:bodyPr>
          <a:lstStyle/>
          <a:p>
            <a:pPr algn="r"/>
            <a:r>
              <a:rPr lang="en-US" sz="900"/>
              <a:t>4:30 PM</a:t>
            </a:r>
          </a:p>
          <a:p>
            <a:pPr algn="r"/>
            <a:r>
              <a:rPr lang="en-US" sz="900" err="1"/>
              <a:t>Confs</a:t>
            </a:r>
            <a:endParaRPr lang="en-US" sz="900"/>
          </a:p>
        </p:txBody>
      </p:sp>
      <p:sp>
        <p:nvSpPr>
          <p:cNvPr id="43" name="TextBox 42"/>
          <p:cNvSpPr txBox="1"/>
          <p:nvPr/>
        </p:nvSpPr>
        <p:spPr>
          <a:xfrm>
            <a:off x="3916012" y="1325220"/>
            <a:ext cx="909995" cy="369332"/>
          </a:xfrm>
          <a:prstGeom prst="rect">
            <a:avLst/>
          </a:prstGeom>
          <a:noFill/>
        </p:spPr>
        <p:txBody>
          <a:bodyPr wrap="square" rtlCol="0">
            <a:spAutoFit/>
          </a:bodyPr>
          <a:lstStyle/>
          <a:p>
            <a:r>
              <a:rPr lang="en-US" sz="900"/>
              <a:t>5:00 PM</a:t>
            </a:r>
          </a:p>
          <a:p>
            <a:r>
              <a:rPr lang="en-US" sz="900" err="1"/>
              <a:t>Sched</a:t>
            </a:r>
            <a:endParaRPr lang="en-US" sz="900"/>
          </a:p>
        </p:txBody>
      </p:sp>
      <p:sp>
        <p:nvSpPr>
          <p:cNvPr id="50" name="TextBox 49"/>
          <p:cNvSpPr txBox="1"/>
          <p:nvPr/>
        </p:nvSpPr>
        <p:spPr>
          <a:xfrm>
            <a:off x="2785810" y="5022870"/>
            <a:ext cx="909995" cy="369332"/>
          </a:xfrm>
          <a:prstGeom prst="rect">
            <a:avLst/>
          </a:prstGeom>
          <a:noFill/>
        </p:spPr>
        <p:txBody>
          <a:bodyPr wrap="square" rtlCol="0">
            <a:spAutoFit/>
          </a:bodyPr>
          <a:lstStyle/>
          <a:p>
            <a:pPr algn="ctr"/>
            <a:r>
              <a:rPr lang="en-US" sz="900"/>
              <a:t>2:30 PM</a:t>
            </a:r>
          </a:p>
          <a:p>
            <a:pPr algn="ctr"/>
            <a:r>
              <a:rPr lang="en-US" sz="900" err="1"/>
              <a:t>Noms</a:t>
            </a:r>
            <a:endParaRPr lang="en-US" sz="900"/>
          </a:p>
        </p:txBody>
      </p:sp>
      <p:sp>
        <p:nvSpPr>
          <p:cNvPr id="51" name="TextBox 50"/>
          <p:cNvSpPr txBox="1"/>
          <p:nvPr/>
        </p:nvSpPr>
        <p:spPr>
          <a:xfrm>
            <a:off x="3276711" y="5022870"/>
            <a:ext cx="909995" cy="369332"/>
          </a:xfrm>
          <a:prstGeom prst="rect">
            <a:avLst/>
          </a:prstGeom>
          <a:noFill/>
        </p:spPr>
        <p:txBody>
          <a:bodyPr wrap="square" rtlCol="0">
            <a:spAutoFit/>
          </a:bodyPr>
          <a:lstStyle/>
          <a:p>
            <a:pPr algn="r"/>
            <a:r>
              <a:rPr lang="en-US" sz="900"/>
              <a:t>5:00 PM</a:t>
            </a:r>
          </a:p>
          <a:p>
            <a:pPr algn="r"/>
            <a:r>
              <a:rPr lang="en-US" sz="900" err="1"/>
              <a:t>Confs</a:t>
            </a:r>
            <a:endParaRPr lang="en-US" sz="900"/>
          </a:p>
        </p:txBody>
      </p:sp>
      <p:sp>
        <p:nvSpPr>
          <p:cNvPr id="52" name="TextBox 51"/>
          <p:cNvSpPr txBox="1"/>
          <p:nvPr/>
        </p:nvSpPr>
        <p:spPr>
          <a:xfrm>
            <a:off x="4132158" y="5022870"/>
            <a:ext cx="909995" cy="369332"/>
          </a:xfrm>
          <a:prstGeom prst="rect">
            <a:avLst/>
          </a:prstGeom>
          <a:noFill/>
        </p:spPr>
        <p:txBody>
          <a:bodyPr wrap="square" rtlCol="0">
            <a:spAutoFit/>
          </a:bodyPr>
          <a:lstStyle/>
          <a:p>
            <a:r>
              <a:rPr lang="en-US" sz="900"/>
              <a:t>5:30 PM</a:t>
            </a:r>
          </a:p>
          <a:p>
            <a:r>
              <a:rPr lang="en-US" sz="900" err="1"/>
              <a:t>Sched</a:t>
            </a:r>
            <a:endParaRPr lang="en-US" sz="900"/>
          </a:p>
        </p:txBody>
      </p:sp>
      <p:sp>
        <p:nvSpPr>
          <p:cNvPr id="53" name="TextBox 52"/>
          <p:cNvSpPr txBox="1"/>
          <p:nvPr/>
        </p:nvSpPr>
        <p:spPr>
          <a:xfrm>
            <a:off x="4727712" y="5678912"/>
            <a:ext cx="909995" cy="369332"/>
          </a:xfrm>
          <a:prstGeom prst="rect">
            <a:avLst/>
          </a:prstGeom>
          <a:noFill/>
        </p:spPr>
        <p:txBody>
          <a:bodyPr wrap="square" rtlCol="0">
            <a:spAutoFit/>
          </a:bodyPr>
          <a:lstStyle/>
          <a:p>
            <a:pPr algn="ctr"/>
            <a:r>
              <a:rPr lang="en-US" sz="900"/>
              <a:t>7:00 PM</a:t>
            </a:r>
          </a:p>
          <a:p>
            <a:pPr algn="ctr"/>
            <a:r>
              <a:rPr lang="en-US" sz="900" err="1"/>
              <a:t>Noms</a:t>
            </a:r>
            <a:endParaRPr lang="en-US" sz="900"/>
          </a:p>
        </p:txBody>
      </p:sp>
      <p:sp>
        <p:nvSpPr>
          <p:cNvPr id="54" name="TextBox 53"/>
          <p:cNvSpPr txBox="1"/>
          <p:nvPr/>
        </p:nvSpPr>
        <p:spPr>
          <a:xfrm>
            <a:off x="5187759" y="5678912"/>
            <a:ext cx="909995" cy="369332"/>
          </a:xfrm>
          <a:prstGeom prst="rect">
            <a:avLst/>
          </a:prstGeom>
          <a:noFill/>
        </p:spPr>
        <p:txBody>
          <a:bodyPr wrap="square" rtlCol="0">
            <a:spAutoFit/>
          </a:bodyPr>
          <a:lstStyle/>
          <a:p>
            <a:pPr algn="r"/>
            <a:r>
              <a:rPr lang="en-US" sz="900"/>
              <a:t>9:30 PM</a:t>
            </a:r>
          </a:p>
          <a:p>
            <a:pPr algn="r"/>
            <a:r>
              <a:rPr lang="en-US" sz="900" err="1"/>
              <a:t>Confs</a:t>
            </a:r>
            <a:endParaRPr lang="en-US" sz="900"/>
          </a:p>
        </p:txBody>
      </p:sp>
      <p:sp>
        <p:nvSpPr>
          <p:cNvPr id="55" name="TextBox 54"/>
          <p:cNvSpPr txBox="1"/>
          <p:nvPr/>
        </p:nvSpPr>
        <p:spPr>
          <a:xfrm>
            <a:off x="5992564" y="5678912"/>
            <a:ext cx="909995" cy="369332"/>
          </a:xfrm>
          <a:prstGeom prst="rect">
            <a:avLst/>
          </a:prstGeom>
          <a:noFill/>
        </p:spPr>
        <p:txBody>
          <a:bodyPr wrap="square" rtlCol="0">
            <a:spAutoFit/>
          </a:bodyPr>
          <a:lstStyle/>
          <a:p>
            <a:r>
              <a:rPr lang="en-US" sz="900"/>
              <a:t>10:00 PM</a:t>
            </a:r>
          </a:p>
          <a:p>
            <a:r>
              <a:rPr lang="en-US" sz="900" err="1"/>
              <a:t>Sched</a:t>
            </a:r>
            <a:endParaRPr lang="en-US" sz="900"/>
          </a:p>
        </p:txBody>
      </p:sp>
      <p:cxnSp>
        <p:nvCxnSpPr>
          <p:cNvPr id="61" name="Straight Arrow Connector 39"/>
          <p:cNvCxnSpPr>
            <a:cxnSpLocks noChangeShapeType="1"/>
          </p:cNvCxnSpPr>
          <p:nvPr/>
        </p:nvCxnSpPr>
        <p:spPr bwMode="auto">
          <a:xfrm>
            <a:off x="3770844" y="1659131"/>
            <a:ext cx="2202" cy="1494889"/>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2" name="Straight Arrow Connector 39"/>
          <p:cNvCxnSpPr>
            <a:cxnSpLocks noChangeShapeType="1"/>
          </p:cNvCxnSpPr>
          <p:nvPr/>
        </p:nvCxnSpPr>
        <p:spPr bwMode="auto">
          <a:xfrm>
            <a:off x="2772932" y="1659131"/>
            <a:ext cx="2202" cy="1494889"/>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TextBox 14"/>
          <p:cNvSpPr txBox="1"/>
          <p:nvPr/>
        </p:nvSpPr>
        <p:spPr>
          <a:xfrm>
            <a:off x="1464966" y="3167272"/>
            <a:ext cx="5888181" cy="369332"/>
          </a:xfrm>
          <a:prstGeom prst="rect">
            <a:avLst/>
          </a:prstGeom>
          <a:noFill/>
        </p:spPr>
        <p:txBody>
          <a:bodyPr wrap="square" rtlCol="0">
            <a:spAutoFit/>
          </a:bodyPr>
          <a:lstStyle/>
          <a:p>
            <a:pPr algn="ctr"/>
            <a:r>
              <a:rPr lang="en-US" b="1">
                <a:solidFill>
                  <a:schemeClr val="bg1"/>
                </a:solidFill>
              </a:rPr>
              <a:t>Gas Day 1</a:t>
            </a:r>
          </a:p>
        </p:txBody>
      </p:sp>
      <p:sp>
        <p:nvSpPr>
          <p:cNvPr id="64" name="TextBox 63"/>
          <p:cNvSpPr txBox="1"/>
          <p:nvPr/>
        </p:nvSpPr>
        <p:spPr>
          <a:xfrm>
            <a:off x="7318512" y="3172315"/>
            <a:ext cx="1323110" cy="369332"/>
          </a:xfrm>
          <a:prstGeom prst="rect">
            <a:avLst/>
          </a:prstGeom>
          <a:noFill/>
        </p:spPr>
        <p:txBody>
          <a:bodyPr wrap="square" rtlCol="0">
            <a:spAutoFit/>
          </a:bodyPr>
          <a:lstStyle/>
          <a:p>
            <a:pPr algn="ctr"/>
            <a:r>
              <a:rPr lang="en-US" b="1">
                <a:solidFill>
                  <a:schemeClr val="bg1"/>
                </a:solidFill>
              </a:rPr>
              <a:t>Gas Day 2</a:t>
            </a:r>
          </a:p>
        </p:txBody>
      </p:sp>
      <p:sp>
        <p:nvSpPr>
          <p:cNvPr id="70" name="TextBox 69"/>
          <p:cNvSpPr txBox="1"/>
          <p:nvPr/>
        </p:nvSpPr>
        <p:spPr>
          <a:xfrm>
            <a:off x="4280692" y="2096821"/>
            <a:ext cx="813218" cy="369332"/>
          </a:xfrm>
          <a:prstGeom prst="rect">
            <a:avLst/>
          </a:prstGeom>
          <a:noFill/>
        </p:spPr>
        <p:txBody>
          <a:bodyPr wrap="square" rtlCol="0">
            <a:spAutoFit/>
          </a:bodyPr>
          <a:lstStyle/>
          <a:p>
            <a:pPr algn="ctr"/>
            <a:r>
              <a:rPr lang="en-US" sz="900"/>
              <a:t>6:00 PM</a:t>
            </a:r>
          </a:p>
          <a:p>
            <a:pPr algn="ctr"/>
            <a:r>
              <a:rPr lang="en-US" sz="900" err="1"/>
              <a:t>Noms</a:t>
            </a:r>
            <a:endParaRPr lang="en-US" sz="900"/>
          </a:p>
        </p:txBody>
      </p:sp>
      <p:sp>
        <p:nvSpPr>
          <p:cNvPr id="71" name="TextBox 70"/>
          <p:cNvSpPr txBox="1"/>
          <p:nvPr/>
        </p:nvSpPr>
        <p:spPr>
          <a:xfrm>
            <a:off x="4990397" y="2083569"/>
            <a:ext cx="653162" cy="369332"/>
          </a:xfrm>
          <a:prstGeom prst="rect">
            <a:avLst/>
          </a:prstGeom>
          <a:noFill/>
        </p:spPr>
        <p:txBody>
          <a:bodyPr wrap="square" rtlCol="0">
            <a:spAutoFit/>
          </a:bodyPr>
          <a:lstStyle/>
          <a:p>
            <a:pPr algn="r"/>
            <a:r>
              <a:rPr lang="en-US" sz="900"/>
              <a:t>8:30 PM</a:t>
            </a:r>
          </a:p>
          <a:p>
            <a:pPr algn="r"/>
            <a:r>
              <a:rPr lang="en-US" sz="900" err="1"/>
              <a:t>Confs</a:t>
            </a:r>
            <a:endParaRPr lang="en-US" sz="900"/>
          </a:p>
        </p:txBody>
      </p:sp>
      <p:sp>
        <p:nvSpPr>
          <p:cNvPr id="72" name="TextBox 71"/>
          <p:cNvSpPr txBox="1"/>
          <p:nvPr/>
        </p:nvSpPr>
        <p:spPr>
          <a:xfrm>
            <a:off x="5597638" y="2083569"/>
            <a:ext cx="806498" cy="369332"/>
          </a:xfrm>
          <a:prstGeom prst="rect">
            <a:avLst/>
          </a:prstGeom>
          <a:noFill/>
        </p:spPr>
        <p:txBody>
          <a:bodyPr wrap="square" rtlCol="0">
            <a:spAutoFit/>
          </a:bodyPr>
          <a:lstStyle/>
          <a:p>
            <a:r>
              <a:rPr lang="en-US" sz="900"/>
              <a:t>9:00 PM</a:t>
            </a:r>
          </a:p>
          <a:p>
            <a:r>
              <a:rPr lang="en-US" sz="900" err="1"/>
              <a:t>Sched</a:t>
            </a:r>
            <a:endParaRPr lang="en-US" sz="900"/>
          </a:p>
        </p:txBody>
      </p:sp>
      <p:sp>
        <p:nvSpPr>
          <p:cNvPr id="74" name="Rectangle 73"/>
          <p:cNvSpPr/>
          <p:nvPr/>
        </p:nvSpPr>
        <p:spPr bwMode="auto">
          <a:xfrm>
            <a:off x="1443204" y="4313164"/>
            <a:ext cx="1714205" cy="357188"/>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84210" tIns="42105" rIns="84210" bIns="42105"/>
          <a:lstStyle/>
          <a:p>
            <a:pPr defTabSz="842162" fontAlgn="base">
              <a:spcBef>
                <a:spcPct val="0"/>
              </a:spcBef>
              <a:spcAft>
                <a:spcPct val="0"/>
              </a:spcAft>
              <a:defRPr/>
            </a:pPr>
            <a:endParaRPr lang="en-US" sz="900">
              <a:solidFill>
                <a:srgbClr val="20282A"/>
              </a:solidFill>
            </a:endParaRPr>
          </a:p>
        </p:txBody>
      </p:sp>
      <p:sp>
        <p:nvSpPr>
          <p:cNvPr id="75" name="TextBox 74"/>
          <p:cNvSpPr txBox="1"/>
          <p:nvPr/>
        </p:nvSpPr>
        <p:spPr>
          <a:xfrm>
            <a:off x="1374194" y="4310272"/>
            <a:ext cx="724119" cy="369332"/>
          </a:xfrm>
          <a:prstGeom prst="rect">
            <a:avLst/>
          </a:prstGeom>
          <a:noFill/>
        </p:spPr>
        <p:txBody>
          <a:bodyPr wrap="square" rtlCol="0">
            <a:spAutoFit/>
          </a:bodyPr>
          <a:lstStyle/>
          <a:p>
            <a:pPr algn="ctr"/>
            <a:r>
              <a:rPr lang="en-US" sz="900"/>
              <a:t>10:00 AM</a:t>
            </a:r>
          </a:p>
          <a:p>
            <a:pPr algn="ctr"/>
            <a:r>
              <a:rPr lang="en-US" sz="900" err="1"/>
              <a:t>Noms</a:t>
            </a:r>
            <a:endParaRPr lang="en-US" sz="900"/>
          </a:p>
        </p:txBody>
      </p:sp>
      <p:sp>
        <p:nvSpPr>
          <p:cNvPr id="76" name="TextBox 75"/>
          <p:cNvSpPr txBox="1"/>
          <p:nvPr/>
        </p:nvSpPr>
        <p:spPr>
          <a:xfrm>
            <a:off x="2011827" y="4310272"/>
            <a:ext cx="674019" cy="369332"/>
          </a:xfrm>
          <a:prstGeom prst="rect">
            <a:avLst/>
          </a:prstGeom>
          <a:noFill/>
        </p:spPr>
        <p:txBody>
          <a:bodyPr wrap="square" rtlCol="0">
            <a:spAutoFit/>
          </a:bodyPr>
          <a:lstStyle/>
          <a:p>
            <a:pPr algn="r"/>
            <a:r>
              <a:rPr lang="en-US" sz="900"/>
              <a:t>12:30 PM</a:t>
            </a:r>
          </a:p>
          <a:p>
            <a:pPr algn="r"/>
            <a:r>
              <a:rPr lang="en-US" sz="900" err="1"/>
              <a:t>Confs</a:t>
            </a:r>
            <a:endParaRPr lang="en-US" sz="900"/>
          </a:p>
        </p:txBody>
      </p:sp>
      <p:sp>
        <p:nvSpPr>
          <p:cNvPr id="77" name="TextBox 76"/>
          <p:cNvSpPr txBox="1"/>
          <p:nvPr/>
        </p:nvSpPr>
        <p:spPr>
          <a:xfrm>
            <a:off x="2607420" y="4310272"/>
            <a:ext cx="773093" cy="369332"/>
          </a:xfrm>
          <a:prstGeom prst="rect">
            <a:avLst/>
          </a:prstGeom>
          <a:noFill/>
        </p:spPr>
        <p:txBody>
          <a:bodyPr wrap="square" rtlCol="0">
            <a:spAutoFit/>
          </a:bodyPr>
          <a:lstStyle/>
          <a:p>
            <a:r>
              <a:rPr lang="en-US" sz="900"/>
              <a:t>1:00 PM</a:t>
            </a:r>
          </a:p>
          <a:p>
            <a:r>
              <a:rPr lang="en-US" sz="900" err="1"/>
              <a:t>Sched</a:t>
            </a:r>
            <a:endParaRPr lang="en-US" sz="900"/>
          </a:p>
        </p:txBody>
      </p:sp>
      <p:cxnSp>
        <p:nvCxnSpPr>
          <p:cNvPr id="103" name="Straight Arrow Connector 42"/>
          <p:cNvCxnSpPr>
            <a:cxnSpLocks noChangeShapeType="1"/>
          </p:cNvCxnSpPr>
          <p:nvPr/>
        </p:nvCxnSpPr>
        <p:spPr bwMode="auto">
          <a:xfrm>
            <a:off x="4696859" y="2463285"/>
            <a:ext cx="0" cy="687867"/>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8" name="Straight Arrow Connector 53"/>
          <p:cNvCxnSpPr>
            <a:cxnSpLocks noChangeShapeType="1"/>
          </p:cNvCxnSpPr>
          <p:nvPr/>
        </p:nvCxnSpPr>
        <p:spPr bwMode="auto">
          <a:xfrm flipV="1">
            <a:off x="4035292" y="3576758"/>
            <a:ext cx="0" cy="1445884"/>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9" name="Straight Arrow Connector 53"/>
          <p:cNvCxnSpPr>
            <a:cxnSpLocks noChangeShapeType="1"/>
          </p:cNvCxnSpPr>
          <p:nvPr/>
        </p:nvCxnSpPr>
        <p:spPr bwMode="auto">
          <a:xfrm flipV="1">
            <a:off x="3241820" y="3575932"/>
            <a:ext cx="0" cy="1445884"/>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0" name="Straight Arrow Connector 48"/>
          <p:cNvCxnSpPr>
            <a:cxnSpLocks noChangeShapeType="1"/>
          </p:cNvCxnSpPr>
          <p:nvPr/>
        </p:nvCxnSpPr>
        <p:spPr bwMode="auto">
          <a:xfrm flipV="1">
            <a:off x="2773962" y="3596324"/>
            <a:ext cx="0" cy="716840"/>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 name="Straight Arrow Connector 53"/>
          <p:cNvCxnSpPr>
            <a:cxnSpLocks noChangeShapeType="1"/>
          </p:cNvCxnSpPr>
          <p:nvPr/>
        </p:nvCxnSpPr>
        <p:spPr bwMode="auto">
          <a:xfrm flipV="1">
            <a:off x="5170095" y="3589353"/>
            <a:ext cx="0" cy="2099333"/>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1" name="Straight Arrow Connector 53"/>
          <p:cNvCxnSpPr>
            <a:cxnSpLocks noChangeShapeType="1"/>
          </p:cNvCxnSpPr>
          <p:nvPr/>
        </p:nvCxnSpPr>
        <p:spPr bwMode="auto">
          <a:xfrm flipV="1">
            <a:off x="6170220" y="3591723"/>
            <a:ext cx="0" cy="2099333"/>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6" name="Text Box 14"/>
          <p:cNvSpPr txBox="1">
            <a:spLocks noChangeArrowheads="1"/>
          </p:cNvSpPr>
          <p:nvPr/>
        </p:nvSpPr>
        <p:spPr bwMode="auto">
          <a:xfrm>
            <a:off x="1475392" y="1790391"/>
            <a:ext cx="6359384" cy="3146931"/>
          </a:xfrm>
          <a:prstGeom prst="rect">
            <a:avLst/>
          </a:prstGeom>
          <a:solidFill>
            <a:schemeClr val="accent2">
              <a:lumMod val="60000"/>
              <a:lumOff val="40000"/>
              <a:alpha val="80000"/>
            </a:schemeClr>
          </a:solidFill>
          <a:ln>
            <a:noFill/>
          </a:ln>
          <a:effectLst>
            <a:softEdge rad="127000"/>
          </a:effectLst>
        </p:spPr>
        <p:txBody>
          <a:bodyPr wrap="square" lIns="91358" tIns="45678" rIns="91358" bIns="45678">
            <a:spAutoFit/>
          </a:bodyPr>
          <a:lstStyle/>
          <a:p>
            <a:pPr algn="ctr" eaLnBrk="1" hangingPunct="1">
              <a:spcBef>
                <a:spcPct val="50000"/>
              </a:spcBef>
            </a:pPr>
            <a:endParaRPr lang="en-US" sz="1400" b="1">
              <a:solidFill>
                <a:srgbClr val="C00000"/>
              </a:solidFill>
              <a:effectLst>
                <a:outerShdw blurRad="38100" dist="38100" dir="2700000" algn="tl">
                  <a:srgbClr val="C0C0C0"/>
                </a:outerShdw>
              </a:effectLst>
            </a:endParaRPr>
          </a:p>
          <a:p>
            <a:pPr algn="ctr" eaLnBrk="1" hangingPunct="1">
              <a:spcBef>
                <a:spcPct val="50000"/>
              </a:spcBef>
            </a:pPr>
            <a:r>
              <a:rPr lang="en-US" sz="3600" b="1">
                <a:solidFill>
                  <a:srgbClr val="C00000"/>
                </a:solidFill>
                <a:effectLst>
                  <a:outerShdw blurRad="38100" dist="38100" dir="2700000" algn="tl">
                    <a:srgbClr val="C0C0C0"/>
                  </a:outerShdw>
                </a:effectLst>
              </a:rPr>
              <a:t>Everything we’ve talked about so far in the Pre-Flow Activities, we literally do five times per day!</a:t>
            </a:r>
          </a:p>
          <a:p>
            <a:pPr algn="ctr" eaLnBrk="1" hangingPunct="1">
              <a:spcBef>
                <a:spcPct val="50000"/>
              </a:spcBef>
            </a:pPr>
            <a:endParaRPr lang="en-US" sz="1500" b="1">
              <a:solidFill>
                <a:srgbClr val="C00000"/>
              </a:solidFill>
              <a:effectLst>
                <a:outerShdw blurRad="38100" dist="38100" dir="2700000" algn="tl">
                  <a:srgbClr val="C0C0C0"/>
                </a:outerShdw>
              </a:effectLst>
            </a:endParaRPr>
          </a:p>
        </p:txBody>
      </p:sp>
    </p:spTree>
    <p:extLst>
      <p:ext uri="{BB962C8B-B14F-4D97-AF65-F5344CB8AC3E}">
        <p14:creationId xmlns:p14="http://schemas.microsoft.com/office/powerpoint/2010/main" val="11010935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Text Box 2"/>
          <p:cNvSpPr txBox="1">
            <a:spLocks noChangeArrowheads="1"/>
          </p:cNvSpPr>
          <p:nvPr/>
        </p:nvSpPr>
        <p:spPr bwMode="auto">
          <a:xfrm>
            <a:off x="6994526" y="5548312"/>
            <a:ext cx="2530475" cy="627700"/>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358" tIns="45678" rIns="91358" bIns="45678">
            <a:spAutoFit/>
          </a:bodyPr>
          <a:lstStyle/>
          <a:p>
            <a:pPr algn="ctr" eaLnBrk="1" hangingPunct="1"/>
            <a:endParaRPr lang="en-US" sz="3400"/>
          </a:p>
        </p:txBody>
      </p:sp>
      <p:sp>
        <p:nvSpPr>
          <p:cNvPr id="357461" name="Rectangle 85"/>
          <p:cNvSpPr>
            <a:spLocks noGrp="1" noChangeArrowheads="1"/>
          </p:cNvSpPr>
          <p:nvPr>
            <p:ph type="title"/>
          </p:nvPr>
        </p:nvSpPr>
        <p:spPr>
          <a:noFill/>
          <a:ln/>
        </p:spPr>
        <p:txBody>
          <a:bodyPr/>
          <a:lstStyle/>
          <a:p>
            <a:r>
              <a:rPr lang="en-US"/>
              <a:t>QPTM System Flow</a:t>
            </a:r>
          </a:p>
        </p:txBody>
      </p:sp>
      <p:sp>
        <p:nvSpPr>
          <p:cNvPr id="54" name="Text Box 14"/>
          <p:cNvSpPr txBox="1">
            <a:spLocks noChangeArrowheads="1"/>
          </p:cNvSpPr>
          <p:nvPr/>
        </p:nvSpPr>
        <p:spPr bwMode="auto">
          <a:xfrm>
            <a:off x="457381" y="1337735"/>
            <a:ext cx="8229420" cy="646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358" tIns="45678" rIns="91358" bIns="45678">
            <a:spAutoFit/>
          </a:bodyPr>
          <a:lstStyle/>
          <a:p>
            <a:pPr algn="ctr" eaLnBrk="1" hangingPunct="1">
              <a:spcBef>
                <a:spcPct val="50000"/>
              </a:spcBef>
            </a:pPr>
            <a:r>
              <a:rPr lang="en-US" sz="1500" b="1">
                <a:effectLst>
                  <a:outerShdw blurRad="38100" dist="38100" dir="2700000" algn="tl">
                    <a:srgbClr val="C0C0C0"/>
                  </a:outerShdw>
                </a:effectLst>
              </a:rPr>
              <a:t>Master Data</a:t>
            </a:r>
          </a:p>
          <a:p>
            <a:pPr algn="ctr" eaLnBrk="1" hangingPunct="1">
              <a:spcBef>
                <a:spcPct val="50000"/>
              </a:spcBef>
            </a:pPr>
            <a:r>
              <a:rPr lang="en-US" sz="1400"/>
              <a:t>Contracts, Rates, Business Associates, Locations</a:t>
            </a:r>
          </a:p>
        </p:txBody>
      </p:sp>
      <p:sp>
        <p:nvSpPr>
          <p:cNvPr id="57" name="AutoShape 21"/>
          <p:cNvSpPr>
            <a:spLocks noChangeArrowheads="1"/>
          </p:cNvSpPr>
          <p:nvPr/>
        </p:nvSpPr>
        <p:spPr bwMode="auto">
          <a:xfrm>
            <a:off x="457380" y="1337736"/>
            <a:ext cx="8229420" cy="646246"/>
          </a:xfrm>
          <a:prstGeom prst="roundRect">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3" tIns="45717" rIns="91433" bIns="45717" anchor="ctr"/>
          <a:lstStyle/>
          <a:p>
            <a:endParaRPr lang="en-US"/>
          </a:p>
        </p:txBody>
      </p:sp>
      <p:cxnSp>
        <p:nvCxnSpPr>
          <p:cNvPr id="5" name="Straight Connector 4"/>
          <p:cNvCxnSpPr/>
          <p:nvPr/>
        </p:nvCxnSpPr>
        <p:spPr>
          <a:xfrm flipH="1">
            <a:off x="4530452" y="2149607"/>
            <a:ext cx="420" cy="4217326"/>
          </a:xfrm>
          <a:prstGeom prst="line">
            <a:avLst/>
          </a:prstGeom>
        </p:spPr>
        <p:style>
          <a:lnRef idx="1">
            <a:schemeClr val="accent1"/>
          </a:lnRef>
          <a:fillRef idx="0">
            <a:schemeClr val="accent1"/>
          </a:fillRef>
          <a:effectRef idx="0">
            <a:schemeClr val="accent1"/>
          </a:effectRef>
          <a:fontRef idx="minor">
            <a:schemeClr val="tx1"/>
          </a:fontRef>
        </p:style>
      </p:cxnSp>
      <p:sp>
        <p:nvSpPr>
          <p:cNvPr id="65" name="Text Box 14"/>
          <p:cNvSpPr txBox="1">
            <a:spLocks noChangeArrowheads="1"/>
          </p:cNvSpPr>
          <p:nvPr/>
        </p:nvSpPr>
        <p:spPr bwMode="auto">
          <a:xfrm>
            <a:off x="770649" y="2233852"/>
            <a:ext cx="3496553" cy="323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358" tIns="45678" rIns="91358" bIns="45678">
            <a:spAutoFit/>
          </a:bodyPr>
          <a:lstStyle/>
          <a:p>
            <a:pPr algn="ctr" eaLnBrk="1" hangingPunct="1">
              <a:spcBef>
                <a:spcPct val="50000"/>
              </a:spcBef>
            </a:pPr>
            <a:r>
              <a:rPr lang="en-US" sz="1500" b="1">
                <a:effectLst>
                  <a:outerShdw blurRad="38100" dist="38100" dir="2700000" algn="tl">
                    <a:srgbClr val="C0C0C0"/>
                  </a:outerShdw>
                </a:effectLst>
              </a:rPr>
              <a:t>Pre-Flow</a:t>
            </a:r>
          </a:p>
        </p:txBody>
      </p:sp>
      <p:sp>
        <p:nvSpPr>
          <p:cNvPr id="66" name="Text Box 14"/>
          <p:cNvSpPr txBox="1">
            <a:spLocks noChangeArrowheads="1"/>
          </p:cNvSpPr>
          <p:nvPr/>
        </p:nvSpPr>
        <p:spPr bwMode="auto">
          <a:xfrm>
            <a:off x="5843564" y="2239886"/>
            <a:ext cx="1415437" cy="323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358" tIns="45678" rIns="91358" bIns="45678">
            <a:spAutoFit/>
          </a:bodyPr>
          <a:lstStyle/>
          <a:p>
            <a:pPr algn="ctr" eaLnBrk="1" hangingPunct="1">
              <a:spcBef>
                <a:spcPct val="50000"/>
              </a:spcBef>
            </a:pPr>
            <a:r>
              <a:rPr lang="en-US" sz="1500" b="1">
                <a:effectLst>
                  <a:outerShdw blurRad="38100" dist="38100" dir="2700000" algn="tl">
                    <a:srgbClr val="C0C0C0"/>
                  </a:outerShdw>
                </a:effectLst>
              </a:rPr>
              <a:t>Post-Flow</a:t>
            </a:r>
          </a:p>
        </p:txBody>
      </p:sp>
      <p:sp>
        <p:nvSpPr>
          <p:cNvPr id="67" name="AutoShape 32"/>
          <p:cNvSpPr>
            <a:spLocks noChangeArrowheads="1"/>
          </p:cNvSpPr>
          <p:nvPr/>
        </p:nvSpPr>
        <p:spPr bwMode="auto">
          <a:xfrm>
            <a:off x="770649" y="2715817"/>
            <a:ext cx="3496553" cy="705241"/>
          </a:xfrm>
          <a:prstGeom prst="roundRect">
            <a:avLst>
              <a:gd name="adj" fmla="val 16667"/>
            </a:avLst>
          </a:prstGeom>
          <a:gradFill rotWithShape="1">
            <a:gsLst>
              <a:gs pos="0">
                <a:srgbClr val="33CC33"/>
              </a:gs>
              <a:gs pos="50000">
                <a:srgbClr val="33CC33">
                  <a:gamma/>
                  <a:shade val="76078"/>
                  <a:invGamma/>
                </a:srgbClr>
              </a:gs>
              <a:gs pos="100000">
                <a:srgbClr val="33CC33"/>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p>
            <a:pPr algn="ctr"/>
            <a:r>
              <a:rPr lang="en-US" sz="1200" b="1">
                <a:solidFill>
                  <a:schemeClr val="bg1"/>
                </a:solidFill>
              </a:rPr>
              <a:t>Nominations</a:t>
            </a:r>
          </a:p>
          <a:p>
            <a:pPr algn="ctr"/>
            <a:r>
              <a:rPr lang="en-US" sz="1200">
                <a:solidFill>
                  <a:schemeClr val="bg1"/>
                </a:solidFill>
              </a:rPr>
              <a:t>Shipper (external) requesting when, where and how much gas they want to move</a:t>
            </a:r>
          </a:p>
        </p:txBody>
      </p:sp>
      <p:sp>
        <p:nvSpPr>
          <p:cNvPr id="68" name="AutoShape 25"/>
          <p:cNvSpPr>
            <a:spLocks noChangeArrowheads="1"/>
          </p:cNvSpPr>
          <p:nvPr/>
        </p:nvSpPr>
        <p:spPr bwMode="auto">
          <a:xfrm>
            <a:off x="770649" y="3740371"/>
            <a:ext cx="3496553" cy="705241"/>
          </a:xfrm>
          <a:prstGeom prst="roundRect">
            <a:avLst>
              <a:gd name="adj" fmla="val 16667"/>
            </a:avLst>
          </a:prstGeom>
          <a:gradFill rotWithShape="1">
            <a:gsLst>
              <a:gs pos="0">
                <a:srgbClr val="33CC33"/>
              </a:gs>
              <a:gs pos="50000">
                <a:srgbClr val="33CC33">
                  <a:gamma/>
                  <a:shade val="76078"/>
                  <a:invGamma/>
                </a:srgbClr>
              </a:gs>
              <a:gs pos="100000">
                <a:srgbClr val="33CC33"/>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p>
            <a:pPr algn="ctr"/>
            <a:r>
              <a:rPr lang="en-US" sz="1200" b="1">
                <a:solidFill>
                  <a:schemeClr val="bg1"/>
                </a:solidFill>
              </a:rPr>
              <a:t>Confirmations</a:t>
            </a:r>
          </a:p>
          <a:p>
            <a:pPr algn="ctr"/>
            <a:r>
              <a:rPr lang="en-US" sz="1200">
                <a:solidFill>
                  <a:schemeClr val="bg1"/>
                </a:solidFill>
              </a:rPr>
              <a:t>Interconnect operator (external) reconciling requests from both pipelines</a:t>
            </a:r>
          </a:p>
        </p:txBody>
      </p:sp>
      <p:sp>
        <p:nvSpPr>
          <p:cNvPr id="69" name="AutoShape 35"/>
          <p:cNvSpPr>
            <a:spLocks noChangeArrowheads="1"/>
          </p:cNvSpPr>
          <p:nvPr/>
        </p:nvSpPr>
        <p:spPr bwMode="auto">
          <a:xfrm>
            <a:off x="770648" y="4764925"/>
            <a:ext cx="3496553" cy="709577"/>
          </a:xfrm>
          <a:prstGeom prst="roundRect">
            <a:avLst>
              <a:gd name="adj" fmla="val 16667"/>
            </a:avLst>
          </a:prstGeom>
          <a:gradFill rotWithShape="1">
            <a:gsLst>
              <a:gs pos="0">
                <a:srgbClr val="33CC33"/>
              </a:gs>
              <a:gs pos="50000">
                <a:srgbClr val="33CC33">
                  <a:gamma/>
                  <a:shade val="76078"/>
                  <a:invGamma/>
                </a:srgbClr>
              </a:gs>
              <a:gs pos="100000">
                <a:srgbClr val="33CC33"/>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p>
            <a:pPr algn="ctr"/>
            <a:r>
              <a:rPr lang="en-US" sz="1200" b="1">
                <a:solidFill>
                  <a:schemeClr val="bg1"/>
                </a:solidFill>
              </a:rPr>
              <a:t>Capacity Allocations</a:t>
            </a:r>
          </a:p>
          <a:p>
            <a:pPr algn="ctr"/>
            <a:r>
              <a:rPr lang="en-US" sz="1200">
                <a:solidFill>
                  <a:schemeClr val="bg1"/>
                </a:solidFill>
              </a:rPr>
              <a:t>Pipeline operator making sure there is enough capacity and making cuts</a:t>
            </a:r>
          </a:p>
        </p:txBody>
      </p:sp>
      <p:sp>
        <p:nvSpPr>
          <p:cNvPr id="70" name="AutoShape 28"/>
          <p:cNvSpPr>
            <a:spLocks noChangeArrowheads="1"/>
          </p:cNvSpPr>
          <p:nvPr/>
        </p:nvSpPr>
        <p:spPr bwMode="auto">
          <a:xfrm>
            <a:off x="5885847" y="3530698"/>
            <a:ext cx="1329197" cy="559537"/>
          </a:xfrm>
          <a:prstGeom prst="roundRect">
            <a:avLst>
              <a:gd name="adj" fmla="val 16667"/>
            </a:avLst>
          </a:prstGeom>
          <a:gradFill rotWithShape="1">
            <a:gsLst>
              <a:gs pos="0">
                <a:srgbClr val="0000FF">
                  <a:gamma/>
                  <a:shade val="76078"/>
                  <a:invGamma/>
                </a:srgbClr>
              </a:gs>
              <a:gs pos="50000">
                <a:srgbClr val="0000FF"/>
              </a:gs>
              <a:gs pos="100000">
                <a:srgbClr val="0000FF">
                  <a:gamma/>
                  <a:shade val="76078"/>
                  <a:invGamma/>
                </a:srgbClr>
              </a:gs>
            </a:gsLst>
            <a:lin ang="5400000" scaled="1"/>
          </a:gra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200" b="1">
                <a:solidFill>
                  <a:schemeClr val="bg1"/>
                </a:solidFill>
              </a:rPr>
              <a:t>Allocations</a:t>
            </a:r>
          </a:p>
        </p:txBody>
      </p:sp>
      <p:sp>
        <p:nvSpPr>
          <p:cNvPr id="71" name="AutoShape 53"/>
          <p:cNvSpPr>
            <a:spLocks noChangeArrowheads="1"/>
          </p:cNvSpPr>
          <p:nvPr/>
        </p:nvSpPr>
        <p:spPr bwMode="auto">
          <a:xfrm>
            <a:off x="5885847" y="4281779"/>
            <a:ext cx="1330871" cy="559536"/>
          </a:xfrm>
          <a:prstGeom prst="roundRect">
            <a:avLst>
              <a:gd name="adj" fmla="val 16667"/>
            </a:avLst>
          </a:prstGeom>
          <a:gradFill rotWithShape="1">
            <a:gsLst>
              <a:gs pos="0">
                <a:srgbClr val="0000FF">
                  <a:gamma/>
                  <a:shade val="76078"/>
                  <a:invGamma/>
                </a:srgbClr>
              </a:gs>
              <a:gs pos="50000">
                <a:srgbClr val="0000FF"/>
              </a:gs>
              <a:gs pos="100000">
                <a:srgbClr val="0000FF">
                  <a:gamma/>
                  <a:shade val="76078"/>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200" b="1">
                <a:solidFill>
                  <a:schemeClr val="bg1"/>
                </a:solidFill>
              </a:rPr>
              <a:t>Inventory</a:t>
            </a:r>
          </a:p>
        </p:txBody>
      </p:sp>
      <p:sp>
        <p:nvSpPr>
          <p:cNvPr id="72" name="AutoShape 50"/>
          <p:cNvSpPr>
            <a:spLocks noChangeArrowheads="1"/>
          </p:cNvSpPr>
          <p:nvPr/>
        </p:nvSpPr>
        <p:spPr bwMode="auto">
          <a:xfrm>
            <a:off x="5885847" y="5057966"/>
            <a:ext cx="1330871" cy="571441"/>
          </a:xfrm>
          <a:prstGeom prst="roundRect">
            <a:avLst>
              <a:gd name="adj" fmla="val 16667"/>
            </a:avLst>
          </a:prstGeom>
          <a:gradFill rotWithShape="1">
            <a:gsLst>
              <a:gs pos="0">
                <a:srgbClr val="0000FF">
                  <a:gamma/>
                  <a:shade val="76078"/>
                  <a:invGamma/>
                </a:srgbClr>
              </a:gs>
              <a:gs pos="50000">
                <a:srgbClr val="0000FF"/>
              </a:gs>
              <a:gs pos="100000">
                <a:srgbClr val="0000FF">
                  <a:gamma/>
                  <a:shade val="76078"/>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200" b="1">
                <a:solidFill>
                  <a:schemeClr val="bg1"/>
                </a:solidFill>
              </a:rPr>
              <a:t>Invoicing</a:t>
            </a:r>
          </a:p>
        </p:txBody>
      </p:sp>
      <p:cxnSp>
        <p:nvCxnSpPr>
          <p:cNvPr id="10" name="Straight Arrow Connector 9"/>
          <p:cNvCxnSpPr>
            <a:stCxn id="67" idx="2"/>
            <a:endCxn id="68" idx="0"/>
          </p:cNvCxnSpPr>
          <p:nvPr/>
        </p:nvCxnSpPr>
        <p:spPr>
          <a:xfrm>
            <a:off x="2518926" y="3421058"/>
            <a:ext cx="0" cy="3193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stCxn id="68" idx="2"/>
            <a:endCxn id="69" idx="0"/>
          </p:cNvCxnSpPr>
          <p:nvPr/>
        </p:nvCxnSpPr>
        <p:spPr>
          <a:xfrm flipH="1">
            <a:off x="2518925" y="4445612"/>
            <a:ext cx="1" cy="3193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2" name="AutoShape 50"/>
          <p:cNvSpPr>
            <a:spLocks noChangeArrowheads="1"/>
          </p:cNvSpPr>
          <p:nvPr/>
        </p:nvSpPr>
        <p:spPr bwMode="auto">
          <a:xfrm>
            <a:off x="5885847" y="2725988"/>
            <a:ext cx="1330871" cy="559537"/>
          </a:xfrm>
          <a:prstGeom prst="roundRect">
            <a:avLst>
              <a:gd name="adj" fmla="val 16667"/>
            </a:avLst>
          </a:prstGeom>
          <a:gradFill rotWithShape="1">
            <a:gsLst>
              <a:gs pos="0">
                <a:srgbClr val="FF9933">
                  <a:gamma/>
                  <a:shade val="66275"/>
                  <a:invGamma/>
                </a:srgbClr>
              </a:gs>
              <a:gs pos="50000">
                <a:srgbClr val="FF9933"/>
              </a:gs>
              <a:gs pos="100000">
                <a:srgbClr val="FF9933">
                  <a:gamma/>
                  <a:shade val="6627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p>
            <a:pPr algn="ctr"/>
            <a:r>
              <a:rPr lang="en-US" sz="1200" b="1">
                <a:solidFill>
                  <a:schemeClr val="bg1"/>
                </a:solidFill>
              </a:rPr>
              <a:t>Measurement Interface</a:t>
            </a:r>
          </a:p>
        </p:txBody>
      </p:sp>
      <p:cxnSp>
        <p:nvCxnSpPr>
          <p:cNvPr id="83" name="Straight Arrow Connector 82"/>
          <p:cNvCxnSpPr>
            <a:stCxn id="82" idx="2"/>
            <a:endCxn id="70" idx="0"/>
          </p:cNvCxnSpPr>
          <p:nvPr/>
        </p:nvCxnSpPr>
        <p:spPr>
          <a:xfrm flipH="1">
            <a:off x="6550446" y="3285525"/>
            <a:ext cx="837" cy="2451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a:stCxn id="70" idx="2"/>
            <a:endCxn id="71" idx="0"/>
          </p:cNvCxnSpPr>
          <p:nvPr/>
        </p:nvCxnSpPr>
        <p:spPr>
          <a:xfrm>
            <a:off x="6550446" y="4090235"/>
            <a:ext cx="837" cy="1915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p:cNvCxnSpPr>
            <a:stCxn id="71" idx="2"/>
            <a:endCxn id="72" idx="0"/>
          </p:cNvCxnSpPr>
          <p:nvPr/>
        </p:nvCxnSpPr>
        <p:spPr>
          <a:xfrm>
            <a:off x="6551283" y="4841315"/>
            <a:ext cx="0" cy="2166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3" name="Text Box 14"/>
          <p:cNvSpPr txBox="1">
            <a:spLocks noChangeArrowheads="1"/>
          </p:cNvSpPr>
          <p:nvPr/>
        </p:nvSpPr>
        <p:spPr bwMode="auto">
          <a:xfrm>
            <a:off x="770647" y="5789479"/>
            <a:ext cx="3496553" cy="323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358" tIns="45678" rIns="91358" bIns="45678">
            <a:spAutoFit/>
          </a:bodyPr>
          <a:lstStyle/>
          <a:p>
            <a:pPr algn="ctr" eaLnBrk="1" hangingPunct="1">
              <a:spcBef>
                <a:spcPct val="50000"/>
              </a:spcBef>
            </a:pPr>
            <a:r>
              <a:rPr lang="en-US" sz="1500" i="1"/>
              <a:t>All of this happens 5x / day</a:t>
            </a:r>
          </a:p>
        </p:txBody>
      </p:sp>
    </p:spTree>
    <p:extLst>
      <p:ext uri="{BB962C8B-B14F-4D97-AF65-F5344CB8AC3E}">
        <p14:creationId xmlns:p14="http://schemas.microsoft.com/office/powerpoint/2010/main" val="2064501297"/>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Allocations</a:t>
            </a:r>
          </a:p>
        </p:txBody>
      </p:sp>
      <p:sp>
        <p:nvSpPr>
          <p:cNvPr id="3" name="Content Placeholder 2"/>
          <p:cNvSpPr>
            <a:spLocks noGrp="1"/>
          </p:cNvSpPr>
          <p:nvPr>
            <p:ph idx="1"/>
          </p:nvPr>
        </p:nvSpPr>
        <p:spPr/>
        <p:txBody>
          <a:bodyPr>
            <a:normAutofit/>
          </a:bodyPr>
          <a:lstStyle/>
          <a:p>
            <a:r>
              <a:rPr lang="en-US"/>
              <a:t>What is it?</a:t>
            </a:r>
          </a:p>
          <a:p>
            <a:pPr lvl="1"/>
            <a:r>
              <a:rPr lang="en-US"/>
              <a:t>Dividing the measured quantity at a location to the customers and contracts defined by the nominations/scheduled quantities</a:t>
            </a:r>
          </a:p>
          <a:p>
            <a:pPr lvl="1"/>
            <a:r>
              <a:rPr lang="en-US"/>
              <a:t>i.e. We had 3 different shippers who all nominated 500 </a:t>
            </a:r>
            <a:r>
              <a:rPr lang="en-US" err="1"/>
              <a:t>Dth</a:t>
            </a:r>
            <a:r>
              <a:rPr lang="en-US"/>
              <a:t> at Point A, but we only measured 1,200 </a:t>
            </a:r>
            <a:r>
              <a:rPr lang="en-US" err="1"/>
              <a:t>Dth</a:t>
            </a:r>
            <a:r>
              <a:rPr lang="en-US"/>
              <a:t>; now we have to </a:t>
            </a:r>
            <a:r>
              <a:rPr lang="en-US" i="1"/>
              <a:t>allocate </a:t>
            </a:r>
            <a:r>
              <a:rPr lang="en-US"/>
              <a:t>that out to the 3 contracts </a:t>
            </a:r>
          </a:p>
          <a:p>
            <a:pPr lvl="7"/>
            <a:endParaRPr lang="en-US"/>
          </a:p>
          <a:p>
            <a:r>
              <a:rPr lang="en-US"/>
              <a:t>Who uses it?</a:t>
            </a:r>
          </a:p>
          <a:p>
            <a:pPr lvl="1"/>
            <a:r>
              <a:rPr lang="en-US"/>
              <a:t>Service requesters and operators provide information for pre-determined allocations (PDAs)</a:t>
            </a:r>
          </a:p>
          <a:p>
            <a:pPr lvl="4"/>
            <a:endParaRPr lang="en-US"/>
          </a:p>
          <a:p>
            <a:pPr lvl="1"/>
            <a:endParaRPr lang="en-US"/>
          </a:p>
        </p:txBody>
      </p:sp>
    </p:spTree>
    <p:extLst>
      <p:ext uri="{BB962C8B-B14F-4D97-AF65-F5344CB8AC3E}">
        <p14:creationId xmlns:p14="http://schemas.microsoft.com/office/powerpoint/2010/main" val="28885206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Text Box 2"/>
          <p:cNvSpPr txBox="1">
            <a:spLocks noChangeArrowheads="1"/>
          </p:cNvSpPr>
          <p:nvPr/>
        </p:nvSpPr>
        <p:spPr bwMode="auto">
          <a:xfrm>
            <a:off x="6994526" y="5548312"/>
            <a:ext cx="2530475" cy="627700"/>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358" tIns="45678" rIns="91358" bIns="45678">
            <a:spAutoFit/>
          </a:bodyPr>
          <a:lstStyle/>
          <a:p>
            <a:pPr algn="ctr" eaLnBrk="1" hangingPunct="1"/>
            <a:endParaRPr lang="en-US" sz="3400"/>
          </a:p>
        </p:txBody>
      </p:sp>
      <p:sp>
        <p:nvSpPr>
          <p:cNvPr id="357461" name="Rectangle 85"/>
          <p:cNvSpPr>
            <a:spLocks noGrp="1" noChangeArrowheads="1"/>
          </p:cNvSpPr>
          <p:nvPr>
            <p:ph type="title"/>
          </p:nvPr>
        </p:nvSpPr>
        <p:spPr>
          <a:noFill/>
          <a:ln/>
        </p:spPr>
        <p:txBody>
          <a:bodyPr/>
          <a:lstStyle/>
          <a:p>
            <a:r>
              <a:rPr lang="en-US"/>
              <a:t>QPTM System Flow</a:t>
            </a:r>
          </a:p>
        </p:txBody>
      </p:sp>
      <p:sp>
        <p:nvSpPr>
          <p:cNvPr id="54" name="Text Box 14"/>
          <p:cNvSpPr txBox="1">
            <a:spLocks noChangeArrowheads="1"/>
          </p:cNvSpPr>
          <p:nvPr/>
        </p:nvSpPr>
        <p:spPr bwMode="auto">
          <a:xfrm>
            <a:off x="457381" y="1337735"/>
            <a:ext cx="8229420" cy="646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358" tIns="45678" rIns="91358" bIns="45678">
            <a:spAutoFit/>
          </a:bodyPr>
          <a:lstStyle/>
          <a:p>
            <a:pPr algn="ctr" eaLnBrk="1" hangingPunct="1">
              <a:spcBef>
                <a:spcPct val="50000"/>
              </a:spcBef>
            </a:pPr>
            <a:r>
              <a:rPr lang="en-US" sz="1500" b="1">
                <a:effectLst>
                  <a:outerShdw blurRad="38100" dist="38100" dir="2700000" algn="tl">
                    <a:srgbClr val="C0C0C0"/>
                  </a:outerShdw>
                </a:effectLst>
              </a:rPr>
              <a:t>Master Data</a:t>
            </a:r>
          </a:p>
          <a:p>
            <a:pPr algn="ctr" eaLnBrk="1" hangingPunct="1">
              <a:spcBef>
                <a:spcPct val="50000"/>
              </a:spcBef>
            </a:pPr>
            <a:r>
              <a:rPr lang="en-US" sz="1400"/>
              <a:t>Contracts, Rates, Business Associates, Locations</a:t>
            </a:r>
          </a:p>
        </p:txBody>
      </p:sp>
      <p:sp>
        <p:nvSpPr>
          <p:cNvPr id="57" name="AutoShape 21"/>
          <p:cNvSpPr>
            <a:spLocks noChangeArrowheads="1"/>
          </p:cNvSpPr>
          <p:nvPr/>
        </p:nvSpPr>
        <p:spPr bwMode="auto">
          <a:xfrm>
            <a:off x="457380" y="1337736"/>
            <a:ext cx="8229420" cy="646246"/>
          </a:xfrm>
          <a:prstGeom prst="roundRect">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3" tIns="45717" rIns="91433" bIns="45717" anchor="ctr"/>
          <a:lstStyle/>
          <a:p>
            <a:endParaRPr lang="en-US"/>
          </a:p>
        </p:txBody>
      </p:sp>
      <p:cxnSp>
        <p:nvCxnSpPr>
          <p:cNvPr id="5" name="Straight Connector 4"/>
          <p:cNvCxnSpPr/>
          <p:nvPr/>
        </p:nvCxnSpPr>
        <p:spPr>
          <a:xfrm flipH="1">
            <a:off x="4530452" y="2149607"/>
            <a:ext cx="420" cy="4217326"/>
          </a:xfrm>
          <a:prstGeom prst="line">
            <a:avLst/>
          </a:prstGeom>
        </p:spPr>
        <p:style>
          <a:lnRef idx="1">
            <a:schemeClr val="accent1"/>
          </a:lnRef>
          <a:fillRef idx="0">
            <a:schemeClr val="accent1"/>
          </a:fillRef>
          <a:effectRef idx="0">
            <a:schemeClr val="accent1"/>
          </a:effectRef>
          <a:fontRef idx="minor">
            <a:schemeClr val="tx1"/>
          </a:fontRef>
        </p:style>
      </p:cxnSp>
      <p:sp>
        <p:nvSpPr>
          <p:cNvPr id="65" name="Text Box 14"/>
          <p:cNvSpPr txBox="1">
            <a:spLocks noChangeArrowheads="1"/>
          </p:cNvSpPr>
          <p:nvPr/>
        </p:nvSpPr>
        <p:spPr bwMode="auto">
          <a:xfrm>
            <a:off x="770649" y="2233852"/>
            <a:ext cx="3496553" cy="323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358" tIns="45678" rIns="91358" bIns="45678">
            <a:spAutoFit/>
          </a:bodyPr>
          <a:lstStyle/>
          <a:p>
            <a:pPr algn="ctr" eaLnBrk="1" hangingPunct="1">
              <a:spcBef>
                <a:spcPct val="50000"/>
              </a:spcBef>
            </a:pPr>
            <a:r>
              <a:rPr lang="en-US" sz="1500" b="1">
                <a:effectLst>
                  <a:outerShdw blurRad="38100" dist="38100" dir="2700000" algn="tl">
                    <a:srgbClr val="C0C0C0"/>
                  </a:outerShdw>
                </a:effectLst>
              </a:rPr>
              <a:t>Pre-Flow</a:t>
            </a:r>
          </a:p>
        </p:txBody>
      </p:sp>
      <p:sp>
        <p:nvSpPr>
          <p:cNvPr id="66" name="Text Box 14"/>
          <p:cNvSpPr txBox="1">
            <a:spLocks noChangeArrowheads="1"/>
          </p:cNvSpPr>
          <p:nvPr/>
        </p:nvSpPr>
        <p:spPr bwMode="auto">
          <a:xfrm>
            <a:off x="5843564" y="2239886"/>
            <a:ext cx="1415437" cy="323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358" tIns="45678" rIns="91358" bIns="45678">
            <a:spAutoFit/>
          </a:bodyPr>
          <a:lstStyle/>
          <a:p>
            <a:pPr algn="ctr" eaLnBrk="1" hangingPunct="1">
              <a:spcBef>
                <a:spcPct val="50000"/>
              </a:spcBef>
            </a:pPr>
            <a:r>
              <a:rPr lang="en-US" sz="1500" b="1">
                <a:effectLst>
                  <a:outerShdw blurRad="38100" dist="38100" dir="2700000" algn="tl">
                    <a:srgbClr val="C0C0C0"/>
                  </a:outerShdw>
                </a:effectLst>
              </a:rPr>
              <a:t>Post-Flow</a:t>
            </a:r>
          </a:p>
        </p:txBody>
      </p:sp>
      <p:sp>
        <p:nvSpPr>
          <p:cNvPr id="67" name="AutoShape 32"/>
          <p:cNvSpPr>
            <a:spLocks noChangeArrowheads="1"/>
          </p:cNvSpPr>
          <p:nvPr/>
        </p:nvSpPr>
        <p:spPr bwMode="auto">
          <a:xfrm>
            <a:off x="770649" y="2715817"/>
            <a:ext cx="3496553" cy="705241"/>
          </a:xfrm>
          <a:prstGeom prst="roundRect">
            <a:avLst>
              <a:gd name="adj" fmla="val 16667"/>
            </a:avLst>
          </a:prstGeom>
          <a:gradFill rotWithShape="1">
            <a:gsLst>
              <a:gs pos="0">
                <a:srgbClr val="33CC33"/>
              </a:gs>
              <a:gs pos="50000">
                <a:srgbClr val="33CC33">
                  <a:gamma/>
                  <a:shade val="76078"/>
                  <a:invGamma/>
                </a:srgbClr>
              </a:gs>
              <a:gs pos="100000">
                <a:srgbClr val="33CC33"/>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p>
            <a:pPr algn="ctr"/>
            <a:r>
              <a:rPr lang="en-US" sz="1200" b="1">
                <a:solidFill>
                  <a:schemeClr val="bg1"/>
                </a:solidFill>
              </a:rPr>
              <a:t>Nominations</a:t>
            </a:r>
          </a:p>
          <a:p>
            <a:pPr algn="ctr"/>
            <a:r>
              <a:rPr lang="en-US" sz="1200">
                <a:solidFill>
                  <a:schemeClr val="bg1"/>
                </a:solidFill>
              </a:rPr>
              <a:t>Shipper (external) requesting when, where and how much gas they want to move</a:t>
            </a:r>
          </a:p>
        </p:txBody>
      </p:sp>
      <p:sp>
        <p:nvSpPr>
          <p:cNvPr id="68" name="AutoShape 25"/>
          <p:cNvSpPr>
            <a:spLocks noChangeArrowheads="1"/>
          </p:cNvSpPr>
          <p:nvPr/>
        </p:nvSpPr>
        <p:spPr bwMode="auto">
          <a:xfrm>
            <a:off x="770649" y="3740371"/>
            <a:ext cx="3496553" cy="705241"/>
          </a:xfrm>
          <a:prstGeom prst="roundRect">
            <a:avLst>
              <a:gd name="adj" fmla="val 16667"/>
            </a:avLst>
          </a:prstGeom>
          <a:gradFill rotWithShape="1">
            <a:gsLst>
              <a:gs pos="0">
                <a:srgbClr val="33CC33"/>
              </a:gs>
              <a:gs pos="50000">
                <a:srgbClr val="33CC33">
                  <a:gamma/>
                  <a:shade val="76078"/>
                  <a:invGamma/>
                </a:srgbClr>
              </a:gs>
              <a:gs pos="100000">
                <a:srgbClr val="33CC33"/>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p>
            <a:pPr algn="ctr"/>
            <a:r>
              <a:rPr lang="en-US" sz="1200" b="1">
                <a:solidFill>
                  <a:schemeClr val="bg1"/>
                </a:solidFill>
              </a:rPr>
              <a:t>Confirmations</a:t>
            </a:r>
          </a:p>
          <a:p>
            <a:pPr algn="ctr"/>
            <a:r>
              <a:rPr lang="en-US" sz="1200">
                <a:solidFill>
                  <a:schemeClr val="bg1"/>
                </a:solidFill>
              </a:rPr>
              <a:t>Interconnect operator (external) reconciling requests from both pipelines</a:t>
            </a:r>
          </a:p>
        </p:txBody>
      </p:sp>
      <p:sp>
        <p:nvSpPr>
          <p:cNvPr id="69" name="AutoShape 35"/>
          <p:cNvSpPr>
            <a:spLocks noChangeArrowheads="1"/>
          </p:cNvSpPr>
          <p:nvPr/>
        </p:nvSpPr>
        <p:spPr bwMode="auto">
          <a:xfrm>
            <a:off x="770648" y="4764925"/>
            <a:ext cx="3496553" cy="709577"/>
          </a:xfrm>
          <a:prstGeom prst="roundRect">
            <a:avLst>
              <a:gd name="adj" fmla="val 16667"/>
            </a:avLst>
          </a:prstGeom>
          <a:gradFill rotWithShape="1">
            <a:gsLst>
              <a:gs pos="0">
                <a:srgbClr val="33CC33"/>
              </a:gs>
              <a:gs pos="50000">
                <a:srgbClr val="33CC33">
                  <a:gamma/>
                  <a:shade val="76078"/>
                  <a:invGamma/>
                </a:srgbClr>
              </a:gs>
              <a:gs pos="100000">
                <a:srgbClr val="33CC33"/>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p>
            <a:pPr algn="ctr"/>
            <a:r>
              <a:rPr lang="en-US" sz="1200" b="1">
                <a:solidFill>
                  <a:schemeClr val="bg1"/>
                </a:solidFill>
              </a:rPr>
              <a:t>Capacity Allocations</a:t>
            </a:r>
          </a:p>
          <a:p>
            <a:pPr algn="ctr"/>
            <a:r>
              <a:rPr lang="en-US" sz="1200">
                <a:solidFill>
                  <a:schemeClr val="bg1"/>
                </a:solidFill>
              </a:rPr>
              <a:t>Pipeline operator making sure there is enough capacity and making cuts</a:t>
            </a:r>
          </a:p>
        </p:txBody>
      </p:sp>
      <p:sp>
        <p:nvSpPr>
          <p:cNvPr id="70" name="AutoShape 28"/>
          <p:cNvSpPr>
            <a:spLocks noChangeArrowheads="1"/>
          </p:cNvSpPr>
          <p:nvPr/>
        </p:nvSpPr>
        <p:spPr bwMode="auto">
          <a:xfrm>
            <a:off x="5885847" y="3530698"/>
            <a:ext cx="1329197" cy="559537"/>
          </a:xfrm>
          <a:prstGeom prst="roundRect">
            <a:avLst>
              <a:gd name="adj" fmla="val 16667"/>
            </a:avLst>
          </a:prstGeom>
          <a:gradFill rotWithShape="1">
            <a:gsLst>
              <a:gs pos="0">
                <a:srgbClr val="0000FF">
                  <a:gamma/>
                  <a:shade val="76078"/>
                  <a:invGamma/>
                </a:srgbClr>
              </a:gs>
              <a:gs pos="50000">
                <a:srgbClr val="0000FF"/>
              </a:gs>
              <a:gs pos="100000">
                <a:srgbClr val="0000FF">
                  <a:gamma/>
                  <a:shade val="76078"/>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200" b="1">
                <a:solidFill>
                  <a:schemeClr val="bg1"/>
                </a:solidFill>
              </a:rPr>
              <a:t>Allocations</a:t>
            </a:r>
          </a:p>
        </p:txBody>
      </p:sp>
      <p:sp>
        <p:nvSpPr>
          <p:cNvPr id="71" name="AutoShape 53"/>
          <p:cNvSpPr>
            <a:spLocks noChangeArrowheads="1"/>
          </p:cNvSpPr>
          <p:nvPr/>
        </p:nvSpPr>
        <p:spPr bwMode="auto">
          <a:xfrm>
            <a:off x="5885847" y="4281779"/>
            <a:ext cx="1330871" cy="559536"/>
          </a:xfrm>
          <a:prstGeom prst="roundRect">
            <a:avLst>
              <a:gd name="adj" fmla="val 16667"/>
            </a:avLst>
          </a:prstGeom>
          <a:gradFill rotWithShape="1">
            <a:gsLst>
              <a:gs pos="0">
                <a:srgbClr val="0000FF">
                  <a:gamma/>
                  <a:shade val="76078"/>
                  <a:invGamma/>
                </a:srgbClr>
              </a:gs>
              <a:gs pos="50000">
                <a:srgbClr val="0000FF"/>
              </a:gs>
              <a:gs pos="100000">
                <a:srgbClr val="0000FF">
                  <a:gamma/>
                  <a:shade val="76078"/>
                  <a:invGamma/>
                </a:srgbClr>
              </a:gs>
            </a:gsLst>
            <a:lin ang="5400000" scaled="1"/>
          </a:gra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200" b="1">
                <a:solidFill>
                  <a:schemeClr val="bg1"/>
                </a:solidFill>
              </a:rPr>
              <a:t>Inventory</a:t>
            </a:r>
          </a:p>
        </p:txBody>
      </p:sp>
      <p:sp>
        <p:nvSpPr>
          <p:cNvPr id="72" name="AutoShape 50"/>
          <p:cNvSpPr>
            <a:spLocks noChangeArrowheads="1"/>
          </p:cNvSpPr>
          <p:nvPr/>
        </p:nvSpPr>
        <p:spPr bwMode="auto">
          <a:xfrm>
            <a:off x="5885847" y="5057966"/>
            <a:ext cx="1330871" cy="571441"/>
          </a:xfrm>
          <a:prstGeom prst="roundRect">
            <a:avLst>
              <a:gd name="adj" fmla="val 16667"/>
            </a:avLst>
          </a:prstGeom>
          <a:gradFill rotWithShape="1">
            <a:gsLst>
              <a:gs pos="0">
                <a:srgbClr val="0000FF">
                  <a:gamma/>
                  <a:shade val="76078"/>
                  <a:invGamma/>
                </a:srgbClr>
              </a:gs>
              <a:gs pos="50000">
                <a:srgbClr val="0000FF"/>
              </a:gs>
              <a:gs pos="100000">
                <a:srgbClr val="0000FF">
                  <a:gamma/>
                  <a:shade val="76078"/>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200" b="1">
                <a:solidFill>
                  <a:schemeClr val="bg1"/>
                </a:solidFill>
              </a:rPr>
              <a:t>Invoicing</a:t>
            </a:r>
          </a:p>
        </p:txBody>
      </p:sp>
      <p:cxnSp>
        <p:nvCxnSpPr>
          <p:cNvPr id="10" name="Straight Arrow Connector 9"/>
          <p:cNvCxnSpPr>
            <a:stCxn id="67" idx="2"/>
            <a:endCxn id="68" idx="0"/>
          </p:cNvCxnSpPr>
          <p:nvPr/>
        </p:nvCxnSpPr>
        <p:spPr>
          <a:xfrm>
            <a:off x="2518926" y="3421058"/>
            <a:ext cx="0" cy="3193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stCxn id="68" idx="2"/>
            <a:endCxn id="69" idx="0"/>
          </p:cNvCxnSpPr>
          <p:nvPr/>
        </p:nvCxnSpPr>
        <p:spPr>
          <a:xfrm flipH="1">
            <a:off x="2518925" y="4445612"/>
            <a:ext cx="1" cy="3193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2" name="AutoShape 50"/>
          <p:cNvSpPr>
            <a:spLocks noChangeArrowheads="1"/>
          </p:cNvSpPr>
          <p:nvPr/>
        </p:nvSpPr>
        <p:spPr bwMode="auto">
          <a:xfrm>
            <a:off x="5885847" y="2725988"/>
            <a:ext cx="1330871" cy="559537"/>
          </a:xfrm>
          <a:prstGeom prst="roundRect">
            <a:avLst>
              <a:gd name="adj" fmla="val 16667"/>
            </a:avLst>
          </a:prstGeom>
          <a:gradFill rotWithShape="1">
            <a:gsLst>
              <a:gs pos="0">
                <a:srgbClr val="FF9933">
                  <a:gamma/>
                  <a:shade val="66275"/>
                  <a:invGamma/>
                </a:srgbClr>
              </a:gs>
              <a:gs pos="50000">
                <a:srgbClr val="FF9933"/>
              </a:gs>
              <a:gs pos="100000">
                <a:srgbClr val="FF9933">
                  <a:gamma/>
                  <a:shade val="6627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p>
            <a:pPr algn="ctr"/>
            <a:r>
              <a:rPr lang="en-US" sz="1200" b="1">
                <a:solidFill>
                  <a:schemeClr val="bg1"/>
                </a:solidFill>
              </a:rPr>
              <a:t>Measurement Interface</a:t>
            </a:r>
          </a:p>
        </p:txBody>
      </p:sp>
      <p:cxnSp>
        <p:nvCxnSpPr>
          <p:cNvPr id="83" name="Straight Arrow Connector 82"/>
          <p:cNvCxnSpPr>
            <a:stCxn id="82" idx="2"/>
            <a:endCxn id="70" idx="0"/>
          </p:cNvCxnSpPr>
          <p:nvPr/>
        </p:nvCxnSpPr>
        <p:spPr>
          <a:xfrm flipH="1">
            <a:off x="6550446" y="3285525"/>
            <a:ext cx="837" cy="2451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a:stCxn id="70" idx="2"/>
            <a:endCxn id="71" idx="0"/>
          </p:cNvCxnSpPr>
          <p:nvPr/>
        </p:nvCxnSpPr>
        <p:spPr>
          <a:xfrm>
            <a:off x="6550446" y="4090235"/>
            <a:ext cx="837" cy="1915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p:cNvCxnSpPr>
            <a:stCxn id="71" idx="2"/>
            <a:endCxn id="72" idx="0"/>
          </p:cNvCxnSpPr>
          <p:nvPr/>
        </p:nvCxnSpPr>
        <p:spPr>
          <a:xfrm>
            <a:off x="6551283" y="4841315"/>
            <a:ext cx="0" cy="2166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3" name="Text Box 14"/>
          <p:cNvSpPr txBox="1">
            <a:spLocks noChangeArrowheads="1"/>
          </p:cNvSpPr>
          <p:nvPr/>
        </p:nvSpPr>
        <p:spPr bwMode="auto">
          <a:xfrm>
            <a:off x="770647" y="5789479"/>
            <a:ext cx="3496553" cy="323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358" tIns="45678" rIns="91358" bIns="45678">
            <a:spAutoFit/>
          </a:bodyPr>
          <a:lstStyle/>
          <a:p>
            <a:pPr algn="ctr" eaLnBrk="1" hangingPunct="1">
              <a:spcBef>
                <a:spcPct val="50000"/>
              </a:spcBef>
            </a:pPr>
            <a:r>
              <a:rPr lang="en-US" sz="1500" i="1"/>
              <a:t>All of this happens 5x / day</a:t>
            </a:r>
          </a:p>
        </p:txBody>
      </p:sp>
    </p:spTree>
    <p:extLst>
      <p:ext uri="{BB962C8B-B14F-4D97-AF65-F5344CB8AC3E}">
        <p14:creationId xmlns:p14="http://schemas.microsoft.com/office/powerpoint/2010/main" val="4143882527"/>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Inventory</a:t>
            </a:r>
          </a:p>
        </p:txBody>
      </p:sp>
      <p:sp>
        <p:nvSpPr>
          <p:cNvPr id="3" name="Content Placeholder 2"/>
          <p:cNvSpPr>
            <a:spLocks noGrp="1"/>
          </p:cNvSpPr>
          <p:nvPr>
            <p:ph idx="1"/>
          </p:nvPr>
        </p:nvSpPr>
        <p:spPr/>
        <p:txBody>
          <a:bodyPr>
            <a:normAutofit lnSpcReduction="10000"/>
          </a:bodyPr>
          <a:lstStyle/>
          <a:p>
            <a:r>
              <a:rPr lang="en-US"/>
              <a:t>What is it?</a:t>
            </a:r>
          </a:p>
          <a:p>
            <a:pPr lvl="1"/>
            <a:r>
              <a:rPr lang="en-US"/>
              <a:t>Customer Accounts:  Tracks customer imbalances (used for invoicing later)</a:t>
            </a:r>
          </a:p>
          <a:p>
            <a:pPr lvl="2"/>
            <a:r>
              <a:rPr lang="en-US"/>
              <a:t>i.e. If we were allocated 400 </a:t>
            </a:r>
            <a:r>
              <a:rPr lang="en-US" err="1"/>
              <a:t>Dth</a:t>
            </a:r>
            <a:r>
              <a:rPr lang="en-US"/>
              <a:t> on at the receipt point, but took out 450 </a:t>
            </a:r>
            <a:r>
              <a:rPr lang="en-US" err="1"/>
              <a:t>Dth</a:t>
            </a:r>
            <a:r>
              <a:rPr lang="en-US"/>
              <a:t> at the delivery point, then my imbalance is -50 </a:t>
            </a:r>
            <a:r>
              <a:rPr lang="en-US" err="1"/>
              <a:t>Dth</a:t>
            </a:r>
            <a:r>
              <a:rPr lang="en-US"/>
              <a:t> (and I owe the pipeline)</a:t>
            </a:r>
          </a:p>
          <a:p>
            <a:pPr lvl="1"/>
            <a:r>
              <a:rPr lang="en-US"/>
              <a:t>Pipeline Inventory:  Tracks pipeline imbalances (used to evaluate fuel rates)</a:t>
            </a:r>
          </a:p>
          <a:p>
            <a:pPr lvl="7"/>
            <a:endParaRPr lang="en-US"/>
          </a:p>
          <a:p>
            <a:r>
              <a:rPr lang="en-US"/>
              <a:t>Who uses it?</a:t>
            </a:r>
          </a:p>
          <a:p>
            <a:pPr lvl="1"/>
            <a:r>
              <a:rPr lang="en-US">
                <a:solidFill>
                  <a:schemeClr val="tx1"/>
                </a:solidFill>
              </a:rPr>
              <a:t>Shippers track imbalances throughout the month; want a small imbalance to avoid additional charges</a:t>
            </a:r>
          </a:p>
          <a:p>
            <a:pPr lvl="1"/>
            <a:r>
              <a:rPr lang="en-US">
                <a:solidFill>
                  <a:schemeClr val="tx1"/>
                </a:solidFill>
              </a:rPr>
              <a:t>Pipeline operators evaluate gain and loss on the pipeline to ensure fuel rates are accurate</a:t>
            </a:r>
          </a:p>
          <a:p>
            <a:pPr lvl="4"/>
            <a:endParaRPr lang="en-US"/>
          </a:p>
          <a:p>
            <a:pPr lvl="1"/>
            <a:endParaRPr lang="en-US"/>
          </a:p>
        </p:txBody>
      </p:sp>
    </p:spTree>
    <p:extLst>
      <p:ext uri="{BB962C8B-B14F-4D97-AF65-F5344CB8AC3E}">
        <p14:creationId xmlns:p14="http://schemas.microsoft.com/office/powerpoint/2010/main" val="34110024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Text Box 2"/>
          <p:cNvSpPr txBox="1">
            <a:spLocks noChangeArrowheads="1"/>
          </p:cNvSpPr>
          <p:nvPr/>
        </p:nvSpPr>
        <p:spPr bwMode="auto">
          <a:xfrm>
            <a:off x="6994526" y="5548312"/>
            <a:ext cx="2530475" cy="627700"/>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358" tIns="45678" rIns="91358" bIns="45678">
            <a:spAutoFit/>
          </a:bodyPr>
          <a:lstStyle/>
          <a:p>
            <a:pPr algn="ctr" eaLnBrk="1" hangingPunct="1"/>
            <a:endParaRPr lang="en-US" sz="3400"/>
          </a:p>
        </p:txBody>
      </p:sp>
      <p:sp>
        <p:nvSpPr>
          <p:cNvPr id="357461" name="Rectangle 85"/>
          <p:cNvSpPr>
            <a:spLocks noGrp="1" noChangeArrowheads="1"/>
          </p:cNvSpPr>
          <p:nvPr>
            <p:ph type="title"/>
          </p:nvPr>
        </p:nvSpPr>
        <p:spPr>
          <a:noFill/>
          <a:ln/>
        </p:spPr>
        <p:txBody>
          <a:bodyPr/>
          <a:lstStyle/>
          <a:p>
            <a:r>
              <a:rPr lang="en-US"/>
              <a:t>QPTM System Flow</a:t>
            </a:r>
          </a:p>
        </p:txBody>
      </p:sp>
      <p:sp>
        <p:nvSpPr>
          <p:cNvPr id="54" name="Text Box 14"/>
          <p:cNvSpPr txBox="1">
            <a:spLocks noChangeArrowheads="1"/>
          </p:cNvSpPr>
          <p:nvPr/>
        </p:nvSpPr>
        <p:spPr bwMode="auto">
          <a:xfrm>
            <a:off x="457381" y="1337735"/>
            <a:ext cx="8229420" cy="646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358" tIns="45678" rIns="91358" bIns="45678">
            <a:spAutoFit/>
          </a:bodyPr>
          <a:lstStyle/>
          <a:p>
            <a:pPr algn="ctr" eaLnBrk="1" hangingPunct="1">
              <a:spcBef>
                <a:spcPct val="50000"/>
              </a:spcBef>
            </a:pPr>
            <a:r>
              <a:rPr lang="en-US" sz="1500" b="1">
                <a:effectLst>
                  <a:outerShdw blurRad="38100" dist="38100" dir="2700000" algn="tl">
                    <a:srgbClr val="C0C0C0"/>
                  </a:outerShdw>
                </a:effectLst>
              </a:rPr>
              <a:t>Master Data</a:t>
            </a:r>
          </a:p>
          <a:p>
            <a:pPr algn="ctr" eaLnBrk="1" hangingPunct="1">
              <a:spcBef>
                <a:spcPct val="50000"/>
              </a:spcBef>
            </a:pPr>
            <a:r>
              <a:rPr lang="en-US" sz="1400"/>
              <a:t>Contracts, Rates, Business Associates, Locations</a:t>
            </a:r>
          </a:p>
        </p:txBody>
      </p:sp>
      <p:sp>
        <p:nvSpPr>
          <p:cNvPr id="57" name="AutoShape 21"/>
          <p:cNvSpPr>
            <a:spLocks noChangeArrowheads="1"/>
          </p:cNvSpPr>
          <p:nvPr/>
        </p:nvSpPr>
        <p:spPr bwMode="auto">
          <a:xfrm>
            <a:off x="457380" y="1337736"/>
            <a:ext cx="8229420" cy="646246"/>
          </a:xfrm>
          <a:prstGeom prst="roundRect">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3" tIns="45717" rIns="91433" bIns="45717" anchor="ctr"/>
          <a:lstStyle/>
          <a:p>
            <a:endParaRPr lang="en-US"/>
          </a:p>
        </p:txBody>
      </p:sp>
      <p:cxnSp>
        <p:nvCxnSpPr>
          <p:cNvPr id="5" name="Straight Connector 4"/>
          <p:cNvCxnSpPr/>
          <p:nvPr/>
        </p:nvCxnSpPr>
        <p:spPr>
          <a:xfrm flipH="1">
            <a:off x="4530452" y="2149607"/>
            <a:ext cx="420" cy="4217326"/>
          </a:xfrm>
          <a:prstGeom prst="line">
            <a:avLst/>
          </a:prstGeom>
        </p:spPr>
        <p:style>
          <a:lnRef idx="1">
            <a:schemeClr val="accent1"/>
          </a:lnRef>
          <a:fillRef idx="0">
            <a:schemeClr val="accent1"/>
          </a:fillRef>
          <a:effectRef idx="0">
            <a:schemeClr val="accent1"/>
          </a:effectRef>
          <a:fontRef idx="minor">
            <a:schemeClr val="tx1"/>
          </a:fontRef>
        </p:style>
      </p:cxnSp>
      <p:sp>
        <p:nvSpPr>
          <p:cNvPr id="65" name="Text Box 14"/>
          <p:cNvSpPr txBox="1">
            <a:spLocks noChangeArrowheads="1"/>
          </p:cNvSpPr>
          <p:nvPr/>
        </p:nvSpPr>
        <p:spPr bwMode="auto">
          <a:xfrm>
            <a:off x="770649" y="2233852"/>
            <a:ext cx="3496553" cy="323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358" tIns="45678" rIns="91358" bIns="45678">
            <a:spAutoFit/>
          </a:bodyPr>
          <a:lstStyle/>
          <a:p>
            <a:pPr algn="ctr" eaLnBrk="1" hangingPunct="1">
              <a:spcBef>
                <a:spcPct val="50000"/>
              </a:spcBef>
            </a:pPr>
            <a:r>
              <a:rPr lang="en-US" sz="1500" b="1">
                <a:effectLst>
                  <a:outerShdw blurRad="38100" dist="38100" dir="2700000" algn="tl">
                    <a:srgbClr val="C0C0C0"/>
                  </a:outerShdw>
                </a:effectLst>
              </a:rPr>
              <a:t>Pre-Flow</a:t>
            </a:r>
          </a:p>
        </p:txBody>
      </p:sp>
      <p:sp>
        <p:nvSpPr>
          <p:cNvPr id="66" name="Text Box 14"/>
          <p:cNvSpPr txBox="1">
            <a:spLocks noChangeArrowheads="1"/>
          </p:cNvSpPr>
          <p:nvPr/>
        </p:nvSpPr>
        <p:spPr bwMode="auto">
          <a:xfrm>
            <a:off x="5843564" y="2239886"/>
            <a:ext cx="1415437" cy="323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358" tIns="45678" rIns="91358" bIns="45678">
            <a:spAutoFit/>
          </a:bodyPr>
          <a:lstStyle/>
          <a:p>
            <a:pPr algn="ctr" eaLnBrk="1" hangingPunct="1">
              <a:spcBef>
                <a:spcPct val="50000"/>
              </a:spcBef>
            </a:pPr>
            <a:r>
              <a:rPr lang="en-US" sz="1500" b="1">
                <a:effectLst>
                  <a:outerShdw blurRad="38100" dist="38100" dir="2700000" algn="tl">
                    <a:srgbClr val="C0C0C0"/>
                  </a:outerShdw>
                </a:effectLst>
              </a:rPr>
              <a:t>Post-Flow</a:t>
            </a:r>
          </a:p>
        </p:txBody>
      </p:sp>
      <p:sp>
        <p:nvSpPr>
          <p:cNvPr id="67" name="AutoShape 32"/>
          <p:cNvSpPr>
            <a:spLocks noChangeArrowheads="1"/>
          </p:cNvSpPr>
          <p:nvPr/>
        </p:nvSpPr>
        <p:spPr bwMode="auto">
          <a:xfrm>
            <a:off x="770649" y="2715817"/>
            <a:ext cx="3496553" cy="705241"/>
          </a:xfrm>
          <a:prstGeom prst="roundRect">
            <a:avLst>
              <a:gd name="adj" fmla="val 16667"/>
            </a:avLst>
          </a:prstGeom>
          <a:gradFill rotWithShape="1">
            <a:gsLst>
              <a:gs pos="0">
                <a:srgbClr val="33CC33"/>
              </a:gs>
              <a:gs pos="50000">
                <a:srgbClr val="33CC33">
                  <a:gamma/>
                  <a:shade val="76078"/>
                  <a:invGamma/>
                </a:srgbClr>
              </a:gs>
              <a:gs pos="100000">
                <a:srgbClr val="33CC33"/>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p>
            <a:pPr algn="ctr"/>
            <a:r>
              <a:rPr lang="en-US" sz="1200" b="1">
                <a:solidFill>
                  <a:schemeClr val="bg1"/>
                </a:solidFill>
              </a:rPr>
              <a:t>Nominations</a:t>
            </a:r>
          </a:p>
          <a:p>
            <a:pPr algn="ctr"/>
            <a:r>
              <a:rPr lang="en-US" sz="1200">
                <a:solidFill>
                  <a:schemeClr val="bg1"/>
                </a:solidFill>
              </a:rPr>
              <a:t>Shipper (external) requesting when, where and how much gas they want to move</a:t>
            </a:r>
          </a:p>
        </p:txBody>
      </p:sp>
      <p:sp>
        <p:nvSpPr>
          <p:cNvPr id="68" name="AutoShape 25"/>
          <p:cNvSpPr>
            <a:spLocks noChangeArrowheads="1"/>
          </p:cNvSpPr>
          <p:nvPr/>
        </p:nvSpPr>
        <p:spPr bwMode="auto">
          <a:xfrm>
            <a:off x="770649" y="3740371"/>
            <a:ext cx="3496553" cy="705241"/>
          </a:xfrm>
          <a:prstGeom prst="roundRect">
            <a:avLst>
              <a:gd name="adj" fmla="val 16667"/>
            </a:avLst>
          </a:prstGeom>
          <a:gradFill rotWithShape="1">
            <a:gsLst>
              <a:gs pos="0">
                <a:srgbClr val="33CC33"/>
              </a:gs>
              <a:gs pos="50000">
                <a:srgbClr val="33CC33">
                  <a:gamma/>
                  <a:shade val="76078"/>
                  <a:invGamma/>
                </a:srgbClr>
              </a:gs>
              <a:gs pos="100000">
                <a:srgbClr val="33CC33"/>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p>
            <a:pPr algn="ctr"/>
            <a:r>
              <a:rPr lang="en-US" sz="1200" b="1">
                <a:solidFill>
                  <a:schemeClr val="bg1"/>
                </a:solidFill>
              </a:rPr>
              <a:t>Confirmations</a:t>
            </a:r>
          </a:p>
          <a:p>
            <a:pPr algn="ctr"/>
            <a:r>
              <a:rPr lang="en-US" sz="1200">
                <a:solidFill>
                  <a:schemeClr val="bg1"/>
                </a:solidFill>
              </a:rPr>
              <a:t>Interconnect operator (external) reconciling requests from both pipelines</a:t>
            </a:r>
          </a:p>
        </p:txBody>
      </p:sp>
      <p:sp>
        <p:nvSpPr>
          <p:cNvPr id="69" name="AutoShape 35"/>
          <p:cNvSpPr>
            <a:spLocks noChangeArrowheads="1"/>
          </p:cNvSpPr>
          <p:nvPr/>
        </p:nvSpPr>
        <p:spPr bwMode="auto">
          <a:xfrm>
            <a:off x="770648" y="4764925"/>
            <a:ext cx="3496553" cy="709577"/>
          </a:xfrm>
          <a:prstGeom prst="roundRect">
            <a:avLst>
              <a:gd name="adj" fmla="val 16667"/>
            </a:avLst>
          </a:prstGeom>
          <a:gradFill rotWithShape="1">
            <a:gsLst>
              <a:gs pos="0">
                <a:srgbClr val="33CC33"/>
              </a:gs>
              <a:gs pos="50000">
                <a:srgbClr val="33CC33">
                  <a:gamma/>
                  <a:shade val="76078"/>
                  <a:invGamma/>
                </a:srgbClr>
              </a:gs>
              <a:gs pos="100000">
                <a:srgbClr val="33CC33"/>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p>
            <a:pPr algn="ctr"/>
            <a:r>
              <a:rPr lang="en-US" sz="1200" b="1">
                <a:solidFill>
                  <a:schemeClr val="bg1"/>
                </a:solidFill>
              </a:rPr>
              <a:t>Capacity Allocations</a:t>
            </a:r>
          </a:p>
          <a:p>
            <a:pPr algn="ctr"/>
            <a:r>
              <a:rPr lang="en-US" sz="1200">
                <a:solidFill>
                  <a:schemeClr val="bg1"/>
                </a:solidFill>
              </a:rPr>
              <a:t>Pipeline operator making sure there is enough capacity and making cuts</a:t>
            </a:r>
          </a:p>
        </p:txBody>
      </p:sp>
      <p:sp>
        <p:nvSpPr>
          <p:cNvPr id="70" name="AutoShape 28"/>
          <p:cNvSpPr>
            <a:spLocks noChangeArrowheads="1"/>
          </p:cNvSpPr>
          <p:nvPr/>
        </p:nvSpPr>
        <p:spPr bwMode="auto">
          <a:xfrm>
            <a:off x="5885847" y="3530698"/>
            <a:ext cx="1329197" cy="559537"/>
          </a:xfrm>
          <a:prstGeom prst="roundRect">
            <a:avLst>
              <a:gd name="adj" fmla="val 16667"/>
            </a:avLst>
          </a:prstGeom>
          <a:gradFill rotWithShape="1">
            <a:gsLst>
              <a:gs pos="0">
                <a:srgbClr val="0000FF">
                  <a:gamma/>
                  <a:shade val="76078"/>
                  <a:invGamma/>
                </a:srgbClr>
              </a:gs>
              <a:gs pos="50000">
                <a:srgbClr val="0000FF"/>
              </a:gs>
              <a:gs pos="100000">
                <a:srgbClr val="0000FF">
                  <a:gamma/>
                  <a:shade val="76078"/>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200" b="1">
                <a:solidFill>
                  <a:schemeClr val="bg1"/>
                </a:solidFill>
              </a:rPr>
              <a:t>Allocations</a:t>
            </a:r>
          </a:p>
        </p:txBody>
      </p:sp>
      <p:sp>
        <p:nvSpPr>
          <p:cNvPr id="71" name="AutoShape 53"/>
          <p:cNvSpPr>
            <a:spLocks noChangeArrowheads="1"/>
          </p:cNvSpPr>
          <p:nvPr/>
        </p:nvSpPr>
        <p:spPr bwMode="auto">
          <a:xfrm>
            <a:off x="5885847" y="4281779"/>
            <a:ext cx="1330871" cy="559536"/>
          </a:xfrm>
          <a:prstGeom prst="roundRect">
            <a:avLst>
              <a:gd name="adj" fmla="val 16667"/>
            </a:avLst>
          </a:prstGeom>
          <a:gradFill rotWithShape="1">
            <a:gsLst>
              <a:gs pos="0">
                <a:srgbClr val="0000FF">
                  <a:gamma/>
                  <a:shade val="76078"/>
                  <a:invGamma/>
                </a:srgbClr>
              </a:gs>
              <a:gs pos="50000">
                <a:srgbClr val="0000FF"/>
              </a:gs>
              <a:gs pos="100000">
                <a:srgbClr val="0000FF">
                  <a:gamma/>
                  <a:shade val="76078"/>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200" b="1">
                <a:solidFill>
                  <a:schemeClr val="bg1"/>
                </a:solidFill>
              </a:rPr>
              <a:t>Inventory</a:t>
            </a:r>
          </a:p>
        </p:txBody>
      </p:sp>
      <p:sp>
        <p:nvSpPr>
          <p:cNvPr id="72" name="AutoShape 50"/>
          <p:cNvSpPr>
            <a:spLocks noChangeArrowheads="1"/>
          </p:cNvSpPr>
          <p:nvPr/>
        </p:nvSpPr>
        <p:spPr bwMode="auto">
          <a:xfrm>
            <a:off x="5885847" y="5057966"/>
            <a:ext cx="1330871" cy="571441"/>
          </a:xfrm>
          <a:prstGeom prst="roundRect">
            <a:avLst>
              <a:gd name="adj" fmla="val 16667"/>
            </a:avLst>
          </a:prstGeom>
          <a:gradFill rotWithShape="1">
            <a:gsLst>
              <a:gs pos="0">
                <a:srgbClr val="0000FF">
                  <a:gamma/>
                  <a:shade val="76078"/>
                  <a:invGamma/>
                </a:srgbClr>
              </a:gs>
              <a:gs pos="50000">
                <a:srgbClr val="0000FF"/>
              </a:gs>
              <a:gs pos="100000">
                <a:srgbClr val="0000FF">
                  <a:gamma/>
                  <a:shade val="76078"/>
                  <a:invGamma/>
                </a:srgbClr>
              </a:gs>
            </a:gsLst>
            <a:lin ang="5400000" scaled="1"/>
          </a:gradFill>
          <a:ln w="762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200" b="1">
                <a:solidFill>
                  <a:schemeClr val="bg1"/>
                </a:solidFill>
              </a:rPr>
              <a:t>Invoicing</a:t>
            </a:r>
          </a:p>
        </p:txBody>
      </p:sp>
      <p:cxnSp>
        <p:nvCxnSpPr>
          <p:cNvPr id="10" name="Straight Arrow Connector 9"/>
          <p:cNvCxnSpPr>
            <a:stCxn id="67" idx="2"/>
            <a:endCxn id="68" idx="0"/>
          </p:cNvCxnSpPr>
          <p:nvPr/>
        </p:nvCxnSpPr>
        <p:spPr>
          <a:xfrm>
            <a:off x="2518926" y="3421058"/>
            <a:ext cx="0" cy="3193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stCxn id="68" idx="2"/>
            <a:endCxn id="69" idx="0"/>
          </p:cNvCxnSpPr>
          <p:nvPr/>
        </p:nvCxnSpPr>
        <p:spPr>
          <a:xfrm flipH="1">
            <a:off x="2518925" y="4445612"/>
            <a:ext cx="1" cy="3193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2" name="AutoShape 50"/>
          <p:cNvSpPr>
            <a:spLocks noChangeArrowheads="1"/>
          </p:cNvSpPr>
          <p:nvPr/>
        </p:nvSpPr>
        <p:spPr bwMode="auto">
          <a:xfrm>
            <a:off x="5885847" y="2725988"/>
            <a:ext cx="1330871" cy="559537"/>
          </a:xfrm>
          <a:prstGeom prst="roundRect">
            <a:avLst>
              <a:gd name="adj" fmla="val 16667"/>
            </a:avLst>
          </a:prstGeom>
          <a:gradFill rotWithShape="1">
            <a:gsLst>
              <a:gs pos="0">
                <a:srgbClr val="FF9933">
                  <a:gamma/>
                  <a:shade val="66275"/>
                  <a:invGamma/>
                </a:srgbClr>
              </a:gs>
              <a:gs pos="50000">
                <a:srgbClr val="FF9933"/>
              </a:gs>
              <a:gs pos="100000">
                <a:srgbClr val="FF9933">
                  <a:gamma/>
                  <a:shade val="6627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p>
            <a:pPr algn="ctr"/>
            <a:r>
              <a:rPr lang="en-US" sz="1200" b="1">
                <a:solidFill>
                  <a:schemeClr val="bg1"/>
                </a:solidFill>
              </a:rPr>
              <a:t>Measurement Interface</a:t>
            </a:r>
          </a:p>
        </p:txBody>
      </p:sp>
      <p:cxnSp>
        <p:nvCxnSpPr>
          <p:cNvPr id="83" name="Straight Arrow Connector 82"/>
          <p:cNvCxnSpPr>
            <a:stCxn id="82" idx="2"/>
            <a:endCxn id="70" idx="0"/>
          </p:cNvCxnSpPr>
          <p:nvPr/>
        </p:nvCxnSpPr>
        <p:spPr>
          <a:xfrm flipH="1">
            <a:off x="6550446" y="3285525"/>
            <a:ext cx="837" cy="2451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a:stCxn id="70" idx="2"/>
            <a:endCxn id="71" idx="0"/>
          </p:cNvCxnSpPr>
          <p:nvPr/>
        </p:nvCxnSpPr>
        <p:spPr>
          <a:xfrm>
            <a:off x="6550446" y="4090235"/>
            <a:ext cx="837" cy="1915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p:cNvCxnSpPr>
            <a:stCxn id="71" idx="2"/>
            <a:endCxn id="72" idx="0"/>
          </p:cNvCxnSpPr>
          <p:nvPr/>
        </p:nvCxnSpPr>
        <p:spPr>
          <a:xfrm>
            <a:off x="6551283" y="4841315"/>
            <a:ext cx="0" cy="2166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3" name="Text Box 14"/>
          <p:cNvSpPr txBox="1">
            <a:spLocks noChangeArrowheads="1"/>
          </p:cNvSpPr>
          <p:nvPr/>
        </p:nvSpPr>
        <p:spPr bwMode="auto">
          <a:xfrm>
            <a:off x="770647" y="5789479"/>
            <a:ext cx="3496553" cy="323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358" tIns="45678" rIns="91358" bIns="45678">
            <a:spAutoFit/>
          </a:bodyPr>
          <a:lstStyle/>
          <a:p>
            <a:pPr algn="ctr" eaLnBrk="1" hangingPunct="1">
              <a:spcBef>
                <a:spcPct val="50000"/>
              </a:spcBef>
            </a:pPr>
            <a:r>
              <a:rPr lang="en-US" sz="1500" i="1"/>
              <a:t>All of this happens 5x / day</a:t>
            </a:r>
          </a:p>
        </p:txBody>
      </p:sp>
    </p:spTree>
    <p:extLst>
      <p:ext uri="{BB962C8B-B14F-4D97-AF65-F5344CB8AC3E}">
        <p14:creationId xmlns:p14="http://schemas.microsoft.com/office/powerpoint/2010/main" val="3862631356"/>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61F01-3542-3538-7955-DFF86C20FA0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EEE3EFB-8B9A-990F-AC7A-81D326C8186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5901035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Billing</a:t>
            </a:r>
          </a:p>
        </p:txBody>
      </p:sp>
      <p:sp>
        <p:nvSpPr>
          <p:cNvPr id="3" name="Content Placeholder 2"/>
          <p:cNvSpPr>
            <a:spLocks noGrp="1"/>
          </p:cNvSpPr>
          <p:nvPr>
            <p:ph idx="1"/>
          </p:nvPr>
        </p:nvSpPr>
        <p:spPr/>
        <p:txBody>
          <a:bodyPr>
            <a:normAutofit/>
          </a:bodyPr>
          <a:lstStyle/>
          <a:p>
            <a:r>
              <a:rPr lang="en-US"/>
              <a:t>What is it?</a:t>
            </a:r>
          </a:p>
          <a:p>
            <a:pPr lvl="1"/>
            <a:r>
              <a:rPr lang="en-US"/>
              <a:t>How our clients get paid!</a:t>
            </a:r>
          </a:p>
          <a:p>
            <a:pPr lvl="1"/>
            <a:r>
              <a:rPr lang="en-US"/>
              <a:t>The TSP matches the rates we created earlier against our Allocated quantities, other contractual obligations, and imbalances from earlier to create invoices and bill the TSP’s customers</a:t>
            </a:r>
          </a:p>
          <a:p>
            <a:pPr lvl="7"/>
            <a:endParaRPr lang="en-US"/>
          </a:p>
          <a:p>
            <a:r>
              <a:rPr lang="en-US"/>
              <a:t>Who uses it?</a:t>
            </a:r>
          </a:p>
          <a:p>
            <a:pPr lvl="1"/>
            <a:r>
              <a:rPr lang="en-US"/>
              <a:t>Internal accountants prepare and verify the invoices</a:t>
            </a:r>
          </a:p>
          <a:p>
            <a:pPr lvl="1"/>
            <a:r>
              <a:rPr lang="en-US"/>
              <a:t>Shippers log into CAW to view and receive the invoices</a:t>
            </a:r>
          </a:p>
          <a:p>
            <a:pPr lvl="1"/>
            <a:endParaRPr lang="en-US"/>
          </a:p>
        </p:txBody>
      </p:sp>
    </p:spTree>
    <p:extLst>
      <p:ext uri="{BB962C8B-B14F-4D97-AF65-F5344CB8AC3E}">
        <p14:creationId xmlns:p14="http://schemas.microsoft.com/office/powerpoint/2010/main" val="34110024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Text Box 2"/>
          <p:cNvSpPr txBox="1">
            <a:spLocks noChangeArrowheads="1"/>
          </p:cNvSpPr>
          <p:nvPr/>
        </p:nvSpPr>
        <p:spPr bwMode="auto">
          <a:xfrm>
            <a:off x="6994526" y="5548312"/>
            <a:ext cx="2530475" cy="627700"/>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358" tIns="45678" rIns="91358" bIns="45678">
            <a:spAutoFit/>
          </a:bodyPr>
          <a:lstStyle/>
          <a:p>
            <a:pPr algn="ctr" eaLnBrk="1" hangingPunct="1"/>
            <a:endParaRPr lang="en-US" sz="3400"/>
          </a:p>
        </p:txBody>
      </p:sp>
      <p:sp>
        <p:nvSpPr>
          <p:cNvPr id="357461" name="Rectangle 85"/>
          <p:cNvSpPr>
            <a:spLocks noGrp="1" noChangeArrowheads="1"/>
          </p:cNvSpPr>
          <p:nvPr>
            <p:ph type="title"/>
          </p:nvPr>
        </p:nvSpPr>
        <p:spPr>
          <a:noFill/>
          <a:ln/>
        </p:spPr>
        <p:txBody>
          <a:bodyPr/>
          <a:lstStyle/>
          <a:p>
            <a:r>
              <a:rPr lang="en-US"/>
              <a:t>QPTM System Flow</a:t>
            </a:r>
          </a:p>
        </p:txBody>
      </p:sp>
      <p:sp>
        <p:nvSpPr>
          <p:cNvPr id="54" name="Text Box 14"/>
          <p:cNvSpPr txBox="1">
            <a:spLocks noChangeArrowheads="1"/>
          </p:cNvSpPr>
          <p:nvPr/>
        </p:nvSpPr>
        <p:spPr bwMode="auto">
          <a:xfrm>
            <a:off x="457381" y="1337735"/>
            <a:ext cx="8229420" cy="646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358" tIns="45678" rIns="91358" bIns="45678">
            <a:spAutoFit/>
          </a:bodyPr>
          <a:lstStyle/>
          <a:p>
            <a:pPr algn="ctr" eaLnBrk="1" hangingPunct="1">
              <a:spcBef>
                <a:spcPct val="50000"/>
              </a:spcBef>
            </a:pPr>
            <a:r>
              <a:rPr lang="en-US" sz="1500" b="1">
                <a:effectLst>
                  <a:outerShdw blurRad="38100" dist="38100" dir="2700000" algn="tl">
                    <a:srgbClr val="C0C0C0"/>
                  </a:outerShdw>
                </a:effectLst>
              </a:rPr>
              <a:t>Master Data</a:t>
            </a:r>
          </a:p>
          <a:p>
            <a:pPr algn="ctr" eaLnBrk="1" hangingPunct="1">
              <a:spcBef>
                <a:spcPct val="50000"/>
              </a:spcBef>
            </a:pPr>
            <a:r>
              <a:rPr lang="en-US" sz="1400"/>
              <a:t>Contracts, Rates, Business Associates, Locations</a:t>
            </a:r>
          </a:p>
        </p:txBody>
      </p:sp>
      <p:sp>
        <p:nvSpPr>
          <p:cNvPr id="57" name="AutoShape 21"/>
          <p:cNvSpPr>
            <a:spLocks noChangeArrowheads="1"/>
          </p:cNvSpPr>
          <p:nvPr/>
        </p:nvSpPr>
        <p:spPr bwMode="auto">
          <a:xfrm>
            <a:off x="457380" y="1337736"/>
            <a:ext cx="8229420" cy="646246"/>
          </a:xfrm>
          <a:prstGeom prst="roundRect">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3" tIns="45717" rIns="91433" bIns="45717" anchor="ctr"/>
          <a:lstStyle/>
          <a:p>
            <a:endParaRPr lang="en-US"/>
          </a:p>
        </p:txBody>
      </p:sp>
      <p:cxnSp>
        <p:nvCxnSpPr>
          <p:cNvPr id="5" name="Straight Connector 4"/>
          <p:cNvCxnSpPr/>
          <p:nvPr/>
        </p:nvCxnSpPr>
        <p:spPr>
          <a:xfrm flipH="1">
            <a:off x="4530452" y="2149607"/>
            <a:ext cx="420" cy="4217326"/>
          </a:xfrm>
          <a:prstGeom prst="line">
            <a:avLst/>
          </a:prstGeom>
        </p:spPr>
        <p:style>
          <a:lnRef idx="1">
            <a:schemeClr val="accent1"/>
          </a:lnRef>
          <a:fillRef idx="0">
            <a:schemeClr val="accent1"/>
          </a:fillRef>
          <a:effectRef idx="0">
            <a:schemeClr val="accent1"/>
          </a:effectRef>
          <a:fontRef idx="minor">
            <a:schemeClr val="tx1"/>
          </a:fontRef>
        </p:style>
      </p:cxnSp>
      <p:sp>
        <p:nvSpPr>
          <p:cNvPr id="65" name="Text Box 14"/>
          <p:cNvSpPr txBox="1">
            <a:spLocks noChangeArrowheads="1"/>
          </p:cNvSpPr>
          <p:nvPr/>
        </p:nvSpPr>
        <p:spPr bwMode="auto">
          <a:xfrm>
            <a:off x="770649" y="2233852"/>
            <a:ext cx="3496553" cy="323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358" tIns="45678" rIns="91358" bIns="45678">
            <a:spAutoFit/>
          </a:bodyPr>
          <a:lstStyle/>
          <a:p>
            <a:pPr algn="ctr" eaLnBrk="1" hangingPunct="1">
              <a:spcBef>
                <a:spcPct val="50000"/>
              </a:spcBef>
            </a:pPr>
            <a:r>
              <a:rPr lang="en-US" sz="1500" b="1">
                <a:effectLst>
                  <a:outerShdw blurRad="38100" dist="38100" dir="2700000" algn="tl">
                    <a:srgbClr val="C0C0C0"/>
                  </a:outerShdw>
                </a:effectLst>
              </a:rPr>
              <a:t>Pre-Flow</a:t>
            </a:r>
          </a:p>
        </p:txBody>
      </p:sp>
      <p:sp>
        <p:nvSpPr>
          <p:cNvPr id="66" name="Text Box 14"/>
          <p:cNvSpPr txBox="1">
            <a:spLocks noChangeArrowheads="1"/>
          </p:cNvSpPr>
          <p:nvPr/>
        </p:nvSpPr>
        <p:spPr bwMode="auto">
          <a:xfrm>
            <a:off x="5843564" y="2239886"/>
            <a:ext cx="1415437" cy="323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358" tIns="45678" rIns="91358" bIns="45678">
            <a:spAutoFit/>
          </a:bodyPr>
          <a:lstStyle/>
          <a:p>
            <a:pPr algn="ctr" eaLnBrk="1" hangingPunct="1">
              <a:spcBef>
                <a:spcPct val="50000"/>
              </a:spcBef>
            </a:pPr>
            <a:r>
              <a:rPr lang="en-US" sz="1500" b="1">
                <a:effectLst>
                  <a:outerShdw blurRad="38100" dist="38100" dir="2700000" algn="tl">
                    <a:srgbClr val="C0C0C0"/>
                  </a:outerShdw>
                </a:effectLst>
              </a:rPr>
              <a:t>Post-Flow</a:t>
            </a:r>
          </a:p>
        </p:txBody>
      </p:sp>
      <p:sp>
        <p:nvSpPr>
          <p:cNvPr id="67" name="AutoShape 32"/>
          <p:cNvSpPr>
            <a:spLocks noChangeArrowheads="1"/>
          </p:cNvSpPr>
          <p:nvPr/>
        </p:nvSpPr>
        <p:spPr bwMode="auto">
          <a:xfrm>
            <a:off x="770649" y="2715817"/>
            <a:ext cx="3496553" cy="705241"/>
          </a:xfrm>
          <a:prstGeom prst="roundRect">
            <a:avLst>
              <a:gd name="adj" fmla="val 16667"/>
            </a:avLst>
          </a:prstGeom>
          <a:gradFill rotWithShape="1">
            <a:gsLst>
              <a:gs pos="0">
                <a:srgbClr val="33CC33"/>
              </a:gs>
              <a:gs pos="50000">
                <a:srgbClr val="33CC33">
                  <a:gamma/>
                  <a:shade val="76078"/>
                  <a:invGamma/>
                </a:srgbClr>
              </a:gs>
              <a:gs pos="100000">
                <a:srgbClr val="33CC33"/>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p>
            <a:pPr algn="ctr"/>
            <a:r>
              <a:rPr lang="en-US" sz="1200" b="1">
                <a:solidFill>
                  <a:schemeClr val="bg1"/>
                </a:solidFill>
              </a:rPr>
              <a:t>Nominations</a:t>
            </a:r>
          </a:p>
          <a:p>
            <a:pPr algn="ctr"/>
            <a:r>
              <a:rPr lang="en-US" sz="1200">
                <a:solidFill>
                  <a:schemeClr val="bg1"/>
                </a:solidFill>
              </a:rPr>
              <a:t>Shipper (external) requesting when, where and how much gas they want to move</a:t>
            </a:r>
          </a:p>
        </p:txBody>
      </p:sp>
      <p:sp>
        <p:nvSpPr>
          <p:cNvPr id="68" name="AutoShape 25"/>
          <p:cNvSpPr>
            <a:spLocks noChangeArrowheads="1"/>
          </p:cNvSpPr>
          <p:nvPr/>
        </p:nvSpPr>
        <p:spPr bwMode="auto">
          <a:xfrm>
            <a:off x="770649" y="3740371"/>
            <a:ext cx="3496553" cy="705241"/>
          </a:xfrm>
          <a:prstGeom prst="roundRect">
            <a:avLst>
              <a:gd name="adj" fmla="val 16667"/>
            </a:avLst>
          </a:prstGeom>
          <a:gradFill rotWithShape="1">
            <a:gsLst>
              <a:gs pos="0">
                <a:srgbClr val="33CC33"/>
              </a:gs>
              <a:gs pos="50000">
                <a:srgbClr val="33CC33">
                  <a:gamma/>
                  <a:shade val="76078"/>
                  <a:invGamma/>
                </a:srgbClr>
              </a:gs>
              <a:gs pos="100000">
                <a:srgbClr val="33CC33"/>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p>
            <a:pPr algn="ctr"/>
            <a:r>
              <a:rPr lang="en-US" sz="1200" b="1">
                <a:solidFill>
                  <a:schemeClr val="bg1"/>
                </a:solidFill>
              </a:rPr>
              <a:t>Confirmations</a:t>
            </a:r>
          </a:p>
          <a:p>
            <a:pPr algn="ctr"/>
            <a:r>
              <a:rPr lang="en-US" sz="1200">
                <a:solidFill>
                  <a:schemeClr val="bg1"/>
                </a:solidFill>
              </a:rPr>
              <a:t>Interconnect operator (external) reconciling requests from both pipelines</a:t>
            </a:r>
          </a:p>
        </p:txBody>
      </p:sp>
      <p:sp>
        <p:nvSpPr>
          <p:cNvPr id="69" name="AutoShape 35"/>
          <p:cNvSpPr>
            <a:spLocks noChangeArrowheads="1"/>
          </p:cNvSpPr>
          <p:nvPr/>
        </p:nvSpPr>
        <p:spPr bwMode="auto">
          <a:xfrm>
            <a:off x="770648" y="4764925"/>
            <a:ext cx="3496553" cy="709577"/>
          </a:xfrm>
          <a:prstGeom prst="roundRect">
            <a:avLst>
              <a:gd name="adj" fmla="val 16667"/>
            </a:avLst>
          </a:prstGeom>
          <a:gradFill rotWithShape="1">
            <a:gsLst>
              <a:gs pos="0">
                <a:srgbClr val="33CC33"/>
              </a:gs>
              <a:gs pos="50000">
                <a:srgbClr val="33CC33">
                  <a:gamma/>
                  <a:shade val="76078"/>
                  <a:invGamma/>
                </a:srgbClr>
              </a:gs>
              <a:gs pos="100000">
                <a:srgbClr val="33CC33"/>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p>
            <a:pPr algn="ctr"/>
            <a:r>
              <a:rPr lang="en-US" sz="1200" b="1">
                <a:solidFill>
                  <a:schemeClr val="bg1"/>
                </a:solidFill>
              </a:rPr>
              <a:t>Capacity Allocations</a:t>
            </a:r>
          </a:p>
          <a:p>
            <a:pPr algn="ctr"/>
            <a:r>
              <a:rPr lang="en-US" sz="1200">
                <a:solidFill>
                  <a:schemeClr val="bg1"/>
                </a:solidFill>
              </a:rPr>
              <a:t>Pipeline operator making sure there is enough capacity and making cuts</a:t>
            </a:r>
          </a:p>
        </p:txBody>
      </p:sp>
      <p:sp>
        <p:nvSpPr>
          <p:cNvPr id="70" name="AutoShape 28"/>
          <p:cNvSpPr>
            <a:spLocks noChangeArrowheads="1"/>
          </p:cNvSpPr>
          <p:nvPr/>
        </p:nvSpPr>
        <p:spPr bwMode="auto">
          <a:xfrm>
            <a:off x="5885847" y="3530698"/>
            <a:ext cx="1329197" cy="559537"/>
          </a:xfrm>
          <a:prstGeom prst="roundRect">
            <a:avLst>
              <a:gd name="adj" fmla="val 16667"/>
            </a:avLst>
          </a:prstGeom>
          <a:gradFill rotWithShape="1">
            <a:gsLst>
              <a:gs pos="0">
                <a:srgbClr val="0000FF">
                  <a:gamma/>
                  <a:shade val="76078"/>
                  <a:invGamma/>
                </a:srgbClr>
              </a:gs>
              <a:gs pos="50000">
                <a:srgbClr val="0000FF"/>
              </a:gs>
              <a:gs pos="100000">
                <a:srgbClr val="0000FF">
                  <a:gamma/>
                  <a:shade val="76078"/>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200" b="1">
                <a:solidFill>
                  <a:schemeClr val="bg1"/>
                </a:solidFill>
              </a:rPr>
              <a:t>Allocations</a:t>
            </a:r>
          </a:p>
        </p:txBody>
      </p:sp>
      <p:sp>
        <p:nvSpPr>
          <p:cNvPr id="71" name="AutoShape 53"/>
          <p:cNvSpPr>
            <a:spLocks noChangeArrowheads="1"/>
          </p:cNvSpPr>
          <p:nvPr/>
        </p:nvSpPr>
        <p:spPr bwMode="auto">
          <a:xfrm>
            <a:off x="5885847" y="4281779"/>
            <a:ext cx="1330871" cy="559536"/>
          </a:xfrm>
          <a:prstGeom prst="roundRect">
            <a:avLst>
              <a:gd name="adj" fmla="val 16667"/>
            </a:avLst>
          </a:prstGeom>
          <a:gradFill rotWithShape="1">
            <a:gsLst>
              <a:gs pos="0">
                <a:srgbClr val="0000FF">
                  <a:gamma/>
                  <a:shade val="76078"/>
                  <a:invGamma/>
                </a:srgbClr>
              </a:gs>
              <a:gs pos="50000">
                <a:srgbClr val="0000FF"/>
              </a:gs>
              <a:gs pos="100000">
                <a:srgbClr val="0000FF">
                  <a:gamma/>
                  <a:shade val="76078"/>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200" b="1">
                <a:solidFill>
                  <a:schemeClr val="bg1"/>
                </a:solidFill>
              </a:rPr>
              <a:t>Inventory</a:t>
            </a:r>
          </a:p>
        </p:txBody>
      </p:sp>
      <p:sp>
        <p:nvSpPr>
          <p:cNvPr id="72" name="AutoShape 50"/>
          <p:cNvSpPr>
            <a:spLocks noChangeArrowheads="1"/>
          </p:cNvSpPr>
          <p:nvPr/>
        </p:nvSpPr>
        <p:spPr bwMode="auto">
          <a:xfrm>
            <a:off x="5885847" y="5057966"/>
            <a:ext cx="1330871" cy="571441"/>
          </a:xfrm>
          <a:prstGeom prst="roundRect">
            <a:avLst>
              <a:gd name="adj" fmla="val 16667"/>
            </a:avLst>
          </a:prstGeom>
          <a:gradFill rotWithShape="1">
            <a:gsLst>
              <a:gs pos="0">
                <a:srgbClr val="0000FF">
                  <a:gamma/>
                  <a:shade val="76078"/>
                  <a:invGamma/>
                </a:srgbClr>
              </a:gs>
              <a:gs pos="50000">
                <a:srgbClr val="0000FF"/>
              </a:gs>
              <a:gs pos="100000">
                <a:srgbClr val="0000FF">
                  <a:gamma/>
                  <a:shade val="76078"/>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200" b="1">
                <a:solidFill>
                  <a:schemeClr val="bg1"/>
                </a:solidFill>
              </a:rPr>
              <a:t>Invoicing</a:t>
            </a:r>
          </a:p>
        </p:txBody>
      </p:sp>
      <p:cxnSp>
        <p:nvCxnSpPr>
          <p:cNvPr id="10" name="Straight Arrow Connector 9"/>
          <p:cNvCxnSpPr>
            <a:stCxn id="67" idx="2"/>
            <a:endCxn id="68" idx="0"/>
          </p:cNvCxnSpPr>
          <p:nvPr/>
        </p:nvCxnSpPr>
        <p:spPr>
          <a:xfrm>
            <a:off x="2518926" y="3421058"/>
            <a:ext cx="0" cy="3193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stCxn id="68" idx="2"/>
            <a:endCxn id="69" idx="0"/>
          </p:cNvCxnSpPr>
          <p:nvPr/>
        </p:nvCxnSpPr>
        <p:spPr>
          <a:xfrm flipH="1">
            <a:off x="2518925" y="4445612"/>
            <a:ext cx="1" cy="3193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2" name="AutoShape 50"/>
          <p:cNvSpPr>
            <a:spLocks noChangeArrowheads="1"/>
          </p:cNvSpPr>
          <p:nvPr/>
        </p:nvSpPr>
        <p:spPr bwMode="auto">
          <a:xfrm>
            <a:off x="5885847" y="2725988"/>
            <a:ext cx="1330871" cy="559537"/>
          </a:xfrm>
          <a:prstGeom prst="roundRect">
            <a:avLst>
              <a:gd name="adj" fmla="val 16667"/>
            </a:avLst>
          </a:prstGeom>
          <a:gradFill rotWithShape="1">
            <a:gsLst>
              <a:gs pos="0">
                <a:srgbClr val="FF9933">
                  <a:gamma/>
                  <a:shade val="66275"/>
                  <a:invGamma/>
                </a:srgbClr>
              </a:gs>
              <a:gs pos="50000">
                <a:srgbClr val="FF9933"/>
              </a:gs>
              <a:gs pos="100000">
                <a:srgbClr val="FF9933">
                  <a:gamma/>
                  <a:shade val="66275"/>
                  <a:invGamma/>
                </a:srgb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p>
            <a:pPr algn="ctr"/>
            <a:r>
              <a:rPr lang="en-US" sz="1200" b="1">
                <a:solidFill>
                  <a:schemeClr val="bg1"/>
                </a:solidFill>
              </a:rPr>
              <a:t>Measurement Interface</a:t>
            </a:r>
          </a:p>
        </p:txBody>
      </p:sp>
      <p:cxnSp>
        <p:nvCxnSpPr>
          <p:cNvPr id="83" name="Straight Arrow Connector 82"/>
          <p:cNvCxnSpPr>
            <a:stCxn id="82" idx="2"/>
            <a:endCxn id="70" idx="0"/>
          </p:cNvCxnSpPr>
          <p:nvPr/>
        </p:nvCxnSpPr>
        <p:spPr>
          <a:xfrm flipH="1">
            <a:off x="6550446" y="3285525"/>
            <a:ext cx="837" cy="2451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a:stCxn id="70" idx="2"/>
            <a:endCxn id="71" idx="0"/>
          </p:cNvCxnSpPr>
          <p:nvPr/>
        </p:nvCxnSpPr>
        <p:spPr>
          <a:xfrm>
            <a:off x="6550446" y="4090235"/>
            <a:ext cx="837" cy="1915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p:cNvCxnSpPr>
            <a:stCxn id="71" idx="2"/>
            <a:endCxn id="72" idx="0"/>
          </p:cNvCxnSpPr>
          <p:nvPr/>
        </p:nvCxnSpPr>
        <p:spPr>
          <a:xfrm>
            <a:off x="6551283" y="4841315"/>
            <a:ext cx="0" cy="2166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3" name="Text Box 14"/>
          <p:cNvSpPr txBox="1">
            <a:spLocks noChangeArrowheads="1"/>
          </p:cNvSpPr>
          <p:nvPr/>
        </p:nvSpPr>
        <p:spPr bwMode="auto">
          <a:xfrm>
            <a:off x="770647" y="5789479"/>
            <a:ext cx="3496553" cy="323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358" tIns="45678" rIns="91358" bIns="45678">
            <a:spAutoFit/>
          </a:bodyPr>
          <a:lstStyle/>
          <a:p>
            <a:pPr algn="ctr" eaLnBrk="1" hangingPunct="1">
              <a:spcBef>
                <a:spcPct val="50000"/>
              </a:spcBef>
            </a:pPr>
            <a:r>
              <a:rPr lang="en-US" sz="1500" i="1"/>
              <a:t>All of this happens 5x / day</a:t>
            </a:r>
          </a:p>
        </p:txBody>
      </p:sp>
      <p:sp>
        <p:nvSpPr>
          <p:cNvPr id="2" name="Rectangle 1"/>
          <p:cNvSpPr/>
          <p:nvPr/>
        </p:nvSpPr>
        <p:spPr>
          <a:xfrm rot="19731172">
            <a:off x="2165733" y="2967335"/>
            <a:ext cx="4812536" cy="1815882"/>
          </a:xfrm>
          <a:prstGeom prst="rect">
            <a:avLst/>
          </a:prstGeom>
          <a:noFill/>
        </p:spPr>
        <p:txBody>
          <a:bodyPr wrap="none" lIns="91440" tIns="45720" rIns="91440" bIns="45720">
            <a:spAutoFit/>
          </a:bodyPr>
          <a:lstStyle/>
          <a:p>
            <a:pPr algn="ctr"/>
            <a:r>
              <a:rPr lang="en-US" sz="11200" b="1">
                <a:ln w="22225">
                  <a:solidFill>
                    <a:srgbClr val="FF0000"/>
                  </a:solidFill>
                  <a:prstDash val="solid"/>
                </a:ln>
                <a:solidFill>
                  <a:srgbClr val="F38377"/>
                </a:solidFill>
              </a:rPr>
              <a:t>DONE!</a:t>
            </a:r>
            <a:endParaRPr lang="en-US" sz="11200" b="1" cap="none" spc="0">
              <a:ln w="22225">
                <a:solidFill>
                  <a:srgbClr val="FF0000"/>
                </a:solidFill>
                <a:prstDash val="solid"/>
              </a:ln>
              <a:solidFill>
                <a:srgbClr val="F38377"/>
              </a:solidFill>
              <a:effectLst/>
            </a:endParaRPr>
          </a:p>
        </p:txBody>
      </p:sp>
    </p:spTree>
    <p:extLst>
      <p:ext uri="{BB962C8B-B14F-4D97-AF65-F5344CB8AC3E}">
        <p14:creationId xmlns:p14="http://schemas.microsoft.com/office/powerpoint/2010/main" val="3391022292"/>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Acronym Recap</a:t>
            </a:r>
          </a:p>
        </p:txBody>
      </p:sp>
      <p:sp>
        <p:nvSpPr>
          <p:cNvPr id="3" name="Content Placeholder 2"/>
          <p:cNvSpPr>
            <a:spLocks noGrp="1"/>
          </p:cNvSpPr>
          <p:nvPr>
            <p:ph idx="1"/>
          </p:nvPr>
        </p:nvSpPr>
        <p:spPr/>
        <p:txBody>
          <a:bodyPr>
            <a:normAutofit/>
          </a:bodyPr>
          <a:lstStyle/>
          <a:p>
            <a:endParaRPr lang="en-US"/>
          </a:p>
          <a:p>
            <a:r>
              <a:rPr lang="en-US">
                <a:solidFill>
                  <a:srgbClr val="FFC000"/>
                </a:solidFill>
              </a:rPr>
              <a:t>QPTM</a:t>
            </a:r>
          </a:p>
          <a:p>
            <a:r>
              <a:rPr lang="en-US">
                <a:solidFill>
                  <a:srgbClr val="FFC000"/>
                </a:solidFill>
              </a:rPr>
              <a:t>LDC</a:t>
            </a:r>
          </a:p>
          <a:p>
            <a:r>
              <a:rPr lang="en-US">
                <a:solidFill>
                  <a:srgbClr val="FFC000"/>
                </a:solidFill>
              </a:rPr>
              <a:t>NAESB</a:t>
            </a:r>
          </a:p>
          <a:p>
            <a:r>
              <a:rPr lang="en-US">
                <a:solidFill>
                  <a:srgbClr val="FFC000"/>
                </a:solidFill>
              </a:rPr>
              <a:t>FERC</a:t>
            </a:r>
          </a:p>
          <a:p>
            <a:r>
              <a:rPr lang="en-US">
                <a:solidFill>
                  <a:srgbClr val="FFC000"/>
                </a:solidFill>
              </a:rPr>
              <a:t>CAW</a:t>
            </a:r>
          </a:p>
          <a:p>
            <a:r>
              <a:rPr lang="en-US">
                <a:solidFill>
                  <a:srgbClr val="FFC000"/>
                </a:solidFill>
              </a:rPr>
              <a:t>TSP</a:t>
            </a:r>
          </a:p>
          <a:p>
            <a:endParaRPr lang="en-US"/>
          </a:p>
          <a:p>
            <a:endParaRPr lang="en-US"/>
          </a:p>
        </p:txBody>
      </p:sp>
      <p:sp>
        <p:nvSpPr>
          <p:cNvPr id="4" name="Content Placeholder 2"/>
          <p:cNvSpPr txBox="1">
            <a:spLocks/>
          </p:cNvSpPr>
          <p:nvPr/>
        </p:nvSpPr>
        <p:spPr bwMode="auto">
          <a:xfrm>
            <a:off x="381000" y="1143000"/>
            <a:ext cx="8763000" cy="41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lvl1pPr marL="342900" indent="-342900" algn="l" rtl="0" eaLnBrk="1" fontAlgn="base" hangingPunct="1">
              <a:spcBef>
                <a:spcPct val="20000"/>
              </a:spcBef>
              <a:spcAft>
                <a:spcPct val="0"/>
              </a:spcAft>
              <a:buFont typeface="Wingdings" pitchFamily="2" charset="2"/>
              <a:buChar char="w"/>
              <a:defRPr sz="2800">
                <a:solidFill>
                  <a:srgbClr val="20282A"/>
                </a:solidFill>
                <a:latin typeface="+mn-lt"/>
                <a:ea typeface="+mn-ea"/>
                <a:cs typeface="+mn-cs"/>
              </a:defRPr>
            </a:lvl1pPr>
            <a:lvl2pPr marL="742950" indent="-285750" algn="l" rtl="0" eaLnBrk="1" fontAlgn="base" hangingPunct="1">
              <a:spcBef>
                <a:spcPct val="20000"/>
              </a:spcBef>
              <a:spcAft>
                <a:spcPct val="0"/>
              </a:spcAft>
              <a:buFont typeface="Wingdings" pitchFamily="2" charset="2"/>
              <a:buChar char=""/>
              <a:defRPr sz="2400">
                <a:solidFill>
                  <a:srgbClr val="20282A"/>
                </a:solidFill>
                <a:latin typeface="+mn-lt"/>
              </a:defRPr>
            </a:lvl2pPr>
            <a:lvl3pPr marL="1143000" indent="-228600" algn="l" rtl="0" eaLnBrk="1" fontAlgn="base" hangingPunct="1">
              <a:spcBef>
                <a:spcPct val="20000"/>
              </a:spcBef>
              <a:spcAft>
                <a:spcPct val="0"/>
              </a:spcAft>
              <a:buFont typeface="Arial" charset="0"/>
              <a:buChar char="­"/>
              <a:defRPr sz="2000">
                <a:solidFill>
                  <a:srgbClr val="20282A"/>
                </a:solidFill>
                <a:latin typeface="+mn-lt"/>
              </a:defRPr>
            </a:lvl3pPr>
            <a:lvl4pPr marL="1600200" indent="-228600" algn="l" rtl="0" eaLnBrk="1" fontAlgn="base" hangingPunct="1">
              <a:spcBef>
                <a:spcPct val="20000"/>
              </a:spcBef>
              <a:spcAft>
                <a:spcPct val="0"/>
              </a:spcAft>
              <a:buFont typeface="Wingdings" pitchFamily="2" charset="2"/>
              <a:buChar char="§"/>
              <a:defRPr sz="1600">
                <a:solidFill>
                  <a:srgbClr val="20282A"/>
                </a:solidFill>
                <a:latin typeface="+mn-lt"/>
              </a:defRPr>
            </a:lvl4pPr>
            <a:lvl5pPr marL="2057400" indent="-228600" algn="l" rtl="0" eaLnBrk="1" fontAlgn="base" hangingPunct="1">
              <a:spcBef>
                <a:spcPct val="20000"/>
              </a:spcBef>
              <a:spcAft>
                <a:spcPct val="0"/>
              </a:spcAft>
              <a:buChar char="»"/>
              <a:defRPr sz="1200">
                <a:solidFill>
                  <a:srgbClr val="20282A"/>
                </a:solidFill>
                <a:latin typeface="+mn-lt"/>
              </a:defRPr>
            </a:lvl5pPr>
            <a:lvl6pPr marL="2514600" indent="-228600" algn="l" rtl="0" eaLnBrk="1" fontAlgn="base" hangingPunct="1">
              <a:spcBef>
                <a:spcPct val="20000"/>
              </a:spcBef>
              <a:spcAft>
                <a:spcPct val="0"/>
              </a:spcAft>
              <a:buChar char="»"/>
              <a:defRPr sz="1200">
                <a:solidFill>
                  <a:srgbClr val="20282A"/>
                </a:solidFill>
                <a:latin typeface="+mn-lt"/>
              </a:defRPr>
            </a:lvl6pPr>
            <a:lvl7pPr marL="2971800" indent="-228600" algn="l" rtl="0" eaLnBrk="1" fontAlgn="base" hangingPunct="1">
              <a:spcBef>
                <a:spcPct val="20000"/>
              </a:spcBef>
              <a:spcAft>
                <a:spcPct val="0"/>
              </a:spcAft>
              <a:buChar char="»"/>
              <a:defRPr sz="1200">
                <a:solidFill>
                  <a:srgbClr val="20282A"/>
                </a:solidFill>
                <a:latin typeface="+mn-lt"/>
              </a:defRPr>
            </a:lvl7pPr>
            <a:lvl8pPr marL="3429000" indent="-228600" algn="l" rtl="0" eaLnBrk="1" fontAlgn="base" hangingPunct="1">
              <a:spcBef>
                <a:spcPct val="20000"/>
              </a:spcBef>
              <a:spcAft>
                <a:spcPct val="0"/>
              </a:spcAft>
              <a:buChar char="»"/>
              <a:defRPr sz="1200">
                <a:solidFill>
                  <a:srgbClr val="20282A"/>
                </a:solidFill>
                <a:latin typeface="+mn-lt"/>
              </a:defRPr>
            </a:lvl8pPr>
            <a:lvl9pPr marL="3886200" indent="-228600" algn="l" rtl="0" eaLnBrk="1" fontAlgn="base" hangingPunct="1">
              <a:spcBef>
                <a:spcPct val="20000"/>
              </a:spcBef>
              <a:spcAft>
                <a:spcPct val="0"/>
              </a:spcAft>
              <a:buChar char="»"/>
              <a:defRPr sz="1200">
                <a:solidFill>
                  <a:srgbClr val="20282A"/>
                </a:solidFill>
                <a:latin typeface="+mn-lt"/>
              </a:defRPr>
            </a:lvl9pPr>
          </a:lstStyle>
          <a:p>
            <a:endParaRPr lang="en-US" kern="0"/>
          </a:p>
          <a:p>
            <a:r>
              <a:rPr lang="en-US" kern="0">
                <a:solidFill>
                  <a:srgbClr val="FFC000"/>
                </a:solidFill>
              </a:rPr>
              <a:t>QPTM</a:t>
            </a:r>
            <a:r>
              <a:rPr lang="en-US" kern="0"/>
              <a:t> – Quorum Pipeline Transaction Management</a:t>
            </a:r>
          </a:p>
          <a:p>
            <a:r>
              <a:rPr lang="en-US" kern="0">
                <a:solidFill>
                  <a:srgbClr val="FFC000"/>
                </a:solidFill>
              </a:rPr>
              <a:t>LDC</a:t>
            </a:r>
            <a:r>
              <a:rPr lang="en-US" kern="0"/>
              <a:t> – Local Distribution Company</a:t>
            </a:r>
          </a:p>
          <a:p>
            <a:r>
              <a:rPr lang="en-US" kern="0">
                <a:solidFill>
                  <a:srgbClr val="FFC000"/>
                </a:solidFill>
              </a:rPr>
              <a:t>NAESB</a:t>
            </a:r>
            <a:r>
              <a:rPr lang="en-US" kern="0"/>
              <a:t> – North American Energy Standards Board</a:t>
            </a:r>
          </a:p>
          <a:p>
            <a:r>
              <a:rPr lang="en-US" kern="0">
                <a:solidFill>
                  <a:srgbClr val="FFC000"/>
                </a:solidFill>
              </a:rPr>
              <a:t>FERC</a:t>
            </a:r>
            <a:r>
              <a:rPr lang="en-US" kern="0"/>
              <a:t> – Federal Energy Regulation Commission</a:t>
            </a:r>
          </a:p>
          <a:p>
            <a:r>
              <a:rPr lang="en-US" kern="0">
                <a:solidFill>
                  <a:srgbClr val="FFC000"/>
                </a:solidFill>
              </a:rPr>
              <a:t>CAW</a:t>
            </a:r>
            <a:r>
              <a:rPr lang="en-US" kern="0"/>
              <a:t> – Customer Activities Website (</a:t>
            </a:r>
            <a:r>
              <a:rPr lang="en-US" kern="0">
                <a:sym typeface="Wingdings" panose="05000000000000000000" pitchFamily="2" charset="2"/>
              </a:rPr>
              <a:t> Web!)</a:t>
            </a:r>
            <a:endParaRPr lang="en-US" kern="0"/>
          </a:p>
          <a:p>
            <a:r>
              <a:rPr lang="en-US" kern="0">
                <a:solidFill>
                  <a:srgbClr val="FFC000"/>
                </a:solidFill>
              </a:rPr>
              <a:t>TSP</a:t>
            </a:r>
            <a:r>
              <a:rPr lang="en-US" kern="0"/>
              <a:t> – Transportation Service Provider</a:t>
            </a:r>
          </a:p>
          <a:p>
            <a:endParaRPr lang="en-US" kern="0"/>
          </a:p>
          <a:p>
            <a:endParaRPr lang="en-US" kern="0"/>
          </a:p>
        </p:txBody>
      </p:sp>
    </p:spTree>
    <p:extLst>
      <p:ext uri="{BB962C8B-B14F-4D97-AF65-F5344CB8AC3E}">
        <p14:creationId xmlns:p14="http://schemas.microsoft.com/office/powerpoint/2010/main" val="59540029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nextCondLst>
                <p:cond evt="onClick" delay="0">
                  <p:tgtEl>
                    <p:spTgt spid="3"/>
                  </p:tgtEl>
                </p:cond>
              </p:nextCondLst>
            </p:seq>
          </p:childTnLst>
        </p:cTn>
      </p:par>
    </p:tnLst>
    <p:bldLst>
      <p:bldP spid="4" grpId="0"/>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8" name="Rectangle 2"/>
          <p:cNvSpPr>
            <a:spLocks noChangeArrowheads="1"/>
          </p:cNvSpPr>
          <p:nvPr/>
        </p:nvSpPr>
        <p:spPr bwMode="auto">
          <a:xfrm>
            <a:off x="0" y="0"/>
            <a:ext cx="9144000" cy="6858000"/>
          </a:xfrm>
          <a:prstGeom prst="rect">
            <a:avLst/>
          </a:prstGeom>
          <a:solidFill>
            <a:schemeClr val="bg1"/>
          </a:solidFill>
          <a:ln>
            <a:noFill/>
          </a:ln>
          <a:effectLst/>
          <a:extLst>
            <a:ext uri="{91240B29-F687-4F45-9708-019B960494DF}">
              <a14:hiddenLine xmlns:a14="http://schemas.microsoft.com/office/drawing/2010/main" w="2857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7" tIns="45714" rIns="91427" bIns="45714" anchor="ctr"/>
          <a:lstStyle/>
          <a:p>
            <a:endParaRPr lang="en-US"/>
          </a:p>
        </p:txBody>
      </p:sp>
      <p:sp>
        <p:nvSpPr>
          <p:cNvPr id="302083" name="AutoShape 3"/>
          <p:cNvSpPr>
            <a:spLocks noChangeArrowheads="1"/>
          </p:cNvSpPr>
          <p:nvPr/>
        </p:nvSpPr>
        <p:spPr bwMode="auto">
          <a:xfrm>
            <a:off x="2159000" y="364630"/>
            <a:ext cx="4820227" cy="4820543"/>
          </a:xfrm>
          <a:prstGeom prst="diamond">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7" tIns="45714" rIns="91427" bIns="45714" anchor="ctr"/>
          <a:lstStyle/>
          <a:p>
            <a:endParaRPr lang="en-US"/>
          </a:p>
        </p:txBody>
      </p:sp>
      <p:sp>
        <p:nvSpPr>
          <p:cNvPr id="55300" name="Rectangle 4"/>
          <p:cNvSpPr>
            <a:spLocks noChangeArrowheads="1"/>
          </p:cNvSpPr>
          <p:nvPr/>
        </p:nvSpPr>
        <p:spPr bwMode="auto">
          <a:xfrm>
            <a:off x="88035" y="6587134"/>
            <a:ext cx="3352511" cy="166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7" tIns="45714" rIns="91427" bIns="45714"/>
          <a:lstStyle/>
          <a:p>
            <a:r>
              <a:rPr lang="en-US" sz="1000"/>
              <a:t>Proprietary &amp; Confidential – Do Not Copy or Distribute</a:t>
            </a:r>
          </a:p>
        </p:txBody>
      </p:sp>
      <p:sp>
        <p:nvSpPr>
          <p:cNvPr id="55301" name="Rectangle 5"/>
          <p:cNvSpPr>
            <a:spLocks noChangeArrowheads="1"/>
          </p:cNvSpPr>
          <p:nvPr/>
        </p:nvSpPr>
        <p:spPr bwMode="auto">
          <a:xfrm>
            <a:off x="0" y="6280547"/>
            <a:ext cx="9144000" cy="74414"/>
          </a:xfrm>
          <a:prstGeom prst="rect">
            <a:avLst/>
          </a:prstGeom>
          <a:gradFill rotWithShape="1">
            <a:gsLst>
              <a:gs pos="0">
                <a:srgbClr val="2C98BE"/>
              </a:gs>
              <a:gs pos="100000">
                <a:schemeClr val="bg1">
                  <a:alpha val="0"/>
                </a:scheme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7" tIns="45714" rIns="91427" bIns="45714" anchor="ctr"/>
          <a:lstStyle/>
          <a:p>
            <a:endParaRPr lang="en-US"/>
          </a:p>
        </p:txBody>
      </p:sp>
      <p:pic>
        <p:nvPicPr>
          <p:cNvPr id="302086" name="Picture 6" descr="untitled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06989" y="5409903"/>
            <a:ext cx="3517034" cy="7947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2087" name="Rectangle 7"/>
          <p:cNvSpPr>
            <a:spLocks noChangeArrowheads="1"/>
          </p:cNvSpPr>
          <p:nvPr/>
        </p:nvSpPr>
        <p:spPr bwMode="auto">
          <a:xfrm>
            <a:off x="2590513" y="6247805"/>
            <a:ext cx="3962977" cy="458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58" tIns="45678" rIns="91358" bIns="45678" anchor="ctr"/>
          <a:lstStyle/>
          <a:p>
            <a:pPr algn="ctr"/>
            <a:r>
              <a:rPr lang="en-US" sz="1600">
                <a:latin typeface="Century Gothic" pitchFamily="34" charset="0"/>
              </a:rPr>
              <a:t>HOUSTON   </a:t>
            </a:r>
            <a:r>
              <a:rPr lang="en-US" sz="1600">
                <a:latin typeface="Century Gothic" pitchFamily="34" charset="0"/>
                <a:sym typeface="Wingdings" pitchFamily="2" charset="2"/>
              </a:rPr>
              <a:t>  </a:t>
            </a:r>
            <a:r>
              <a:rPr lang="en-US" sz="1600">
                <a:latin typeface="Century Gothic" pitchFamily="34" charset="0"/>
              </a:rPr>
              <a:t> DALLAS   </a:t>
            </a:r>
            <a:r>
              <a:rPr lang="en-US">
                <a:sym typeface="Wingdings" pitchFamily="2" charset="2"/>
              </a:rPr>
              <a:t></a:t>
            </a:r>
            <a:r>
              <a:rPr lang="en-US" sz="1600">
                <a:latin typeface="Century Gothic" pitchFamily="34" charset="0"/>
              </a:rPr>
              <a:t>   CALGARY</a:t>
            </a:r>
          </a:p>
        </p:txBody>
      </p:sp>
      <p:pic>
        <p:nvPicPr>
          <p:cNvPr id="302088" name="Picture 8" descr="untitled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024" y="336352"/>
            <a:ext cx="4870739" cy="4877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2089" name="Rectangle 9"/>
          <p:cNvSpPr>
            <a:spLocks noChangeArrowheads="1"/>
          </p:cNvSpPr>
          <p:nvPr/>
        </p:nvSpPr>
        <p:spPr bwMode="auto">
          <a:xfrm>
            <a:off x="2587627" y="2546450"/>
            <a:ext cx="3962977" cy="4569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58" tIns="45678" rIns="91358" bIns="45678" anchor="ctr"/>
          <a:lstStyle/>
          <a:p>
            <a:pPr algn="ctr"/>
            <a:r>
              <a:rPr lang="en-US" sz="2800" b="1">
                <a:solidFill>
                  <a:schemeClr val="accent1"/>
                </a:solidFill>
                <a:latin typeface="Century Gothic" pitchFamily="34" charset="0"/>
              </a:rPr>
              <a:t>Questions?</a:t>
            </a:r>
          </a:p>
        </p:txBody>
      </p:sp>
      <p:pic>
        <p:nvPicPr>
          <p:cNvPr id="1026" name="Picture 2" descr="06b9f94f-c6fb-47c9-8e1d-03d1a8c3e440@namprd0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7996237" cy="6864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8143527" y="23078"/>
            <a:ext cx="853182" cy="6777496"/>
          </a:xfrm>
          <a:prstGeom prst="rect">
            <a:avLst/>
          </a:prstGeom>
          <a:noFill/>
        </p:spPr>
        <p:txBody>
          <a:bodyPr vert="wordArtVert" wrap="square" lIns="91440" tIns="45720" rIns="91440" bIns="45720" anchor="ctr" anchorCtr="0">
            <a:normAutofit fontScale="77500" lnSpcReduction="20000"/>
          </a:bodyPr>
          <a:lstStyle/>
          <a:p>
            <a:pPr algn="ctr"/>
            <a:r>
              <a:rPr lang="en-US" sz="4000" b="1" cap="none" spc="0">
                <a:ln w="22225">
                  <a:solidFill>
                    <a:schemeClr val="accent2"/>
                  </a:solidFill>
                  <a:prstDash val="solid"/>
                </a:ln>
                <a:solidFill>
                  <a:schemeClr val="accent2">
                    <a:lumMod val="40000"/>
                    <a:lumOff val="60000"/>
                  </a:schemeClr>
                </a:solidFill>
                <a:effectLst/>
                <a:latin typeface="Comic Sans MS" panose="030F0702030302020204" pitchFamily="66" charset="0"/>
              </a:rPr>
              <a:t>Questions?</a:t>
            </a:r>
          </a:p>
        </p:txBody>
      </p:sp>
    </p:spTree>
    <p:extLst>
      <p:ext uri="{BB962C8B-B14F-4D97-AF65-F5344CB8AC3E}">
        <p14:creationId xmlns:p14="http://schemas.microsoft.com/office/powerpoint/2010/main" val="4283311725"/>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withEffect">
                                  <p:stCondLst>
                                    <p:cond delay="0"/>
                                  </p:stCondLst>
                                  <p:iterate type="lt">
                                    <p:tmPct val="5000"/>
                                  </p:iterate>
                                  <p:childTnLst>
                                    <p:set>
                                      <p:cBhvr>
                                        <p:cTn id="6" dur="1" fill="hold">
                                          <p:stCondLst>
                                            <p:cond delay="0"/>
                                          </p:stCondLst>
                                        </p:cTn>
                                        <p:tgtEl>
                                          <p:spTgt spid="302083"/>
                                        </p:tgtEl>
                                        <p:attrNameLst>
                                          <p:attrName>style.visibility</p:attrName>
                                        </p:attrNameLst>
                                      </p:cBhvr>
                                      <p:to>
                                        <p:strVal val="visible"/>
                                      </p:to>
                                    </p:set>
                                    <p:anim calcmode="lin" valueType="num">
                                      <p:cBhvr>
                                        <p:cTn id="7" dur="1000" fill="hold"/>
                                        <p:tgtEl>
                                          <p:spTgt spid="302083"/>
                                        </p:tgtEl>
                                        <p:attrNameLst>
                                          <p:attrName>ppt_w</p:attrName>
                                        </p:attrNameLst>
                                      </p:cBhvr>
                                      <p:tavLst>
                                        <p:tav tm="0">
                                          <p:val>
                                            <p:fltVal val="0"/>
                                          </p:val>
                                        </p:tav>
                                        <p:tav tm="100000">
                                          <p:val>
                                            <p:strVal val="#ppt_w"/>
                                          </p:val>
                                        </p:tav>
                                      </p:tavLst>
                                    </p:anim>
                                    <p:anim calcmode="lin" valueType="num">
                                      <p:cBhvr>
                                        <p:cTn id="8" dur="1000" fill="hold"/>
                                        <p:tgtEl>
                                          <p:spTgt spid="302083"/>
                                        </p:tgtEl>
                                        <p:attrNameLst>
                                          <p:attrName>ppt_h</p:attrName>
                                        </p:attrNameLst>
                                      </p:cBhvr>
                                      <p:tavLst>
                                        <p:tav tm="0">
                                          <p:val>
                                            <p:fltVal val="0"/>
                                          </p:val>
                                        </p:tav>
                                        <p:tav tm="100000">
                                          <p:val>
                                            <p:strVal val="#ppt_h"/>
                                          </p:val>
                                        </p:tav>
                                      </p:tavLst>
                                    </p:anim>
                                    <p:anim calcmode="lin" valueType="num">
                                      <p:cBhvr>
                                        <p:cTn id="9" dur="1000" fill="hold"/>
                                        <p:tgtEl>
                                          <p:spTgt spid="302083"/>
                                        </p:tgtEl>
                                        <p:attrNameLst>
                                          <p:attrName>style.rotation</p:attrName>
                                        </p:attrNameLst>
                                      </p:cBhvr>
                                      <p:tavLst>
                                        <p:tav tm="0">
                                          <p:val>
                                            <p:fltVal val="90"/>
                                          </p:val>
                                        </p:tav>
                                        <p:tav tm="100000">
                                          <p:val>
                                            <p:fltVal val="0"/>
                                          </p:val>
                                        </p:tav>
                                      </p:tavLst>
                                    </p:anim>
                                    <p:animEffect transition="in" filter="fade">
                                      <p:cBhvr>
                                        <p:cTn id="10" dur="1000"/>
                                        <p:tgtEl>
                                          <p:spTgt spid="302083"/>
                                        </p:tgtEl>
                                      </p:cBhvr>
                                    </p:animEffect>
                                  </p:childTnLst>
                                </p:cTn>
                              </p:par>
                            </p:childTnLst>
                          </p:cTn>
                        </p:par>
                        <p:par>
                          <p:cTn id="11" fill="hold" nodeType="afterGroup">
                            <p:stCondLst>
                              <p:cond delay="1000"/>
                            </p:stCondLst>
                            <p:childTnLst>
                              <p:par>
                                <p:cTn id="12" presetID="1" presetClass="entr" presetSubtype="0" fill="hold" nodeType="afterEffect">
                                  <p:stCondLst>
                                    <p:cond delay="0"/>
                                  </p:stCondLst>
                                  <p:childTnLst>
                                    <p:set>
                                      <p:cBhvr>
                                        <p:cTn id="13" dur="1" fill="hold">
                                          <p:stCondLst>
                                            <p:cond delay="0"/>
                                          </p:stCondLst>
                                        </p:cTn>
                                        <p:tgtEl>
                                          <p:spTgt spid="302088"/>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302086"/>
                                        </p:tgtEl>
                                        <p:attrNameLst>
                                          <p:attrName>style.visibility</p:attrName>
                                        </p:attrNameLst>
                                      </p:cBhvr>
                                      <p:to>
                                        <p:strVal val="visible"/>
                                      </p:to>
                                    </p:set>
                                  </p:childTnLst>
                                </p:cTn>
                              </p:par>
                            </p:childTnLst>
                          </p:cTn>
                        </p:par>
                        <p:par>
                          <p:cTn id="16" fill="hold" nodeType="afterGroup">
                            <p:stCondLst>
                              <p:cond delay="1000"/>
                            </p:stCondLst>
                            <p:childTnLst>
                              <p:par>
                                <p:cTn id="17" presetID="47" presetClass="entr" presetSubtype="0" fill="hold" grpId="0" nodeType="afterEffect">
                                  <p:stCondLst>
                                    <p:cond delay="0"/>
                                  </p:stCondLst>
                                  <p:childTnLst>
                                    <p:set>
                                      <p:cBhvr>
                                        <p:cTn id="18" dur="1" fill="hold">
                                          <p:stCondLst>
                                            <p:cond delay="0"/>
                                          </p:stCondLst>
                                        </p:cTn>
                                        <p:tgtEl>
                                          <p:spTgt spid="302089"/>
                                        </p:tgtEl>
                                        <p:attrNameLst>
                                          <p:attrName>style.visibility</p:attrName>
                                        </p:attrNameLst>
                                      </p:cBhvr>
                                      <p:to>
                                        <p:strVal val="visible"/>
                                      </p:to>
                                    </p:set>
                                    <p:animEffect transition="in" filter="fade">
                                      <p:cBhvr>
                                        <p:cTn id="19" dur="1000"/>
                                        <p:tgtEl>
                                          <p:spTgt spid="302089"/>
                                        </p:tgtEl>
                                      </p:cBhvr>
                                    </p:animEffect>
                                    <p:anim calcmode="lin" valueType="num">
                                      <p:cBhvr>
                                        <p:cTn id="20" dur="1000" fill="hold"/>
                                        <p:tgtEl>
                                          <p:spTgt spid="302089"/>
                                        </p:tgtEl>
                                        <p:attrNameLst>
                                          <p:attrName>ppt_x</p:attrName>
                                        </p:attrNameLst>
                                      </p:cBhvr>
                                      <p:tavLst>
                                        <p:tav tm="0">
                                          <p:val>
                                            <p:strVal val="#ppt_x"/>
                                          </p:val>
                                        </p:tav>
                                        <p:tav tm="100000">
                                          <p:val>
                                            <p:strVal val="#ppt_x"/>
                                          </p:val>
                                        </p:tav>
                                      </p:tavLst>
                                    </p:anim>
                                    <p:anim calcmode="lin" valueType="num">
                                      <p:cBhvr>
                                        <p:cTn id="21" dur="1000" fill="hold"/>
                                        <p:tgtEl>
                                          <p:spTgt spid="302089"/>
                                        </p:tgtEl>
                                        <p:attrNameLst>
                                          <p:attrName>ppt_y</p:attrName>
                                        </p:attrNameLst>
                                      </p:cBhvr>
                                      <p:tavLst>
                                        <p:tav tm="0">
                                          <p:val>
                                            <p:strVal val="#ppt_y-.1"/>
                                          </p:val>
                                        </p:tav>
                                        <p:tav tm="100000">
                                          <p:val>
                                            <p:strVal val="#ppt_y"/>
                                          </p:val>
                                        </p:tav>
                                      </p:tavLst>
                                    </p:anim>
                                  </p:childTnLst>
                                </p:cTn>
                              </p:par>
                              <p:par>
                                <p:cTn id="22" presetID="1" presetClass="entr" presetSubtype="0" fill="hold" grpId="0" nodeType="withEffect">
                                  <p:stCondLst>
                                    <p:cond delay="0"/>
                                  </p:stCondLst>
                                  <p:childTnLst>
                                    <p:set>
                                      <p:cBhvr>
                                        <p:cTn id="23" dur="1" fill="hold">
                                          <p:stCondLst>
                                            <p:cond delay="0"/>
                                          </p:stCondLst>
                                        </p:cTn>
                                        <p:tgtEl>
                                          <p:spTgt spid="3020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083" grpId="0" animBg="1"/>
      <p:bldP spid="302087" grpId="0"/>
      <p:bldP spid="302089" grpId="0"/>
    </p:bld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BOu9ZIAPoUihu54FjNn_fw"/>
</p:tagLst>
</file>

<file path=ppt/theme/theme1.xml><?xml version="1.0" encoding="utf-8"?>
<a:theme xmlns:a="http://schemas.openxmlformats.org/drawingml/2006/main" name="Q Approved PPT Template 051413">
  <a:themeElements>
    <a:clrScheme name="Default Design 1">
      <a:dk1>
        <a:srgbClr val="20282A"/>
      </a:dk1>
      <a:lt1>
        <a:srgbClr val="FFFFFF"/>
      </a:lt1>
      <a:dk2>
        <a:srgbClr val="20282A"/>
      </a:dk2>
      <a:lt2>
        <a:srgbClr val="768089"/>
      </a:lt2>
      <a:accent1>
        <a:srgbClr val="0082A6"/>
      </a:accent1>
      <a:accent2>
        <a:srgbClr val="00578A"/>
      </a:accent2>
      <a:accent3>
        <a:srgbClr val="FFFFFF"/>
      </a:accent3>
      <a:accent4>
        <a:srgbClr val="1A2122"/>
      </a:accent4>
      <a:accent5>
        <a:srgbClr val="AAC1D0"/>
      </a:accent5>
      <a:accent6>
        <a:srgbClr val="004E7D"/>
      </a:accent6>
      <a:hlink>
        <a:srgbClr val="4F99A3"/>
      </a:hlink>
      <a:folHlink>
        <a:srgbClr val="20707B"/>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20282A"/>
        </a:dk1>
        <a:lt1>
          <a:srgbClr val="FFFFFF"/>
        </a:lt1>
        <a:dk2>
          <a:srgbClr val="20282A"/>
        </a:dk2>
        <a:lt2>
          <a:srgbClr val="768089"/>
        </a:lt2>
        <a:accent1>
          <a:srgbClr val="0082A6"/>
        </a:accent1>
        <a:accent2>
          <a:srgbClr val="00578A"/>
        </a:accent2>
        <a:accent3>
          <a:srgbClr val="FFFFFF"/>
        </a:accent3>
        <a:accent4>
          <a:srgbClr val="1A2122"/>
        </a:accent4>
        <a:accent5>
          <a:srgbClr val="AAC1D0"/>
        </a:accent5>
        <a:accent6>
          <a:srgbClr val="004E7D"/>
        </a:accent6>
        <a:hlink>
          <a:srgbClr val="4F99A3"/>
        </a:hlink>
        <a:folHlink>
          <a:srgbClr val="20707B"/>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7DAEFA96C6E3D4BA185E933480DBF06" ma:contentTypeVersion="19" ma:contentTypeDescription="Create a new document." ma:contentTypeScope="" ma:versionID="b9c71dbeb5adf8c6fd439b3428fe4299">
  <xsd:schema xmlns:xsd="http://www.w3.org/2001/XMLSchema" xmlns:xs="http://www.w3.org/2001/XMLSchema" xmlns:p="http://schemas.microsoft.com/office/2006/metadata/properties" xmlns:ns2="cc8d3871-572b-43cb-bed6-6054d0059532" xmlns:ns3="453b7211-4abd-46ea-af60-a98a5ab446cd" targetNamespace="http://schemas.microsoft.com/office/2006/metadata/properties" ma:root="true" ma:fieldsID="08c8af7076cffdbcd0692738e72edec5" ns2:_="" ns3:_="">
    <xsd:import namespace="cc8d3871-572b-43cb-bed6-6054d0059532"/>
    <xsd:import namespace="453b7211-4abd-46ea-af60-a98a5ab446c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date" minOccurs="0"/>
                <xsd:element ref="ns3:SharedWithUsers" minOccurs="0"/>
                <xsd:element ref="ns3:SharedWithDetails" minOccurs="0"/>
                <xsd:element ref="ns2:AboutFile_x002f_Doc" minOccurs="0"/>
                <xsd:element ref="ns2:MediaLengthInSeconds" minOccurs="0"/>
                <xsd:element ref="ns2:MediaServiceAutoTags"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c8d3871-572b-43cb-bed6-6054d005953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date" ma:index="13" nillable="true" ma:displayName="date" ma:format="DateOnly" ma:internalName="date">
      <xsd:simpleType>
        <xsd:restriction base="dms:DateTime"/>
      </xsd:simpleType>
    </xsd:element>
    <xsd:element name="AboutFile_x002f_Doc" ma:index="16" nillable="true" ma:displayName="About File/Doc" ma:description="Short description about the file or document" ma:format="Dropdown" ma:internalName="AboutFile_x002f_Doc">
      <xsd:simpleType>
        <xsd:restriction base="dms:Text">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AutoTags" ma:index="18" nillable="true" ma:displayName="Tags" ma:internalName="MediaServiceAutoTags"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bc349d9a-284b-478a-af45-ecae560eed09" ma:termSetId="09814cd3-568e-fe90-9814-8d621ff8fb84" ma:anchorId="fba54fb3-c3e1-fe81-a776-ca4b69148c4d" ma:open="true" ma:isKeyword="false">
      <xsd:complexType>
        <xsd:sequence>
          <xsd:element ref="pc:Terms" minOccurs="0" maxOccurs="1"/>
        </xsd:sequence>
      </xsd:complex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OCR" ma:index="24" nillable="true" ma:displayName="Extracted Text" ma:internalName="MediaServiceOCR" ma:readOnly="true">
      <xsd:simpleType>
        <xsd:restriction base="dms:Note">
          <xsd:maxLength value="255"/>
        </xsd:restriction>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53b7211-4abd-46ea-af60-a98a5ab446cd"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92c57c5c-0f4f-4559-a8ff-ecf0d3f68743}" ma:internalName="TaxCatchAll" ma:showField="CatchAllData" ma:web="453b7211-4abd-46ea-af60-a98a5ab446c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c8d3871-572b-43cb-bed6-6054d0059532">
      <Terms xmlns="http://schemas.microsoft.com/office/infopath/2007/PartnerControls"/>
    </lcf76f155ced4ddcb4097134ff3c332f>
    <TaxCatchAll xmlns="453b7211-4abd-46ea-af60-a98a5ab446cd" xsi:nil="true"/>
    <date xmlns="cc8d3871-572b-43cb-bed6-6054d0059532" xsi:nil="true"/>
    <AboutFile_x002f_Doc xmlns="cc8d3871-572b-43cb-bed6-6054d0059532" xsi:nil="true"/>
  </documentManagement>
</p:properties>
</file>

<file path=customXml/itemProps1.xml><?xml version="1.0" encoding="utf-8"?>
<ds:datastoreItem xmlns:ds="http://schemas.openxmlformats.org/officeDocument/2006/customXml" ds:itemID="{3C833873-C7C6-463A-AFEF-AAD9C1BD233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c8d3871-572b-43cb-bed6-6054d0059532"/>
    <ds:schemaRef ds:uri="453b7211-4abd-46ea-af60-a98a5ab446c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DA0CB2C-FA53-4E0C-BFE5-FC1014B1CF27}">
  <ds:schemaRefs>
    <ds:schemaRef ds:uri="http://schemas.microsoft.com/sharepoint/v3/contenttype/forms"/>
  </ds:schemaRefs>
</ds:datastoreItem>
</file>

<file path=customXml/itemProps3.xml><?xml version="1.0" encoding="utf-8"?>
<ds:datastoreItem xmlns:ds="http://schemas.openxmlformats.org/officeDocument/2006/customXml" ds:itemID="{5250AB7C-FA89-4E10-9F3A-B6795DFCA9C8}">
  <ds:schemaRefs>
    <ds:schemaRef ds:uri="453b7211-4abd-46ea-af60-a98a5ab446cd"/>
    <ds:schemaRef ds:uri="cc8d3871-572b-43cb-bed6-6054d0059532"/>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Q Approved PPT Template 051413</Template>
  <Application>Microsoft Office PowerPoint</Application>
  <PresentationFormat>On-screen Show (4:3)</PresentationFormat>
  <Slides>39</Slides>
  <Notes>35</Notes>
  <HiddenSlides>1</HiddenSlide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Q Approved PPT Template 051413</vt:lpstr>
      <vt:lpstr>QPTM Product Overview</vt:lpstr>
      <vt:lpstr>Agenda</vt:lpstr>
      <vt:lpstr>Intro</vt:lpstr>
      <vt:lpstr>Quorum Pipeline Clients</vt:lpstr>
      <vt:lpstr>Business Case/Regulatory Environment</vt:lpstr>
      <vt:lpstr>Business Case/Regulatory Environment</vt:lpstr>
      <vt:lpstr>Business Case/Regulatory Environment</vt:lpstr>
      <vt:lpstr>Business Case/Regulatory Environment</vt:lpstr>
      <vt:lpstr>Business Case/Regulatory Environment</vt:lpstr>
      <vt:lpstr>Business Case/Regulatory Environment</vt:lpstr>
      <vt:lpstr>Business Case/Regulatory Environment</vt:lpstr>
      <vt:lpstr>Business Case/Regulatory Environment</vt:lpstr>
      <vt:lpstr>External Accessibility</vt:lpstr>
      <vt:lpstr>QPTM System Flow</vt:lpstr>
      <vt:lpstr>QPTM System Flow</vt:lpstr>
      <vt:lpstr>Master Data</vt:lpstr>
      <vt:lpstr>Rates</vt:lpstr>
      <vt:lpstr>Request for Service</vt:lpstr>
      <vt:lpstr>QPTM System Flow</vt:lpstr>
      <vt:lpstr>Nominations</vt:lpstr>
      <vt:lpstr>QPTM System Flow</vt:lpstr>
      <vt:lpstr>Confirmations</vt:lpstr>
      <vt:lpstr>QPTM System Flow</vt:lpstr>
      <vt:lpstr>Capacity Allocation Scheduling</vt:lpstr>
      <vt:lpstr>QPTM System Flow</vt:lpstr>
      <vt:lpstr>Cycles</vt:lpstr>
      <vt:lpstr>Cycles</vt:lpstr>
      <vt:lpstr>NAESB Standard Gas Day Effective April 1, 2016</vt:lpstr>
      <vt:lpstr>NAESB Standard Gas Day Effective April 1, 2016</vt:lpstr>
      <vt:lpstr>QPTM System Flow</vt:lpstr>
      <vt:lpstr>Allocations</vt:lpstr>
      <vt:lpstr>QPTM System Flow</vt:lpstr>
      <vt:lpstr>Inventory</vt:lpstr>
      <vt:lpstr>QPTM System Flow</vt:lpstr>
      <vt:lpstr>PowerPoint Presentation</vt:lpstr>
      <vt:lpstr>Billing</vt:lpstr>
      <vt:lpstr>QPTM System Flow</vt:lpstr>
      <vt:lpstr>Acronym Recap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Quorum User Group  Conference 2010</dc:title>
  <dc:creator>jessica_sumners</dc:creator>
  <cp:revision>5</cp:revision>
  <cp:lastPrinted>2014-05-29T23:34:32Z</cp:lastPrinted>
  <dcterms:created xsi:type="dcterms:W3CDTF">2010-02-03T14:53:15Z</dcterms:created>
  <dcterms:modified xsi:type="dcterms:W3CDTF">2025-09-10T10:59:02Z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0x01010077DAEFA96C6E3D4BA185E933480DBF06</vt:lpwstr>
  </property>
  <property fmtid="{D5CDD505-2E9C-101B-9397-08002B2CF9AE}" pid="3" name="MediaServiceImageTags">
    <vt:lpwstr/>
  </property>
</Properties>
</file>